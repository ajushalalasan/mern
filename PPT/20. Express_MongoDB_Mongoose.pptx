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822960"/>
            <a:ext cx="4663440" cy="4663440"/>
          </a:xfrm>
          <a:prstGeom prst="ellipse">
            <a:avLst/>
          </a:prstGeom>
          <a:solidFill>
            <a:srgbClr val="E7F3EC"/>
          </a:solidFill>
          <a:ln w="6350">
            <a:solidFill>
              <a:srgbClr val="E7F3E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1371600"/>
            <a:ext cx="1554480" cy="384048"/>
          </a:xfrm>
          <a:prstGeom prst="roundRect">
            <a:avLst>
              <a:gd name="adj" fmla="val 47619"/>
            </a:avLst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716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4 of 5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011680"/>
            <a:ext cx="5760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Connecting Express with MongoDB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02336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+ MongoDB + Mongoose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52628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MERN Stack Development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949440" y="914400"/>
            <a:ext cx="4572000" cy="484632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223760" y="2172843"/>
            <a:ext cx="4023360" cy="2329434"/>
          </a:xfrm>
          <a:prstGeom prst="roundRect">
            <a:avLst>
              <a:gd name="adj" fmla="val 3140"/>
            </a:avLst>
          </a:prstGeom>
          <a:solidFill>
            <a:srgbClr val="E7F3EC"/>
          </a:solidFill>
          <a:ln w="9525">
            <a:solidFill>
              <a:srgbClr val="CFE5D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88352" y="2291715"/>
            <a:ext cx="3694176" cy="2137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React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↓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Express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↓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Controller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↓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Mongoose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↓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MongoDB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+ MONGODB + MONGOOSE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Mongoose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484632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Mongoose is an ODM for MongoDB.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760720" y="2063801"/>
            <a:ext cx="5882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provides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760720" y="2392985"/>
            <a:ext cx="5882335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0" y="2548433"/>
            <a:ext cx="146304" cy="146304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17920" y="2392985"/>
            <a:ext cx="5333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60720" y="2941625"/>
            <a:ext cx="5882335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0" y="3097073"/>
            <a:ext cx="146304" cy="146304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0" y="2941625"/>
            <a:ext cx="5333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760720" y="3490265"/>
            <a:ext cx="5882335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0" y="3645713"/>
            <a:ext cx="146304" cy="146304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0" y="3490265"/>
            <a:ext cx="5333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760720" y="4038905"/>
            <a:ext cx="5882335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0" y="4194353"/>
            <a:ext cx="146304" cy="146304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0" y="4038905"/>
            <a:ext cx="5333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APIs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760720" y="4587545"/>
            <a:ext cx="5882335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0" y="4742993"/>
            <a:ext cx="146304" cy="146304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17920" y="4587545"/>
            <a:ext cx="5333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Middleware/hooks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+ MongoDB + Mongoose  ·  PPT 4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36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+ MONGODB + MONGOOSE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 Mongoose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581248" y="2765908"/>
            <a:ext cx="5029200" cy="640588"/>
          </a:xfrm>
          <a:prstGeom prst="roundRect">
            <a:avLst>
              <a:gd name="adj" fmla="val 11420"/>
            </a:avLst>
          </a:prstGeom>
          <a:solidFill>
            <a:srgbClr val="EEF2F6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745840" y="2884780"/>
            <a:ext cx="4700016" cy="448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mongoose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+ MongoDB + Mongoose  ·  PPT 4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36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+ MONGODB + MONGOOSE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MongoDB Connection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2560168" y="2421941"/>
            <a:ext cx="7071360" cy="1787144"/>
          </a:xfrm>
          <a:prstGeom prst="roundRect">
            <a:avLst>
              <a:gd name="adj" fmla="val 4093"/>
            </a:avLst>
          </a:prstGeom>
          <a:solidFill>
            <a:srgbClr val="EEF2F6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724760" y="2540813"/>
            <a:ext cx="6742176" cy="1595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mongoose from "mongoose";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mongoose.connect(process.env.MONGO_URI)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.then(() =&gt; console.log("Connected"))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.catch(err =&gt; console.log(err));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+ MongoDB + Mongoose  ·  PPT 4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36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+ MONGODB + MONGOOSE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MongoDB?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484632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is a NoSQL document database.</a:t>
            </a:r>
            <a:endParaRPr lang="en-US" sz="2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stored as flexible JSON-like documents.</a:t>
            </a:r>
            <a:endParaRPr lang="en-US" sz="2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2135124"/>
          <a:ext cx="58521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1089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D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MongoDB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D4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populate / $lookup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+ MongoDB + Mongoose  ·  PPT 4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36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+ MONGODB + MONGOOSE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MongoDB Document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484632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document gets a unique _id (ObjectId).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760720" y="2317356"/>
            <a:ext cx="5882335" cy="2135759"/>
          </a:xfrm>
          <a:prstGeom prst="roundRect">
            <a:avLst>
              <a:gd name="adj" fmla="val 3425"/>
            </a:avLst>
          </a:prstGeom>
          <a:solidFill>
            <a:srgbClr val="EEF2F6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25312" y="2436228"/>
            <a:ext cx="5553151" cy="19437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"_id": "665f1c2e9a1b2c3d4e5f6a7b",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"name": "Laptop",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"price": 50000,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"tags": ["electronics", "computers"],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"createdAt": "2026-01-10T09:30:00Z"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7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+ MongoDB + Mongoose  ·  PPT 4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36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+ MONGODB + MONGOOSE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MongoDB Atlas Connection String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484632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is MongoDB's free cloud service.</a:t>
            </a:r>
            <a:endParaRPr lang="en-US" sz="2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string in .env.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760720" y="2740038"/>
            <a:ext cx="5882335" cy="726821"/>
          </a:xfrm>
          <a:prstGeom prst="roundRect">
            <a:avLst>
              <a:gd name="adj" fmla="val 10065"/>
            </a:avLst>
          </a:prstGeom>
          <a:solidFill>
            <a:srgbClr val="E7F3EC"/>
          </a:solidFill>
          <a:ln w="9525">
            <a:solidFill>
              <a:srgbClr val="CFE5D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25312" y="2831478"/>
            <a:ext cx="555315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MONGO_URI format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925312" y="3169806"/>
            <a:ext cx="5553151" cy="223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mongodb+srv://&lt;user&gt;:&lt;password&gt;@cluster0.mongodb.net/&lt;dbname&gt;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+ MongoDB + Mongoose  ·  PPT 4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36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+ MONGODB + MONGOOSE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connectDB Function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569568" y="1678229"/>
            <a:ext cx="9052560" cy="4266184"/>
          </a:xfrm>
          <a:prstGeom prst="roundRect">
            <a:avLst>
              <a:gd name="adj" fmla="val 1715"/>
            </a:avLst>
          </a:prstGeom>
          <a:solidFill>
            <a:srgbClr val="EEF2F6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734160" y="1797101"/>
            <a:ext cx="8723376" cy="4074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mongoose from "mongoose";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connectDB = async () =&gt; {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 {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await mongoose.connect(process.env.MONGO_URI);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console.log("MongoDB connected");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catch (error) {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console.log(error.message);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process.exit(1);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connectDB;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+ MongoDB + Mongoose  ·  PPT 4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36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+ MONGODB + MONGOOSE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Practice: MongoDB Basics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9905695" y="731520"/>
            <a:ext cx="1737360" cy="384048"/>
          </a:xfrm>
          <a:prstGeom prst="roundRect">
            <a:avLst>
              <a:gd name="adj" fmla="val 47619"/>
            </a:avLst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905695" y="7315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785823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178582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1600200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SQL and MongoDB terms: table, row, column.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2538374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" y="2723998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9808" y="272399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2538374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ObjectId and who creates it?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8640" y="3476549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3662172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9808" y="36621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3476549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free Atlas cluster and connect it with Mongoose.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8640" y="4414723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9808" y="4600346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9808" y="460034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4414723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store the connection string in .env?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48640" y="5352898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9808" y="5538521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9808" y="553852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1371600" y="5352898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call process.exit(1) when the database connection fails?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+ MongoDB + Mongoose  ·  PPT 4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36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+ MONGODB + MONGOOSE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Schema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2735428" y="1631747"/>
            <a:ext cx="6720840" cy="4421124"/>
          </a:xfrm>
          <a:prstGeom prst="roundRect">
            <a:avLst>
              <a:gd name="adj" fmla="val 1655"/>
            </a:avLst>
          </a:prstGeom>
          <a:solidFill>
            <a:srgbClr val="EEF2F6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900020" y="1750619"/>
            <a:ext cx="6391656" cy="422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productSchema = new mongoose.Schema({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name: {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type: String,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required: true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price: {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type: Number,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required: true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category: String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+ MongoDB + Mongoose  ·  PPT 4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36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+ MONGODB + MONGOOSE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295248" y="2645054"/>
            <a:ext cx="9601200" cy="1043432"/>
          </a:xfrm>
          <a:prstGeom prst="roundRect">
            <a:avLst>
              <a:gd name="adj" fmla="val 7011"/>
            </a:avLst>
          </a:prstGeom>
          <a:solidFill>
            <a:srgbClr val="EEF2F6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59840" y="2763926"/>
            <a:ext cx="9272016" cy="85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Product =</a:t>
            </a: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mongoose.model("Product", productSchema);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+ MongoDB + Mongoose  ·  PPT 4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36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+ MONGODB + MONGOOSE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Schema Types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Mongoose types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432908" cy="834390"/>
          </a:xfrm>
          <a:prstGeom prst="roundRect">
            <a:avLst>
              <a:gd name="adj" fmla="val 8767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447163"/>
            <a:ext cx="146304" cy="146304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2103120"/>
            <a:ext cx="4884268" cy="834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210148" y="2103120"/>
            <a:ext cx="5432908" cy="834390"/>
          </a:xfrm>
          <a:prstGeom prst="roundRect">
            <a:avLst>
              <a:gd name="adj" fmla="val 8767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93028" y="2447163"/>
            <a:ext cx="146304" cy="146304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67348" y="2103120"/>
            <a:ext cx="4884268" cy="834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548640" y="3166110"/>
            <a:ext cx="5432908" cy="834390"/>
          </a:xfrm>
          <a:prstGeom prst="roundRect">
            <a:avLst>
              <a:gd name="adj" fmla="val 8767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3510153"/>
            <a:ext cx="146304" cy="146304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05840" y="3166110"/>
            <a:ext cx="4884268" cy="834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6210148" y="3166110"/>
            <a:ext cx="5432908" cy="834390"/>
          </a:xfrm>
          <a:prstGeom prst="roundRect">
            <a:avLst>
              <a:gd name="adj" fmla="val 8767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93028" y="3510153"/>
            <a:ext cx="146304" cy="146304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667348" y="3166110"/>
            <a:ext cx="4884268" cy="834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548640" y="4229100"/>
            <a:ext cx="5432908" cy="834390"/>
          </a:xfrm>
          <a:prstGeom prst="roundRect">
            <a:avLst>
              <a:gd name="adj" fmla="val 8767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4573143"/>
            <a:ext cx="146304" cy="146304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05840" y="4229100"/>
            <a:ext cx="4884268" cy="834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ObjectId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6210148" y="4229100"/>
            <a:ext cx="5432908" cy="834390"/>
          </a:xfrm>
          <a:prstGeom prst="roundRect">
            <a:avLst>
              <a:gd name="adj" fmla="val 8767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93028" y="4573143"/>
            <a:ext cx="146304" cy="146304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667348" y="4229100"/>
            <a:ext cx="4884268" cy="834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</a:t>
            </a:r>
            <a:endParaRPr lang="en-US" sz="1900" dirty="0"/>
          </a:p>
        </p:txBody>
      </p:sp>
      <p:sp>
        <p:nvSpPr>
          <p:cNvPr id="23" name="Shape 21"/>
          <p:cNvSpPr/>
          <p:nvPr/>
        </p:nvSpPr>
        <p:spPr>
          <a:xfrm>
            <a:off x="548640" y="5292090"/>
            <a:ext cx="5432908" cy="834390"/>
          </a:xfrm>
          <a:prstGeom prst="roundRect">
            <a:avLst>
              <a:gd name="adj" fmla="val 8767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" y="5636133"/>
            <a:ext cx="146304" cy="146304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05840" y="5292090"/>
            <a:ext cx="4884268" cy="834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Buffer</a:t>
            </a:r>
            <a:endParaRPr lang="en-US" sz="1900" dirty="0"/>
          </a:p>
        </p:txBody>
      </p:sp>
      <p:sp>
        <p:nvSpPr>
          <p:cNvPr id="26" name="Shape 24"/>
          <p:cNvSpPr/>
          <p:nvPr/>
        </p:nvSpPr>
        <p:spPr>
          <a:xfrm>
            <a:off x="6210148" y="5292090"/>
            <a:ext cx="5432908" cy="834390"/>
          </a:xfrm>
          <a:prstGeom prst="roundRect">
            <a:avLst>
              <a:gd name="adj" fmla="val 8767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93028" y="5636133"/>
            <a:ext cx="146304" cy="146304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667348" y="5292090"/>
            <a:ext cx="4884268" cy="834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Mixed</a:t>
            </a:r>
            <a:endParaRPr lang="en-US" sz="19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+ MongoDB + Mongoose  ·  PPT 4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36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+ MONGODB + MONGOOSE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Schema Options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295248" y="2254606"/>
            <a:ext cx="9601200" cy="2344928"/>
          </a:xfrm>
          <a:prstGeom prst="roundRect">
            <a:avLst>
              <a:gd name="adj" fmla="val 3120"/>
            </a:avLst>
          </a:prstGeom>
          <a:solidFill>
            <a:srgbClr val="EEF2F6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59840" y="2373478"/>
            <a:ext cx="9272016" cy="2152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userSchema = new mongoose.Schema({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name:   { type: String, required: true, trim: true },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email:  { type: String, unique: true, lowercase: true },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role:   { type: String, enum: ["user", "admin"], default: "user" },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age:    { type: Number, min: 18, max: 60 }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 { timestamps: true });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+ MongoDB + Mongoose  ·  PPT 4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36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+ MONGODB + MONGOOSE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 Validation Messages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484632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message appears in the validation error response.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760720" y="2491664"/>
            <a:ext cx="5882335" cy="1554734"/>
          </a:xfrm>
          <a:prstGeom prst="roundRect">
            <a:avLst>
              <a:gd name="adj" fmla="val 4705"/>
            </a:avLst>
          </a:prstGeom>
          <a:solidFill>
            <a:srgbClr val="EEF2F6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25312" y="2610536"/>
            <a:ext cx="5553151" cy="1362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price: {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type: Number,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required: [true, "Price is required"],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min: [0, "Price cannot be negative"]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+ MongoDB + Mongoose  ·  PPT 4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36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+ MONGODB + MONGOOSE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Practice: Schema and Model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9905695" y="731520"/>
            <a:ext cx="1737360" cy="384048"/>
          </a:xfrm>
          <a:prstGeom prst="roundRect">
            <a:avLst>
              <a:gd name="adj" fmla="val 47619"/>
            </a:avLst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905695" y="7315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785823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178582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1600200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Student schema with name, age, course and email (unique).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2538374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" y="2723998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9808" y="272399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2538374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enum validation for course: 'MERN', 'Java', 'Python'.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8640" y="3476549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3662172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9808" y="36621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3476549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{ timestamps: true } add to a schema?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8640" y="4414723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9808" y="4600346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9808" y="460034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4414723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difference between a schema and a model?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48640" y="5352898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9808" y="5538521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9808" y="553852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1371600" y="5352898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price required with the message 'Price is required'.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+ MongoDB + Mongoose  ·  PPT 4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36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+ MONGODB + MONGOOSE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2217268" y="2645054"/>
            <a:ext cx="7757160" cy="1043432"/>
          </a:xfrm>
          <a:prstGeom prst="roundRect">
            <a:avLst>
              <a:gd name="adj" fmla="val 7011"/>
            </a:avLst>
          </a:prstGeom>
          <a:solidFill>
            <a:srgbClr val="EEF2F6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381860" y="2763926"/>
            <a:ext cx="7427976" cy="85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product =</a:t>
            </a: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Product.create(req.body);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+ MongoDB + Mongoose  ·  PPT 4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36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+ MONGODB + MONGOOSE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2964028" y="2244242"/>
            <a:ext cx="6263640" cy="1075436"/>
          </a:xfrm>
          <a:prstGeom prst="roundRect">
            <a:avLst>
              <a:gd name="adj" fmla="val 6802"/>
            </a:avLst>
          </a:prstGeom>
          <a:solidFill>
            <a:srgbClr val="EEF2F6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128620" y="2335682"/>
            <a:ext cx="5934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documents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128620" y="2674010"/>
            <a:ext cx="5934456" cy="572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products =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Product.find();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2964028" y="3548278"/>
            <a:ext cx="6263640" cy="1075436"/>
          </a:xfrm>
          <a:prstGeom prst="roundRect">
            <a:avLst>
              <a:gd name="adj" fmla="val 6802"/>
            </a:avLst>
          </a:prstGeom>
          <a:solidFill>
            <a:srgbClr val="EEF2F6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128620" y="3639718"/>
            <a:ext cx="5934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document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128620" y="3978046"/>
            <a:ext cx="5934456" cy="572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product =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Product.findById(req.params.id);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+ MongoDB + Mongoose  ·  PPT 4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36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+ MONGODB + MONGOOSE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2941168" y="2328977"/>
            <a:ext cx="6309360" cy="2097024"/>
          </a:xfrm>
          <a:prstGeom prst="roundRect">
            <a:avLst>
              <a:gd name="adj" fmla="val 3488"/>
            </a:avLst>
          </a:prstGeom>
          <a:solidFill>
            <a:srgbClr val="EEF2F6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105760" y="2447849"/>
            <a:ext cx="5980176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product =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Product.findByIdAndUpdate(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req.params.id,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req.body,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 new: true }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+ MongoDB + Mongoose  ·  PPT 4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36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+ MONGODB + MONGOOSE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Delete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2514448" y="2524201"/>
            <a:ext cx="7162800" cy="1446276"/>
          </a:xfrm>
          <a:prstGeom prst="roundRect">
            <a:avLst>
              <a:gd name="adj" fmla="val 5058"/>
            </a:avLst>
          </a:prstGeom>
          <a:solidFill>
            <a:srgbClr val="EEF2F6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679040" y="2643073"/>
            <a:ext cx="6833616" cy="1254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Product.findByIdAndDelete(</a:t>
            </a: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req.params.id</a:t>
            </a: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+ MongoDB + Mongoose  ·  PPT 4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36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+ MONGODB + MONGOOSE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Filtering with Operators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484632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Operators: $gt, $gte, $lt, $lte, $in, $ne, $regex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760720" y="2654351"/>
            <a:ext cx="5882335" cy="1012444"/>
          </a:xfrm>
          <a:prstGeom prst="roundRect">
            <a:avLst>
              <a:gd name="adj" fmla="val 7225"/>
            </a:avLst>
          </a:prstGeom>
          <a:solidFill>
            <a:srgbClr val="EEF2F6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25312" y="2773223"/>
            <a:ext cx="5553151" cy="820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Product.find({ price: { $gt: 1000 } });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Product.find({ price: { $gte: 1000, $lte: 5000 } });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Product.find({ category: { $in: ["laptop", "phone"] } });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Product.find({ name: { $regex: "lap", $options: "i" } });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+ MongoDB + Mongoose  ·  PPT 4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36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+ MONGODB + MONGOOSE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Sort, Select, Limit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2026768" y="2421941"/>
            <a:ext cx="8138160" cy="1787144"/>
          </a:xfrm>
          <a:prstGeom prst="roundRect">
            <a:avLst>
              <a:gd name="adj" fmla="val 4093"/>
            </a:avLst>
          </a:prstGeom>
          <a:solidFill>
            <a:srgbClr val="EEF2F6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1360" y="2540813"/>
            <a:ext cx="7808976" cy="1595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Product.find()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.sort({ price: -1 })    // high to low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.select("name price")   // only these fields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.skip(0)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.limit(5);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+ MongoDB + Mongoose  ·  PPT 4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36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+ MONGODB + MONGOOSE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Other Useful Queries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295248" y="2542794"/>
            <a:ext cx="9601200" cy="1384300"/>
          </a:xfrm>
          <a:prstGeom prst="roundRect">
            <a:avLst>
              <a:gd name="adj" fmla="val 5284"/>
            </a:avLst>
          </a:prstGeom>
          <a:solidFill>
            <a:srgbClr val="EEF2F6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59840" y="2661666"/>
            <a:ext cx="9272016" cy="1192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Product.countDocuments({ category: "laptop" });</a:t>
            </a:r>
            <a:endParaRPr lang="en-US" sz="1850" dirty="0"/>
          </a:p>
          <a:p>
            <a:pPr indent="0" marL="0">
              <a:buNone/>
            </a:pPr>
            <a:r>
              <a:rPr lang="en-US" sz="18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Product.findOne({ name: "Laptop" });</a:t>
            </a:r>
            <a:endParaRPr lang="en-US" sz="1850" dirty="0"/>
          </a:p>
          <a:p>
            <a:pPr indent="0" marL="0">
              <a:buNone/>
            </a:pPr>
            <a:r>
              <a:rPr lang="en-US" sz="18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Product.updateMany({ category: "old" }, { discount: 10 });</a:t>
            </a:r>
            <a:endParaRPr lang="en-US" sz="1850" dirty="0"/>
          </a:p>
          <a:p>
            <a:pPr indent="0" marL="0">
              <a:buNone/>
            </a:pPr>
            <a:r>
              <a:rPr lang="en-US" sz="18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Product.deleteMany({ stock: 0 });</a:t>
            </a:r>
            <a:endParaRPr lang="en-US" sz="18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+ MongoDB + Mongoose  ·  PPT 4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36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+ MONGODB + MONGOOSE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Invalid ID and Not Found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295248" y="2133752"/>
            <a:ext cx="9601200" cy="2747772"/>
          </a:xfrm>
          <a:prstGeom prst="roundRect">
            <a:avLst>
              <a:gd name="adj" fmla="val 2662"/>
            </a:avLst>
          </a:prstGeom>
          <a:solidFill>
            <a:srgbClr val="EEF2F6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59840" y="2252624"/>
            <a:ext cx="9272016" cy="2555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(!mongoose.isValidObjectId(req.params.id)) {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res.status(400).json({ message: "Invalid id" });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product = await Product.findById(req.params.id);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(!product) {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res.status(404).json({ message: "Product not found" });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+ MongoDB + Mongoose  ·  PPT 4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36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+ MONGODB + MONGOOSE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Practice: CRUD Queries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9905695" y="731520"/>
            <a:ext cx="1737360" cy="384048"/>
          </a:xfrm>
          <a:prstGeom prst="roundRect">
            <a:avLst>
              <a:gd name="adj" fmla="val 47619"/>
            </a:avLst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905695" y="7315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785823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178582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1600200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all products with price between 1000 and 5000, sorted by price.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2538374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" y="2723998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9808" y="272399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2538374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only name and price fields of all products.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8640" y="3476549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3662172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9808" y="36621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3476549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products whose name contains 'phone' (case-insensitive).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8640" y="4414723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9808" y="4600346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9808" y="460034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4414723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difference between find() and findOne()?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48640" y="5352898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9808" y="5538521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9808" y="553852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1371600" y="5352898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both an invalid ObjectId and a missing document in GET /products/:id.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+ MongoDB + Mongoose  ·  PPT 4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36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+ MONGODB + MONGOOSE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 CRUD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10048" cy="2125980"/>
          </a:xfrm>
          <a:prstGeom prst="roundRect">
            <a:avLst>
              <a:gd name="adj" fmla="val 3441"/>
            </a:avLst>
          </a:prstGeom>
          <a:solidFill>
            <a:srgbClr val="E7F3EC"/>
          </a:solidFill>
          <a:ln w="9525">
            <a:solidFill>
              <a:srgbClr val="CFE5D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3232" y="1719072"/>
            <a:ext cx="5080864" cy="1933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POST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↓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↓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MongoDB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33008" y="1600200"/>
            <a:ext cx="5410048" cy="2125980"/>
          </a:xfrm>
          <a:prstGeom prst="roundRect">
            <a:avLst>
              <a:gd name="adj" fmla="val 3441"/>
            </a:avLst>
          </a:prstGeom>
          <a:solidFill>
            <a:srgbClr val="E7F3EC"/>
          </a:solidFill>
          <a:ln w="9525">
            <a:solidFill>
              <a:srgbClr val="CFE5D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97600" y="1719072"/>
            <a:ext cx="5080864" cy="1933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GET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↓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READ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↓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MongoDB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4000500"/>
            <a:ext cx="5410048" cy="2125980"/>
          </a:xfrm>
          <a:prstGeom prst="roundRect">
            <a:avLst>
              <a:gd name="adj" fmla="val 3441"/>
            </a:avLst>
          </a:prstGeom>
          <a:solidFill>
            <a:srgbClr val="E7F3EC"/>
          </a:solidFill>
          <a:ln w="9525">
            <a:solidFill>
              <a:srgbClr val="CFE5D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3232" y="4119372"/>
            <a:ext cx="5080864" cy="1933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↓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↓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MongoDB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33008" y="4000500"/>
            <a:ext cx="5410048" cy="2125980"/>
          </a:xfrm>
          <a:prstGeom prst="roundRect">
            <a:avLst>
              <a:gd name="adj" fmla="val 3441"/>
            </a:avLst>
          </a:prstGeom>
          <a:solidFill>
            <a:srgbClr val="E7F3EC"/>
          </a:solidFill>
          <a:ln w="9525">
            <a:solidFill>
              <a:srgbClr val="CFE5D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97600" y="4119372"/>
            <a:ext cx="5080864" cy="1933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↓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↓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MongoDB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+ MongoDB + Mongoose  ·  PPT 4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36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+ MONGODB + MONGOOSE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484632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prevents invalid data from entering the database.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760720" y="2468423"/>
            <a:ext cx="5882335" cy="1632204"/>
          </a:xfrm>
          <a:prstGeom prst="roundRect">
            <a:avLst>
              <a:gd name="adj" fmla="val 4482"/>
            </a:avLst>
          </a:prstGeom>
          <a:solidFill>
            <a:srgbClr val="EEF2F6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25312" y="2587295"/>
            <a:ext cx="5553151" cy="144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price: {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type: Number,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required: true,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min: 0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+ MongoDB + Mongoose  ·  PPT 4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36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+ MONGODB + MONGOOSE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Controller with Error Handling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295248" y="1991982"/>
            <a:ext cx="9601200" cy="3220339"/>
          </a:xfrm>
          <a:prstGeom prst="roundRect">
            <a:avLst>
              <a:gd name="adj" fmla="val 2272"/>
            </a:avLst>
          </a:prstGeom>
          <a:solidFill>
            <a:srgbClr val="EEF2F6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59840" y="2110854"/>
            <a:ext cx="9272016" cy="3028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const createProduct = async (req, res) =&gt; {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 {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const product = await Product.create(req.body);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res.status(201).json(product);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catch (error) {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(error.name === "ValidationError") {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res.status(400).json({ message: error.message });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res.status(500).json({ message: "Server error" });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7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+ MongoDB + Mongoose  ·  PPT 4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36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+ MONGODB + MONGOOSE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 and populate()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484632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documents across collections using ObjectId references.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760720" y="2635758"/>
            <a:ext cx="5882335" cy="1074420"/>
          </a:xfrm>
          <a:prstGeom prst="roundRect">
            <a:avLst>
              <a:gd name="adj" fmla="val 6809"/>
            </a:avLst>
          </a:prstGeom>
          <a:solidFill>
            <a:srgbClr val="EEF2F6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25312" y="2754630"/>
            <a:ext cx="5553151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orderSchema = new mongoose.Schema({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user: { type: mongoose.Schema.Types.ObjectId, ref: "User" 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items: [{ product: { type: mongoose.Schema.Types.ObjectId, ref: "Product" }, qty: Number }]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orders = await Order.find().populate("user", "name email");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+ MongoDB + Mongoose  ·  PPT 4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36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+ MONGODB + MONGOOSE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 or Reference?</a:t>
            </a:r>
            <a:endParaRPr lang="en-US" sz="34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55368" y="2409444"/>
          <a:ext cx="768096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40233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D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D4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read together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shared by many documents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Small, bounded data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or growing data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Example: address in user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Example: orders pointing to users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+ MongoDB + Mongoose  ·  PPT 4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36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+ MONGODB + MONGOOSE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Practice: Validation and Relations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9905695" y="731520"/>
            <a:ext cx="1737360" cy="384048"/>
          </a:xfrm>
          <a:prstGeom prst="roundRect">
            <a:avLst>
              <a:gd name="adj" fmla="val 47619"/>
            </a:avLst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905695" y="7315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785823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178582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1600200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a 400 response with the validation message when price is negative.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2538374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" y="2723998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9808" y="272399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2538374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Category and Product schemas where Product references Category.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8640" y="3476549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3662172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9808" y="36621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3476549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populate() to return products with their category name.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8640" y="4414723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9808" y="4600346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9808" y="460034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4414723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would you embed data instead of referencing it?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48640" y="5352898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9808" y="5538521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9808" y="553852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1371600" y="5352898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difference between findByIdAndUpdate with and without { new: true }?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+ MongoDB + Mongoose  ·  PPT 4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36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+ MONGODB + MONGOOSE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 Variables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484632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commit .env to GitHub.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760720" y="2225650"/>
            <a:ext cx="5882335" cy="1385316"/>
          </a:xfrm>
          <a:prstGeom prst="roundRect">
            <a:avLst>
              <a:gd name="adj" fmla="val 5281"/>
            </a:avLst>
          </a:prstGeom>
          <a:solidFill>
            <a:srgbClr val="EEF2F6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25312" y="2317090"/>
            <a:ext cx="555315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925312" y="2655418"/>
            <a:ext cx="5553151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PORT=3000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MONGO_URI=your_connection_string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JWT_SECRET=your_secret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760720" y="3839566"/>
            <a:ext cx="5882335" cy="827532"/>
          </a:xfrm>
          <a:prstGeom prst="roundRect">
            <a:avLst>
              <a:gd name="adj" fmla="val 8840"/>
            </a:avLst>
          </a:prstGeom>
          <a:solidFill>
            <a:srgbClr val="EEF2F6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25312" y="3931006"/>
            <a:ext cx="555315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925312" y="4269334"/>
            <a:ext cx="5553151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process.env.MONGO_URI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+ MongoDB + Mongoose  ·  PPT 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36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+ MONGODB + MONGOOSE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dotenv Setup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581248" y="2244242"/>
            <a:ext cx="5029200" cy="812038"/>
          </a:xfrm>
          <a:prstGeom prst="roundRect">
            <a:avLst>
              <a:gd name="adj" fmla="val 9008"/>
            </a:avLst>
          </a:prstGeom>
          <a:solidFill>
            <a:srgbClr val="EEF2F6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745840" y="2335682"/>
            <a:ext cx="4700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745840" y="2674010"/>
            <a:ext cx="4700016" cy="309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dotenv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581248" y="3284880"/>
            <a:ext cx="5029200" cy="1338834"/>
          </a:xfrm>
          <a:prstGeom prst="roundRect">
            <a:avLst>
              <a:gd name="adj" fmla="val 5464"/>
            </a:avLst>
          </a:prstGeom>
          <a:solidFill>
            <a:srgbClr val="EEF2F6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745840" y="3376320"/>
            <a:ext cx="4700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at the top of server.js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745840" y="3714648"/>
            <a:ext cx="4700016" cy="835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"dotenv/config";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console.log(process.env.PORT);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+ MongoDB + Mongoose  ·  PPT 4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36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+ MONGODB + MONGOOSE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Keeping Secrets Safe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92808"/>
            <a:ext cx="5432908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253996"/>
            <a:ext cx="146304" cy="146304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1892808"/>
            <a:ext cx="48842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.env to .gitignore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210148" y="1892808"/>
            <a:ext cx="5432908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93028" y="2253996"/>
            <a:ext cx="146304" cy="146304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67348" y="1892808"/>
            <a:ext cx="48842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a .env.example with empty values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2990088"/>
            <a:ext cx="5432908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3351276"/>
            <a:ext cx="146304" cy="146304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05840" y="2990088"/>
            <a:ext cx="48842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hard-code passwords or keys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210148" y="2990088"/>
            <a:ext cx="5432908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93028" y="3351276"/>
            <a:ext cx="146304" cy="146304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67348" y="2990088"/>
            <a:ext cx="48842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different values per environment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548640" y="4087368"/>
            <a:ext cx="5432908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4448556"/>
            <a:ext cx="146304" cy="146304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05840" y="4087368"/>
            <a:ext cx="48842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 keys if they are ever exposed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+ MongoDB + Mongoose  ·  PPT 4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/ 36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+ MONGODB + MONGOOSE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API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581248" y="2328672"/>
            <a:ext cx="5029200" cy="2098040"/>
          </a:xfrm>
          <a:prstGeom prst="roundRect">
            <a:avLst>
              <a:gd name="adj" fmla="val 3487"/>
            </a:avLst>
          </a:prstGeom>
          <a:solidFill>
            <a:srgbClr val="E7F3EC"/>
          </a:solidFill>
          <a:ln w="9525">
            <a:solidFill>
              <a:srgbClr val="CFE5D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745840" y="2420112"/>
            <a:ext cx="4700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API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745840" y="2758440"/>
            <a:ext cx="4700016" cy="1595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  /api/products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  /api/products/:id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  /api/products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    /api/products/:id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/api/products/:id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+ MongoDB + Mongoose  ·  PPT 4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/ 36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+ MONGODB + MONGOOSE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Practice: Employee Project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9905695" y="731520"/>
            <a:ext cx="1737360" cy="384048"/>
          </a:xfrm>
          <a:prstGeom prst="roundRect">
            <a:avLst>
              <a:gd name="adj" fmla="val 47619"/>
            </a:avLst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905695" y="7315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785823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178582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1600200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Employee model with required name, unique email, department and salary (min 0).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2538374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" y="2723998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9808" y="272399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2538374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all five CRUD routes under /api/employees using routes, controllers and services.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8640" y="3476549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3662172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9808" y="36621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3476549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GET /api/employees?department=IT to filter employees.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8640" y="4414723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9808" y="4600346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9808" y="460034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4414723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correct status codes: 201, 200, 400, 404, 500.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48640" y="5352898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9808" y="5538521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9808" y="553852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1371600" y="5352898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every endpoint in Postman and screenshot the results.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+ MongoDB + Mongoose  ·  PPT 4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/ 36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+ MONGODB + MONGOOSE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Task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484632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Build:</a:t>
            </a:r>
            <a:endParaRPr lang="en-US" sz="2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Management API</a:t>
            </a:r>
            <a:endParaRPr lang="en-US" sz="2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complete CRUD.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760720" y="1899209"/>
            <a:ext cx="5882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760720" y="2228393"/>
            <a:ext cx="5882335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0" y="2383841"/>
            <a:ext cx="146304" cy="146304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17920" y="2228393"/>
            <a:ext cx="5333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760720" y="2777033"/>
            <a:ext cx="5882335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0" y="2932481"/>
            <a:ext cx="146304" cy="146304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0" y="2777033"/>
            <a:ext cx="5333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760720" y="3325673"/>
            <a:ext cx="5882335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0" y="3481121"/>
            <a:ext cx="146304" cy="146304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0" y="3325673"/>
            <a:ext cx="5333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760720" y="3874313"/>
            <a:ext cx="5882335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0" y="4029761"/>
            <a:ext cx="146304" cy="146304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0" y="3874313"/>
            <a:ext cx="5333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department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760720" y="4422953"/>
            <a:ext cx="5882335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0" y="4578401"/>
            <a:ext cx="146304" cy="146304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17920" y="4422953"/>
            <a:ext cx="5333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salary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760720" y="4971593"/>
            <a:ext cx="5882335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0" y="5127041"/>
            <a:ext cx="146304" cy="146304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17920" y="4971593"/>
            <a:ext cx="5333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designation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+ MongoDB + Mongoose  ·  PPT 4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/ 36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Express + MongoDB + Mongoose</dc:title>
  <dc:subject>PptxGenJS Presentation</dc:subject>
  <dc:creator>MERN Stack Series</dc:creator>
  <cp:lastModifiedBy>MERN Stack Series</cp:lastModifiedBy>
  <cp:revision>1</cp:revision>
  <dcterms:created xsi:type="dcterms:W3CDTF">2026-10-01T10:53:53Z</dcterms:created>
  <dcterms:modified xsi:type="dcterms:W3CDTF">2026-10-01T10:53:53Z</dcterms:modified>
</cp:coreProperties>
</file>