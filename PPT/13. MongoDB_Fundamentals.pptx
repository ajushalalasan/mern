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4.png"/><Relationship Id="rId6" Type="http://schemas.openxmlformats.org/officeDocument/2006/relationships/image" Target="../media/image-10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85800"/>
            <a:ext cx="777240" cy="777240"/>
          </a:xfrm>
          <a:prstGeom prst="ellipse">
            <a:avLst/>
          </a:prstGeom>
          <a:solidFill>
            <a:srgbClr val="00684A"/>
          </a:solidFill>
          <a:ln/>
        </p:spPr>
      </p:sp>
      <p:pic>
        <p:nvPicPr>
          <p:cNvPr id="5" name="Image 0" descr="/home/claude/mongo_ppt/icons/database_00ED6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162" y="88788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148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FUNDAMENTALS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4688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Documents to CRUD Operations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977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guide to NoSQL data modeling, the MongoDB architecture, and the queries that create, read, update, and delete documents.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580644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0C3140"/>
          </a:solidFill>
          <a:ln w="12700">
            <a:solidFill>
              <a:srgbClr val="0068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58064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Database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441448" y="580644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0C3140"/>
          </a:solidFill>
          <a:ln w="12700">
            <a:solidFill>
              <a:srgbClr val="0068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441448" y="58064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BSON Documents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242816" y="580644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0C3140"/>
          </a:solidFill>
          <a:ln w="12700">
            <a:solidFill>
              <a:srgbClr val="00684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242816" y="58064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MongoDB?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303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is a NoSQL database.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stores data in documents instead of rows and tables.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are stored in BSON format.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organized as a clear hierarchy: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1115568" cy="502920"/>
          </a:xfrm>
          <a:prstGeom prst="roundRect">
            <a:avLst>
              <a:gd name="adj" fmla="val 14545"/>
            </a:avLst>
          </a:prstGeom>
          <a:solidFill>
            <a:srgbClr val="EAF3E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352044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pic>
        <p:nvPicPr>
          <p:cNvPr id="8" name="Image 0" descr="/home/claude/mongo_ppt/icons/chevright_5C6B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2496" y="3643884"/>
            <a:ext cx="256032" cy="2560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975104" y="3520440"/>
            <a:ext cx="1115568" cy="502920"/>
          </a:xfrm>
          <a:prstGeom prst="roundRect">
            <a:avLst>
              <a:gd name="adj" fmla="val 14545"/>
            </a:avLst>
          </a:prstGeom>
          <a:solidFill>
            <a:srgbClr val="EAF3E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975104" y="352044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00" dirty="0"/>
          </a:p>
        </p:txBody>
      </p:sp>
      <p:pic>
        <p:nvPicPr>
          <p:cNvPr id="11" name="Image 1" descr="/home/claude/mongo_ppt/icons/chevright_5C6B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3643884"/>
            <a:ext cx="256032" cy="25603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401568" y="3520440"/>
            <a:ext cx="1115568" cy="502920"/>
          </a:xfrm>
          <a:prstGeom prst="roundRect">
            <a:avLst>
              <a:gd name="adj" fmla="val 14545"/>
            </a:avLst>
          </a:prstGeom>
          <a:solidFill>
            <a:srgbClr val="EAF3EF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3401568" y="352044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100" dirty="0"/>
          </a:p>
        </p:txBody>
      </p:sp>
      <p:pic>
        <p:nvPicPr>
          <p:cNvPr id="14" name="Image 2" descr="/home/claude/mongo_ppt/icons/chevright_5C6B7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24" y="3643884"/>
            <a:ext cx="256032" cy="25603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828032" y="3520440"/>
            <a:ext cx="1115568" cy="502920"/>
          </a:xfrm>
          <a:prstGeom prst="roundRect">
            <a:avLst>
              <a:gd name="adj" fmla="val 14545"/>
            </a:avLst>
          </a:prstGeom>
          <a:solidFill>
            <a:srgbClr val="00684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4828032" y="352044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035040" y="1600200"/>
            <a:ext cx="5577840" cy="2880360"/>
          </a:xfrm>
          <a:prstGeom prst="roundRect">
            <a:avLst>
              <a:gd name="adj" fmla="val 2540"/>
            </a:avLst>
          </a:prstGeom>
          <a:solidFill>
            <a:srgbClr val="001420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6236208" y="1746504"/>
            <a:ext cx="5175504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"Rahul",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"age": 25,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"course": "MERN",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"skills": ["React", "Node.js",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"MongoDB"]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035040" y="457200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MongoDB document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Fundamentals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MongoDB?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246120" cy="2331720"/>
          </a:xfrm>
          <a:prstGeom prst="roundRect">
            <a:avLst>
              <a:gd name="adj" fmla="val 3922"/>
            </a:avLst>
          </a:prstGeom>
          <a:solidFill>
            <a:srgbClr val="EAF3E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SQL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084832"/>
            <a:ext cx="26974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08483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505456"/>
            <a:ext cx="26974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505456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926080"/>
            <a:ext cx="26974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92608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346704"/>
            <a:ext cx="2697480" cy="329184"/>
          </a:xfrm>
          <a:prstGeom prst="roundRect">
            <a:avLst>
              <a:gd name="adj" fmla="val 16667"/>
            </a:avLst>
          </a:prstGeom>
          <a:solidFill>
            <a:srgbClr val="5C6B73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346704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023360" y="1554480"/>
            <a:ext cx="3246120" cy="2331720"/>
          </a:xfrm>
          <a:prstGeom prst="roundRect">
            <a:avLst>
              <a:gd name="adj" fmla="val 3922"/>
            </a:avLst>
          </a:prstGeom>
          <a:solidFill>
            <a:srgbClr val="EAF3EF"/>
          </a:solidFill>
          <a:ln/>
        </p:spPr>
      </p:sp>
      <p:sp>
        <p:nvSpPr>
          <p:cNvPr id="15" name="Text 13"/>
          <p:cNvSpPr/>
          <p:nvPr/>
        </p:nvSpPr>
        <p:spPr>
          <a:xfrm>
            <a:off x="4251960" y="169164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97680" y="2084832"/>
            <a:ext cx="26974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97680" y="208483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97680" y="2505456"/>
            <a:ext cx="26974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97680" y="2505456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0" y="2926080"/>
            <a:ext cx="26974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97680" y="292608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97680" y="3346704"/>
            <a:ext cx="2697480" cy="329184"/>
          </a:xfrm>
          <a:prstGeom prst="roundRect">
            <a:avLst>
              <a:gd name="adj" fmla="val 16667"/>
            </a:avLst>
          </a:prstGeom>
          <a:solidFill>
            <a:srgbClr val="00684A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97680" y="3346704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635240" y="15544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635240" y="1965960"/>
            <a:ext cx="384048" cy="384048"/>
          </a:xfrm>
          <a:prstGeom prst="ellipse">
            <a:avLst/>
          </a:prstGeom>
          <a:solidFill>
            <a:srgbClr val="00684A"/>
          </a:solidFill>
          <a:ln/>
        </p:spPr>
      </p:sp>
      <p:pic>
        <p:nvPicPr>
          <p:cNvPr id="26" name="Image 0" descr="/home/claude/mongo_ppt/icons/puzz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5092" y="2065812"/>
            <a:ext cx="184343" cy="184343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8138160" y="194767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schema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7635240" y="2532888"/>
            <a:ext cx="384048" cy="384048"/>
          </a:xfrm>
          <a:prstGeom prst="ellipse">
            <a:avLst/>
          </a:prstGeom>
          <a:solidFill>
            <a:srgbClr val="00684A"/>
          </a:solidFill>
          <a:ln/>
        </p:spPr>
      </p:sp>
      <p:pic>
        <p:nvPicPr>
          <p:cNvPr id="29" name="Image 1" descr="/home/claude/mongo_ppt/icons/expan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5092" y="2632740"/>
            <a:ext cx="184343" cy="184343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8138160" y="251460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scale</a:t>
            </a:r>
            <a:endParaRPr lang="en-US" sz="1250" dirty="0"/>
          </a:p>
        </p:txBody>
      </p:sp>
      <p:sp>
        <p:nvSpPr>
          <p:cNvPr id="31" name="Shape 27"/>
          <p:cNvSpPr/>
          <p:nvPr/>
        </p:nvSpPr>
        <p:spPr>
          <a:xfrm>
            <a:off x="7635240" y="3099816"/>
            <a:ext cx="384048" cy="384048"/>
          </a:xfrm>
          <a:prstGeom prst="ellipse">
            <a:avLst/>
          </a:prstGeom>
          <a:solidFill>
            <a:srgbClr val="00684A"/>
          </a:solidFill>
          <a:ln/>
        </p:spPr>
      </p:sp>
      <p:pic>
        <p:nvPicPr>
          <p:cNvPr id="32" name="Image 2" descr="/home/claude/mongo_ppt/icons/cod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092" y="3199668"/>
            <a:ext cx="184343" cy="184343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8138160" y="308152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JSON-like documents</a:t>
            </a:r>
            <a:endParaRPr lang="en-US" sz="1250" dirty="0"/>
          </a:p>
        </p:txBody>
      </p:sp>
      <p:sp>
        <p:nvSpPr>
          <p:cNvPr id="34" name="Shape 29"/>
          <p:cNvSpPr/>
          <p:nvPr/>
        </p:nvSpPr>
        <p:spPr>
          <a:xfrm>
            <a:off x="7635240" y="3666744"/>
            <a:ext cx="384048" cy="384048"/>
          </a:xfrm>
          <a:prstGeom prst="ellipse">
            <a:avLst/>
          </a:prstGeom>
          <a:solidFill>
            <a:srgbClr val="00684A"/>
          </a:solidFill>
          <a:ln/>
        </p:spPr>
      </p:sp>
      <p:pic>
        <p:nvPicPr>
          <p:cNvPr id="35" name="Image 3" descr="/home/claude/mongo_ppt/icons/sitemap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092" y="3766596"/>
            <a:ext cx="184343" cy="184343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8138160" y="3648456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nested data</a:t>
            </a:r>
            <a:endParaRPr lang="en-US" sz="1250" dirty="0"/>
          </a:p>
        </p:txBody>
      </p:sp>
      <p:sp>
        <p:nvSpPr>
          <p:cNvPr id="37" name="Shape 31"/>
          <p:cNvSpPr/>
          <p:nvPr/>
        </p:nvSpPr>
        <p:spPr>
          <a:xfrm>
            <a:off x="7635240" y="4233672"/>
            <a:ext cx="384048" cy="384048"/>
          </a:xfrm>
          <a:prstGeom prst="ellipse">
            <a:avLst/>
          </a:prstGeom>
          <a:solidFill>
            <a:srgbClr val="00684A"/>
          </a:solidFill>
          <a:ln/>
        </p:spPr>
      </p:sp>
      <p:pic>
        <p:nvPicPr>
          <p:cNvPr id="38" name="Image 4" descr="/home/claude/mongo_ppt/icons/plug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5092" y="4333524"/>
            <a:ext cx="184343" cy="184343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8138160" y="421538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with Node.js</a:t>
            </a:r>
            <a:endParaRPr lang="en-US" sz="1250" dirty="0"/>
          </a:p>
        </p:txBody>
      </p:sp>
      <p:sp>
        <p:nvSpPr>
          <p:cNvPr id="40" name="Shape 33"/>
          <p:cNvSpPr/>
          <p:nvPr/>
        </p:nvSpPr>
        <p:spPr>
          <a:xfrm>
            <a:off x="7635240" y="4800600"/>
            <a:ext cx="384048" cy="384048"/>
          </a:xfrm>
          <a:prstGeom prst="ellipse">
            <a:avLst/>
          </a:prstGeom>
          <a:solidFill>
            <a:srgbClr val="00684A"/>
          </a:solidFill>
          <a:ln/>
        </p:spPr>
      </p:sp>
      <p:pic>
        <p:nvPicPr>
          <p:cNvPr id="41" name="Image 5" descr="/home/claude/mongo_ppt/icons/cube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5092" y="4900452"/>
            <a:ext cx="184343" cy="184343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8138160" y="478231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modern apps</a:t>
            </a:r>
            <a:endParaRPr lang="en-US" sz="1250" dirty="0"/>
          </a:p>
        </p:txBody>
      </p:sp>
      <p:sp>
        <p:nvSpPr>
          <p:cNvPr id="43" name="Text 3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Fundamentals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vs MongoDB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46120" cy="457200"/>
          </a:xfrm>
          <a:prstGeom prst="roundRect">
            <a:avLst/>
          </a:prstGeom>
          <a:solidFill>
            <a:srgbClr val="5C6B73"/>
          </a:solidFill>
          <a:ln/>
        </p:spPr>
      </p:sp>
      <p:sp>
        <p:nvSpPr>
          <p:cNvPr id="5" name="Shape 3"/>
          <p:cNvSpPr/>
          <p:nvPr/>
        </p:nvSpPr>
        <p:spPr>
          <a:xfrm>
            <a:off x="3794760" y="1600200"/>
            <a:ext cx="3246120" cy="457200"/>
          </a:xfrm>
          <a:prstGeom prst="roundRect">
            <a:avLst/>
          </a:prstGeom>
          <a:solidFill>
            <a:srgbClr val="0068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002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794760" y="16002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6492240" cy="457200"/>
          </a:xfrm>
          <a:prstGeom prst="rect">
            <a:avLst/>
          </a:prstGeom>
          <a:solidFill>
            <a:srgbClr val="F6F9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057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977640" y="2057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6492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5146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977640" y="25146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6492240" cy="457200"/>
          </a:xfrm>
          <a:prstGeom prst="rect">
            <a:avLst/>
          </a:prstGeom>
          <a:solidFill>
            <a:srgbClr val="F6F9F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9776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429000"/>
            <a:ext cx="6492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3429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schema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3977640" y="3429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schema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6492240" cy="457200"/>
          </a:xfrm>
          <a:prstGeom prst="rect">
            <a:avLst/>
          </a:prstGeom>
          <a:solidFill>
            <a:srgbClr val="F6F9F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3886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3977640" y="3886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$lookup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4343400"/>
            <a:ext cx="6492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4343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3977640" y="4343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Document-oriented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3794760" y="1600200"/>
            <a:ext cx="0" cy="3200400"/>
          </a:xfrm>
          <a:prstGeom prst="line">
            <a:avLst/>
          </a:prstGeom>
          <a:noFill/>
          <a:ln w="12700">
            <a:solidFill>
              <a:srgbClr val="DCE7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0" y="16002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one employee record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406640" y="1920240"/>
            <a:ext cx="4206240" cy="1417320"/>
          </a:xfrm>
          <a:prstGeom prst="roundRect">
            <a:avLst>
              <a:gd name="adj" fmla="val 6452"/>
            </a:avLst>
          </a:prstGeom>
          <a:solidFill>
            <a:srgbClr val="EAF3E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571232" y="2011680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— Employee table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571232" y="2286000"/>
            <a:ext cx="38770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| name | salary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| Arun | 50000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406640" y="3520440"/>
            <a:ext cx="4206240" cy="1691640"/>
          </a:xfrm>
          <a:prstGeom prst="roundRect">
            <a:avLst>
              <a:gd name="adj" fmla="val 4324"/>
            </a:avLst>
          </a:prstGeom>
          <a:solidFill>
            <a:srgbClr val="001420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7607808" y="3666744"/>
            <a:ext cx="3803904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"_id": 1,</a:t>
            </a:r>
            <a:endParaRPr lang="en-US" sz="13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"Arun",</a:t>
            </a:r>
            <a:endParaRPr lang="en-US" sz="13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"salary": 50000</a:t>
            </a:r>
            <a:endParaRPr lang="en-US" sz="13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Fundamentals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0352" cy="530352"/>
          </a:xfrm>
          <a:prstGeom prst="ellipse">
            <a:avLst/>
          </a:prstGeom>
          <a:solidFill>
            <a:srgbClr val="00684A"/>
          </a:solidFill>
          <a:ln/>
        </p:spPr>
      </p:sp>
      <p:pic>
        <p:nvPicPr>
          <p:cNvPr id="5" name="Image 0" descr="/home/claude/mongo_ppt/icons/serve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532" y="1646652"/>
            <a:ext cx="254569" cy="25456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280160" y="1508760"/>
            <a:ext cx="5120640" cy="530352"/>
          </a:xfrm>
          <a:prstGeom prst="roundRect">
            <a:avLst>
              <a:gd name="adj" fmla="val 13793"/>
            </a:avLst>
          </a:prstGeom>
          <a:solidFill>
            <a:srgbClr val="EAF3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417320" y="150876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Server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13816" y="2039112"/>
            <a:ext cx="0" cy="402336"/>
          </a:xfrm>
          <a:prstGeom prst="line">
            <a:avLst/>
          </a:prstGeom>
          <a:noFill/>
          <a:ln w="25400">
            <a:solidFill>
              <a:srgbClr val="B9CFC9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804672" y="2441448"/>
            <a:ext cx="530352" cy="530352"/>
          </a:xfrm>
          <a:prstGeom prst="ellipse">
            <a:avLst/>
          </a:prstGeom>
          <a:solidFill>
            <a:srgbClr val="00684A"/>
          </a:solidFill>
          <a:ln/>
        </p:spPr>
      </p:sp>
      <p:pic>
        <p:nvPicPr>
          <p:cNvPr id="10" name="Image 1" descr="/home/claude/mongo_ppt/icons/databas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564" y="2579340"/>
            <a:ext cx="254569" cy="254569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536192" y="2441448"/>
            <a:ext cx="4864608" cy="530352"/>
          </a:xfrm>
          <a:prstGeom prst="roundRect">
            <a:avLst>
              <a:gd name="adj" fmla="val 13793"/>
            </a:avLst>
          </a:prstGeom>
          <a:solidFill>
            <a:srgbClr val="EAF3EF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673352" y="2441448"/>
            <a:ext cx="4681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1069848" y="2971800"/>
            <a:ext cx="0" cy="402336"/>
          </a:xfrm>
          <a:prstGeom prst="line">
            <a:avLst/>
          </a:prstGeom>
          <a:noFill/>
          <a:ln w="25400">
            <a:solidFill>
              <a:srgbClr val="B9CFC9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1060704" y="3374136"/>
            <a:ext cx="530352" cy="530352"/>
          </a:xfrm>
          <a:prstGeom prst="ellipse">
            <a:avLst/>
          </a:prstGeom>
          <a:solidFill>
            <a:srgbClr val="00684A"/>
          </a:solidFill>
          <a:ln/>
        </p:spPr>
      </p:sp>
      <p:pic>
        <p:nvPicPr>
          <p:cNvPr id="15" name="Image 2" descr="/home/claude/mongo_ppt/icons/layer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596" y="3512028"/>
            <a:ext cx="254569" cy="254569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792224" y="3374136"/>
            <a:ext cx="4608576" cy="530352"/>
          </a:xfrm>
          <a:prstGeom prst="roundRect">
            <a:avLst>
              <a:gd name="adj" fmla="val 13793"/>
            </a:avLst>
          </a:prstGeom>
          <a:solidFill>
            <a:srgbClr val="EAF3EF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1929384" y="3374136"/>
            <a:ext cx="4425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1325880" y="3904488"/>
            <a:ext cx="0" cy="402336"/>
          </a:xfrm>
          <a:prstGeom prst="line">
            <a:avLst/>
          </a:prstGeom>
          <a:noFill/>
          <a:ln w="25400">
            <a:solidFill>
              <a:srgbClr val="B9CFC9"/>
            </a:solidFill>
            <a:prstDash val="dash"/>
          </a:ln>
        </p:spPr>
      </p:sp>
      <p:sp>
        <p:nvSpPr>
          <p:cNvPr id="19" name="Shape 14"/>
          <p:cNvSpPr/>
          <p:nvPr/>
        </p:nvSpPr>
        <p:spPr>
          <a:xfrm>
            <a:off x="1316736" y="4306824"/>
            <a:ext cx="530352" cy="530352"/>
          </a:xfrm>
          <a:prstGeom prst="ellipse">
            <a:avLst/>
          </a:prstGeom>
          <a:solidFill>
            <a:srgbClr val="00684A"/>
          </a:solidFill>
          <a:ln/>
        </p:spPr>
      </p:sp>
      <p:pic>
        <p:nvPicPr>
          <p:cNvPr id="20" name="Image 3" descr="/home/claude/mongo_ppt/icons/fil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4628" y="4444716"/>
            <a:ext cx="254569" cy="254569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2048256" y="4306824"/>
            <a:ext cx="4352544" cy="530352"/>
          </a:xfrm>
          <a:prstGeom prst="roundRect">
            <a:avLst>
              <a:gd name="adj" fmla="val 13793"/>
            </a:avLst>
          </a:prstGeom>
          <a:solidFill>
            <a:srgbClr val="EAF3EF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2185416" y="4306824"/>
            <a:ext cx="4169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1581912" y="4837176"/>
            <a:ext cx="0" cy="402336"/>
          </a:xfrm>
          <a:prstGeom prst="line">
            <a:avLst/>
          </a:prstGeom>
          <a:noFill/>
          <a:ln w="25400">
            <a:solidFill>
              <a:srgbClr val="B9CFC9"/>
            </a:solidFill>
            <a:prstDash val="dash"/>
          </a:ln>
        </p:spPr>
      </p:sp>
      <p:sp>
        <p:nvSpPr>
          <p:cNvPr id="24" name="Shape 18"/>
          <p:cNvSpPr/>
          <p:nvPr/>
        </p:nvSpPr>
        <p:spPr>
          <a:xfrm>
            <a:off x="1572768" y="5239512"/>
            <a:ext cx="530352" cy="530352"/>
          </a:xfrm>
          <a:prstGeom prst="ellipse">
            <a:avLst/>
          </a:prstGeom>
          <a:solidFill>
            <a:srgbClr val="00ED64"/>
          </a:solidFill>
          <a:ln/>
        </p:spPr>
      </p:sp>
      <p:pic>
        <p:nvPicPr>
          <p:cNvPr id="25" name="Image 4" descr="/home/claude/mongo_ppt/icons/key_001E2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0660" y="5377404"/>
            <a:ext cx="254569" cy="254569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2304288" y="5239512"/>
            <a:ext cx="4096512" cy="530352"/>
          </a:xfrm>
          <a:prstGeom prst="roundRect">
            <a:avLst>
              <a:gd name="adj" fmla="val 13793"/>
            </a:avLst>
          </a:prstGeom>
          <a:solidFill>
            <a:srgbClr val="EAF3EF"/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2441448" y="5239512"/>
            <a:ext cx="3913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6949440" y="15087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Terms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6949440" y="192024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— container for collections.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— a group of documents.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— an individual record.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— a key-value pair of data.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Fundamentals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Database, Collection &amp; Document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675120" cy="4023360"/>
          </a:xfrm>
          <a:prstGeom prst="roundRect">
            <a:avLst>
              <a:gd name="adj" fmla="val 2727"/>
            </a:avLst>
          </a:prstGeom>
          <a:solidFill>
            <a:srgbClr val="001E2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0299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companyDB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2514600"/>
            <a:ext cx="6035040" cy="2880360"/>
          </a:xfrm>
          <a:prstGeom prst="roundRect">
            <a:avLst>
              <a:gd name="adj" fmla="val 3175"/>
            </a:avLst>
          </a:prstGeom>
          <a:solidFill>
            <a:srgbClr val="00684A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6791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4F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43000" y="290779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88720" y="338328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00121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389888" y="3529584"/>
            <a:ext cx="499262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5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5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"Anu",</a:t>
            </a:r>
            <a:endParaRPr lang="en-US" sz="145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5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"department": "IT",</a:t>
            </a:r>
            <a:endParaRPr lang="en-US" sz="145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5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"salary": 50000</a:t>
            </a:r>
            <a:endParaRPr lang="en-US" sz="145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88720" y="528523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543800" y="2194560"/>
            <a:ext cx="4069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document lives inside a collection, and every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lives inside a database — the same nesting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architecture on the previous slide, applied to a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Fundamentals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FORMAT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vs BSON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001420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49808" y="2157984"/>
            <a:ext cx="471830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"Anu",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"age": 25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EAF3E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41148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BSON = Binary JSON. MongoDB stores documents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internally in this binary-encoded format.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035040" y="164592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of BSON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35040" y="2148840"/>
            <a:ext cx="502920" cy="502920"/>
          </a:xfrm>
          <a:prstGeom prst="ellipse">
            <a:avLst/>
          </a:prstGeom>
          <a:solidFill>
            <a:srgbClr val="00684A"/>
          </a:solidFill>
          <a:ln/>
        </p:spPr>
      </p:sp>
      <p:pic>
        <p:nvPicPr>
          <p:cNvPr id="12" name="Image 0" descr="/home/claude/mongo_ppt/icons/expan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5799" y="2279599"/>
            <a:ext cx="241402" cy="24140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675120" y="2148840"/>
            <a:ext cx="4937760" cy="502920"/>
          </a:xfrm>
          <a:prstGeom prst="roundRect">
            <a:avLst>
              <a:gd name="adj" fmla="val 14545"/>
            </a:avLst>
          </a:prstGeom>
          <a:solidFill>
            <a:srgbClr val="EAF3E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858000" y="21488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more data types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035040" y="2834640"/>
            <a:ext cx="502920" cy="502920"/>
          </a:xfrm>
          <a:prstGeom prst="ellipse">
            <a:avLst/>
          </a:prstGeom>
          <a:solidFill>
            <a:srgbClr val="00684A"/>
          </a:solidFill>
          <a:ln/>
        </p:spPr>
      </p:sp>
      <p:pic>
        <p:nvPicPr>
          <p:cNvPr id="16" name="Image 1" descr="/home/claude/mongo_ppt/icons/cub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5799" y="2965399"/>
            <a:ext cx="241402" cy="24140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675120" y="2834640"/>
            <a:ext cx="4937760" cy="502920"/>
          </a:xfrm>
          <a:prstGeom prst="roundRect">
            <a:avLst>
              <a:gd name="adj" fmla="val 14545"/>
            </a:avLst>
          </a:prstGeom>
          <a:solidFill>
            <a:srgbClr val="EAF3EF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858000" y="28346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storage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6035040" y="3520440"/>
            <a:ext cx="502920" cy="502920"/>
          </a:xfrm>
          <a:prstGeom prst="ellipse">
            <a:avLst/>
          </a:prstGeom>
          <a:solidFill>
            <a:srgbClr val="00684A"/>
          </a:solidFill>
          <a:ln/>
        </p:spPr>
      </p:sp>
      <p:pic>
        <p:nvPicPr>
          <p:cNvPr id="20" name="Image 2" descr="/home/claude/mongo_ppt/icons/boltche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799" y="3651199"/>
            <a:ext cx="241402" cy="24140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675120" y="3520440"/>
            <a:ext cx="4937760" cy="502920"/>
          </a:xfrm>
          <a:prstGeom prst="roundRect">
            <a:avLst>
              <a:gd name="adj" fmla="val 14545"/>
            </a:avLst>
          </a:prstGeom>
          <a:solidFill>
            <a:srgbClr val="EAF3EF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6858000" y="35204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processing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6035040" y="4206240"/>
            <a:ext cx="502920" cy="502920"/>
          </a:xfrm>
          <a:prstGeom prst="ellipse">
            <a:avLst/>
          </a:prstGeom>
          <a:solidFill>
            <a:srgbClr val="00684A"/>
          </a:solidFill>
          <a:ln/>
        </p:spPr>
      </p:sp>
      <p:pic>
        <p:nvPicPr>
          <p:cNvPr id="24" name="Image 3" descr="/home/claude/mongo_ppt/icons/sitemap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5799" y="4336999"/>
            <a:ext cx="241402" cy="241402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6675120" y="4206240"/>
            <a:ext cx="4937760" cy="502920"/>
          </a:xfrm>
          <a:prstGeom prst="roundRect">
            <a:avLst>
              <a:gd name="adj" fmla="val 14545"/>
            </a:avLst>
          </a:prstGeom>
          <a:solidFill>
            <a:srgbClr val="EAF3EF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6858000" y="42062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binary data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Fundamentals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Data Types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148840" cy="777240"/>
          </a:xfrm>
          <a:prstGeom prst="roundRect">
            <a:avLst>
              <a:gd name="adj" fmla="val 11765"/>
            </a:avLst>
          </a:prstGeom>
          <a:solidFill>
            <a:srgbClr val="EAF3EF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805940"/>
            <a:ext cx="457200" cy="457200"/>
          </a:xfrm>
          <a:prstGeom prst="ellipse">
            <a:avLst/>
          </a:prstGeom>
          <a:solidFill>
            <a:srgbClr val="00684A"/>
          </a:solidFill>
          <a:ln/>
        </p:spPr>
      </p:sp>
      <p:pic>
        <p:nvPicPr>
          <p:cNvPr id="6" name="Image 0" descr="/home/claude/mongo_ppt/icons/tag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9248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64592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834640" y="1645920"/>
            <a:ext cx="2148840" cy="777240"/>
          </a:xfrm>
          <a:prstGeom prst="roundRect">
            <a:avLst>
              <a:gd name="adj" fmla="val 11765"/>
            </a:avLst>
          </a:prstGeom>
          <a:solidFill>
            <a:srgbClr val="EAF3EF"/>
          </a:solidFill>
          <a:ln/>
        </p:spPr>
      </p:sp>
      <p:sp>
        <p:nvSpPr>
          <p:cNvPr id="9" name="Shape 6"/>
          <p:cNvSpPr/>
          <p:nvPr/>
        </p:nvSpPr>
        <p:spPr>
          <a:xfrm>
            <a:off x="2971800" y="1805940"/>
            <a:ext cx="457200" cy="457200"/>
          </a:xfrm>
          <a:prstGeom prst="ellipse">
            <a:avLst/>
          </a:prstGeom>
          <a:solidFill>
            <a:srgbClr val="00684A"/>
          </a:solidFill>
          <a:ln/>
        </p:spPr>
      </p:sp>
      <p:pic>
        <p:nvPicPr>
          <p:cNvPr id="10" name="Image 1" descr="/home/claude/mongo_ppt/icons/hashtag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72" y="192481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164592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120640" y="1645920"/>
            <a:ext cx="2148840" cy="777240"/>
          </a:xfrm>
          <a:prstGeom prst="roundRect">
            <a:avLst>
              <a:gd name="adj" fmla="val 11765"/>
            </a:avLst>
          </a:prstGeom>
          <a:solidFill>
            <a:srgbClr val="EAF3EF"/>
          </a:solidFill>
          <a:ln/>
        </p:spPr>
      </p:sp>
      <p:sp>
        <p:nvSpPr>
          <p:cNvPr id="13" name="Shape 9"/>
          <p:cNvSpPr/>
          <p:nvPr/>
        </p:nvSpPr>
        <p:spPr>
          <a:xfrm>
            <a:off x="5257800" y="1805940"/>
            <a:ext cx="457200" cy="457200"/>
          </a:xfrm>
          <a:prstGeom prst="ellipse">
            <a:avLst/>
          </a:prstGeom>
          <a:solidFill>
            <a:srgbClr val="00684A"/>
          </a:solidFill>
          <a:ln/>
        </p:spPr>
      </p:sp>
      <p:pic>
        <p:nvPicPr>
          <p:cNvPr id="14" name="Image 2" descr="/home/claude/mongo_ppt/icons/hashtag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672" y="192481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852160" y="164592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2560320"/>
            <a:ext cx="2148840" cy="777240"/>
          </a:xfrm>
          <a:prstGeom prst="roundRect">
            <a:avLst>
              <a:gd name="adj" fmla="val 11765"/>
            </a:avLst>
          </a:prstGeom>
          <a:solidFill>
            <a:srgbClr val="EAF3EF"/>
          </a:solidFill>
          <a:ln/>
        </p:spPr>
      </p:sp>
      <p:sp>
        <p:nvSpPr>
          <p:cNvPr id="17" name="Shape 12"/>
          <p:cNvSpPr/>
          <p:nvPr/>
        </p:nvSpPr>
        <p:spPr>
          <a:xfrm>
            <a:off x="685800" y="2720340"/>
            <a:ext cx="457200" cy="457200"/>
          </a:xfrm>
          <a:prstGeom prst="ellipse">
            <a:avLst/>
          </a:prstGeom>
          <a:solidFill>
            <a:srgbClr val="00684A"/>
          </a:solidFill>
          <a:ln/>
        </p:spPr>
      </p:sp>
      <p:pic>
        <p:nvPicPr>
          <p:cNvPr id="18" name="Image 3" descr="/home/claude/mongo_ppt/icons/toggleon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2839212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80160" y="256032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2834640" y="2560320"/>
            <a:ext cx="2148840" cy="777240"/>
          </a:xfrm>
          <a:prstGeom prst="roundRect">
            <a:avLst>
              <a:gd name="adj" fmla="val 11765"/>
            </a:avLst>
          </a:prstGeom>
          <a:solidFill>
            <a:srgbClr val="EAF3EF"/>
          </a:solidFill>
          <a:ln/>
        </p:spPr>
      </p:sp>
      <p:sp>
        <p:nvSpPr>
          <p:cNvPr id="21" name="Shape 15"/>
          <p:cNvSpPr/>
          <p:nvPr/>
        </p:nvSpPr>
        <p:spPr>
          <a:xfrm>
            <a:off x="2971800" y="2720340"/>
            <a:ext cx="457200" cy="457200"/>
          </a:xfrm>
          <a:prstGeom prst="ellipse">
            <a:avLst/>
          </a:prstGeom>
          <a:solidFill>
            <a:srgbClr val="00684A"/>
          </a:solidFill>
          <a:ln/>
        </p:spPr>
      </p:sp>
      <p:pic>
        <p:nvPicPr>
          <p:cNvPr id="22" name="Image 4" descr="/home/claude/mongo_ppt/icons/lis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0672" y="2839212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3566160" y="256032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5120640" y="2560320"/>
            <a:ext cx="2148840" cy="777240"/>
          </a:xfrm>
          <a:prstGeom prst="roundRect">
            <a:avLst>
              <a:gd name="adj" fmla="val 11765"/>
            </a:avLst>
          </a:prstGeom>
          <a:solidFill>
            <a:srgbClr val="EAF3EF"/>
          </a:solidFill>
          <a:ln/>
        </p:spPr>
      </p:sp>
      <p:sp>
        <p:nvSpPr>
          <p:cNvPr id="25" name="Shape 18"/>
          <p:cNvSpPr/>
          <p:nvPr/>
        </p:nvSpPr>
        <p:spPr>
          <a:xfrm>
            <a:off x="5257800" y="2720340"/>
            <a:ext cx="457200" cy="457200"/>
          </a:xfrm>
          <a:prstGeom prst="ellipse">
            <a:avLst/>
          </a:prstGeom>
          <a:solidFill>
            <a:srgbClr val="00684A"/>
          </a:solidFill>
          <a:ln/>
        </p:spPr>
      </p:sp>
      <p:pic>
        <p:nvPicPr>
          <p:cNvPr id="26" name="Image 5" descr="/home/claude/mongo_ppt/icons/cube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6672" y="2839212"/>
            <a:ext cx="219456" cy="219456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852160" y="256032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400" dirty="0"/>
          </a:p>
        </p:txBody>
      </p:sp>
      <p:sp>
        <p:nvSpPr>
          <p:cNvPr id="28" name="Shape 20"/>
          <p:cNvSpPr/>
          <p:nvPr/>
        </p:nvSpPr>
        <p:spPr>
          <a:xfrm>
            <a:off x="548640" y="3474720"/>
            <a:ext cx="2148840" cy="777240"/>
          </a:xfrm>
          <a:prstGeom prst="roundRect">
            <a:avLst>
              <a:gd name="adj" fmla="val 11765"/>
            </a:avLst>
          </a:prstGeom>
          <a:solidFill>
            <a:srgbClr val="EAF3EF"/>
          </a:solidFill>
          <a:ln/>
        </p:spPr>
      </p:sp>
      <p:sp>
        <p:nvSpPr>
          <p:cNvPr id="29" name="Shape 21"/>
          <p:cNvSpPr/>
          <p:nvPr/>
        </p:nvSpPr>
        <p:spPr>
          <a:xfrm>
            <a:off x="685800" y="3634740"/>
            <a:ext cx="457200" cy="457200"/>
          </a:xfrm>
          <a:prstGeom prst="ellipse">
            <a:avLst/>
          </a:prstGeom>
          <a:solidFill>
            <a:srgbClr val="00684A"/>
          </a:solidFill>
          <a:ln/>
        </p:spPr>
      </p:sp>
      <p:pic>
        <p:nvPicPr>
          <p:cNvPr id="30" name="Image 6" descr="/home/claude/mongo_ppt/icons/ban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" y="3753612"/>
            <a:ext cx="219456" cy="219456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1280160" y="347472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1400" dirty="0"/>
          </a:p>
        </p:txBody>
      </p:sp>
      <p:sp>
        <p:nvSpPr>
          <p:cNvPr id="32" name="Shape 23"/>
          <p:cNvSpPr/>
          <p:nvPr/>
        </p:nvSpPr>
        <p:spPr>
          <a:xfrm>
            <a:off x="2834640" y="3474720"/>
            <a:ext cx="2148840" cy="777240"/>
          </a:xfrm>
          <a:prstGeom prst="roundRect">
            <a:avLst>
              <a:gd name="adj" fmla="val 11765"/>
            </a:avLst>
          </a:prstGeom>
          <a:solidFill>
            <a:srgbClr val="EAF3EF"/>
          </a:solidFill>
          <a:ln/>
        </p:spPr>
      </p:sp>
      <p:sp>
        <p:nvSpPr>
          <p:cNvPr id="33" name="Shape 24"/>
          <p:cNvSpPr/>
          <p:nvPr/>
        </p:nvSpPr>
        <p:spPr>
          <a:xfrm>
            <a:off x="2971800" y="3634740"/>
            <a:ext cx="457200" cy="457200"/>
          </a:xfrm>
          <a:prstGeom prst="ellipse">
            <a:avLst/>
          </a:prstGeom>
          <a:solidFill>
            <a:srgbClr val="00684A"/>
          </a:solidFill>
          <a:ln/>
        </p:spPr>
      </p:sp>
      <p:pic>
        <p:nvPicPr>
          <p:cNvPr id="34" name="Image 7" descr="/home/claude/mongo_ppt/icons/calendar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90672" y="3753612"/>
            <a:ext cx="219456" cy="219456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3566160" y="347472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400" dirty="0"/>
          </a:p>
        </p:txBody>
      </p:sp>
      <p:sp>
        <p:nvSpPr>
          <p:cNvPr id="36" name="Shape 26"/>
          <p:cNvSpPr/>
          <p:nvPr/>
        </p:nvSpPr>
        <p:spPr>
          <a:xfrm>
            <a:off x="5120640" y="3474720"/>
            <a:ext cx="2148840" cy="777240"/>
          </a:xfrm>
          <a:prstGeom prst="roundRect">
            <a:avLst>
              <a:gd name="adj" fmla="val 11765"/>
            </a:avLst>
          </a:prstGeom>
          <a:solidFill>
            <a:srgbClr val="EAF3EF"/>
          </a:solidFill>
          <a:ln/>
        </p:spPr>
      </p:sp>
      <p:sp>
        <p:nvSpPr>
          <p:cNvPr id="37" name="Shape 27"/>
          <p:cNvSpPr/>
          <p:nvPr/>
        </p:nvSpPr>
        <p:spPr>
          <a:xfrm>
            <a:off x="5257800" y="3634740"/>
            <a:ext cx="457200" cy="457200"/>
          </a:xfrm>
          <a:prstGeom prst="ellipse">
            <a:avLst/>
          </a:prstGeom>
          <a:solidFill>
            <a:srgbClr val="00684A"/>
          </a:solidFill>
          <a:ln/>
        </p:spPr>
      </p:sp>
      <p:pic>
        <p:nvPicPr>
          <p:cNvPr id="38" name="Image 8" descr="/home/claude/mongo_ppt/icons/fingerprint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76672" y="3753612"/>
            <a:ext cx="219456" cy="219456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5852160" y="347472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ObjectId</a:t>
            </a:r>
            <a:endParaRPr lang="en-US" sz="1400" dirty="0"/>
          </a:p>
        </p:txBody>
      </p:sp>
      <p:sp>
        <p:nvSpPr>
          <p:cNvPr id="40" name="Shape 29"/>
          <p:cNvSpPr/>
          <p:nvPr/>
        </p:nvSpPr>
        <p:spPr>
          <a:xfrm>
            <a:off x="7315200" y="1645920"/>
            <a:ext cx="4297680" cy="2880360"/>
          </a:xfrm>
          <a:prstGeom prst="roundRect">
            <a:avLst>
              <a:gd name="adj" fmla="val 2540"/>
            </a:avLst>
          </a:prstGeom>
          <a:solidFill>
            <a:srgbClr val="001420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1" name="Text 30"/>
          <p:cNvSpPr txBox="1"/>
          <p:nvPr/>
        </p:nvSpPr>
        <p:spPr>
          <a:xfrm>
            <a:off x="7516368" y="1792224"/>
            <a:ext cx="3895344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"Arun",</a:t>
            </a:r>
            <a:endParaRPr lang="en-US" sz="13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"age": 25,</a:t>
            </a:r>
            <a:endParaRPr lang="en-US" sz="13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"active": true,</a:t>
            </a:r>
            <a:endParaRPr lang="en-US" sz="13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"skills": ["Java",</a:t>
            </a:r>
            <a:endParaRPr lang="en-US" sz="13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"React"],</a:t>
            </a:r>
            <a:endParaRPr lang="en-US" sz="13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"joiningDate":</a:t>
            </a:r>
            <a:endParaRPr lang="en-US" sz="13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"2026-09-01"</a:t>
            </a:r>
            <a:endParaRPr lang="en-US" sz="13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42" name="Text 3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Fundamentals</a:t>
            </a:r>
            <a:endParaRPr lang="en-US" sz="900" dirty="0"/>
          </a:p>
        </p:txBody>
      </p:sp>
      <p:sp>
        <p:nvSpPr>
          <p:cNvPr id="43" name="Text 3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automatically generates a unique _id for every document.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001420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49808" y="2340864"/>
            <a:ext cx="508406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5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55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"_id": ObjectId("..."),</a:t>
            </a:r>
            <a:endParaRPr lang="en-US" sz="155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55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"Arun"</a:t>
            </a:r>
            <a:endParaRPr lang="en-US" sz="155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48640" y="3794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6052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Uniquely identifies a document within a collection.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generated if not supplied.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retrieve, update, or delete documents.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766560" y="2011680"/>
            <a:ext cx="1463040" cy="1463040"/>
          </a:xfrm>
          <a:prstGeom prst="ellipse">
            <a:avLst/>
          </a:prstGeom>
          <a:solidFill>
            <a:srgbClr val="00684A"/>
          </a:solidFill>
          <a:ln/>
        </p:spPr>
      </p:sp>
      <p:pic>
        <p:nvPicPr>
          <p:cNvPr id="10" name="Image 0" descr="/home/claude/mongo_ppt/icons/fingerprint_00ED6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6950" y="2392070"/>
            <a:ext cx="702259" cy="702259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446520" y="3703320"/>
            <a:ext cx="5166360" cy="1737360"/>
          </a:xfrm>
          <a:prstGeom prst="roundRect">
            <a:avLst>
              <a:gd name="adj" fmla="val 5263"/>
            </a:avLst>
          </a:prstGeom>
          <a:solidFill>
            <a:srgbClr val="EAF3E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675120" y="388620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_id as a primary key that MongoDB</a:t>
            </a:r>
            <a:endParaRPr lang="en-US" sz="1350" dirty="0"/>
          </a:p>
          <a:p>
            <a:pPr indent="0" marL="0">
              <a:buNone/>
            </a:pPr>
            <a:r>
              <a:rPr lang="en-US" sz="1350" i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for you automatically — every insert</a:t>
            </a:r>
            <a:endParaRPr lang="en-US" sz="1350" dirty="0"/>
          </a:p>
          <a:p>
            <a:pPr indent="0" marL="0">
              <a:buNone/>
            </a:pPr>
            <a:r>
              <a:rPr lang="en-US" sz="1350" i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one unless you explicitly set your own.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Fundamentals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Installation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Tools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611880" cy="1691640"/>
          </a:xfrm>
          <a:prstGeom prst="roundRect">
            <a:avLst>
              <a:gd name="adj" fmla="val 6486"/>
            </a:avLst>
          </a:prstGeom>
          <a:solidFill>
            <a:srgbClr val="EAF3E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40280"/>
            <a:ext cx="548640" cy="548640"/>
          </a:xfrm>
          <a:prstGeom prst="ellipse">
            <a:avLst/>
          </a:prstGeom>
          <a:solidFill>
            <a:srgbClr val="00684A"/>
          </a:solidFill>
          <a:ln/>
        </p:spPr>
      </p:sp>
      <p:pic>
        <p:nvPicPr>
          <p:cNvPr id="7" name="Image 0" descr="/home/claude/mongo_ppt/icons/databas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2382926"/>
            <a:ext cx="263347" cy="26334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28803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Community Server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3101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database engine (mongod).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2011680"/>
            <a:ext cx="3611880" cy="1691640"/>
          </a:xfrm>
          <a:prstGeom prst="roundRect">
            <a:avLst>
              <a:gd name="adj" fmla="val 6486"/>
            </a:avLst>
          </a:prstGeom>
          <a:solidFill>
            <a:srgbClr val="EAF3EF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0" y="2240280"/>
            <a:ext cx="548640" cy="548640"/>
          </a:xfrm>
          <a:prstGeom prst="ellipse">
            <a:avLst/>
          </a:prstGeom>
          <a:solidFill>
            <a:srgbClr val="00684A"/>
          </a:solidFill>
          <a:ln/>
        </p:spPr>
      </p:sp>
      <p:pic>
        <p:nvPicPr>
          <p:cNvPr id="12" name="Image 1" descr="/home/claude/mongo_ppt/icons/compas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238292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72000" y="28803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Compass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33101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 for exploring and managing data.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38160" y="2011680"/>
            <a:ext cx="3611880" cy="1691640"/>
          </a:xfrm>
          <a:prstGeom prst="roundRect">
            <a:avLst>
              <a:gd name="adj" fmla="val 6486"/>
            </a:avLst>
          </a:prstGeom>
          <a:solidFill>
            <a:srgbClr val="EAF3EF"/>
          </a:solidFill>
          <a:ln/>
        </p:spPr>
      </p:sp>
      <p:sp>
        <p:nvSpPr>
          <p:cNvPr id="16" name="Shape 12"/>
          <p:cNvSpPr/>
          <p:nvPr/>
        </p:nvSpPr>
        <p:spPr>
          <a:xfrm>
            <a:off x="8366760" y="2240280"/>
            <a:ext cx="548640" cy="548640"/>
          </a:xfrm>
          <a:prstGeom prst="ellipse">
            <a:avLst/>
          </a:prstGeom>
          <a:solidFill>
            <a:srgbClr val="00684A"/>
          </a:solidFill>
          <a:ln/>
        </p:spPr>
      </p:sp>
      <p:pic>
        <p:nvPicPr>
          <p:cNvPr id="17" name="Image 2" descr="/home/claude/mongo_ppt/icons/terminal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406" y="2382926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66760" y="28803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Shell (mongosh)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8366760" y="33101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command-line interface for queries.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4864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Flow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548640" y="457200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001E2B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548640" y="45720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MongoDB</a:t>
            </a:r>
            <a:endParaRPr lang="en-US" sz="1250" dirty="0"/>
          </a:p>
        </p:txBody>
      </p:sp>
      <p:pic>
        <p:nvPicPr>
          <p:cNvPr id="23" name="Image 3" descr="/home/claude/mongo_ppt/icons/chevright_5C6B7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256" y="4791456"/>
            <a:ext cx="256032" cy="256032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3483864" y="457200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001E2B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3483864" y="45720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MongoDB Server</a:t>
            </a:r>
            <a:endParaRPr lang="en-US" sz="1250" dirty="0"/>
          </a:p>
        </p:txBody>
      </p:sp>
      <p:pic>
        <p:nvPicPr>
          <p:cNvPr id="26" name="Image 4" descr="/home/claude/mongo_ppt/icons/chevright_5C6B7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4791456"/>
            <a:ext cx="256032" cy="256032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6419088" y="457200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001E2B"/>
          </a:solidFill>
          <a:ln/>
        </p:spPr>
      </p:sp>
      <p:sp>
        <p:nvSpPr>
          <p:cNvPr id="28" name="Text 21"/>
          <p:cNvSpPr txBox="1"/>
          <p:nvPr/>
        </p:nvSpPr>
        <p:spPr>
          <a:xfrm>
            <a:off x="6419088" y="45720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mongosh / Compass</a:t>
            </a:r>
            <a:endParaRPr lang="en-US" sz="1250" dirty="0"/>
          </a:p>
        </p:txBody>
      </p:sp>
      <p:pic>
        <p:nvPicPr>
          <p:cNvPr id="29" name="Image 5" descr="/home/claude/mongo_ppt/icons/chevright_5C6B7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1704" y="4791456"/>
            <a:ext cx="256032" cy="256032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9354312" y="457200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00684A"/>
          </a:solidFill>
          <a:ln/>
        </p:spPr>
      </p:sp>
      <p:sp>
        <p:nvSpPr>
          <p:cNvPr id="31" name="Text 23"/>
          <p:cNvSpPr txBox="1"/>
          <p:nvPr/>
        </p:nvSpPr>
        <p:spPr>
          <a:xfrm>
            <a:off x="9354312" y="45720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Database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Fundamentals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4572000" cy="4572000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94360" y="26517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Operations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49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Read, Update, and Delete — the four operations behind every interaction with MongoDB data.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601200" y="2468880"/>
            <a:ext cx="1737360" cy="1737360"/>
          </a:xfrm>
          <a:prstGeom prst="ellipse">
            <a:avLst/>
          </a:prstGeom>
          <a:solidFill>
            <a:srgbClr val="00684A"/>
          </a:solidFill>
          <a:ln/>
        </p:spPr>
      </p:sp>
      <p:pic>
        <p:nvPicPr>
          <p:cNvPr id="7" name="Image 0" descr="/home/claude/mongo_ppt/icons/sync_00ED6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2914" y="2920594"/>
            <a:ext cx="833933" cy="83393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CRUD?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EAF3EF"/>
          </a:solidFill>
          <a:ln/>
        </p:spPr>
      </p:sp>
      <p:sp>
        <p:nvSpPr>
          <p:cNvPr id="5" name="Shape 3"/>
          <p:cNvSpPr/>
          <p:nvPr/>
        </p:nvSpPr>
        <p:spPr>
          <a:xfrm>
            <a:off x="1508760" y="1965960"/>
            <a:ext cx="685800" cy="685800"/>
          </a:xfrm>
          <a:prstGeom prst="ellipse">
            <a:avLst/>
          </a:prstGeom>
          <a:solidFill>
            <a:srgbClr val="00684A"/>
          </a:solidFill>
          <a:ln/>
        </p:spPr>
      </p:sp>
      <p:pic>
        <p:nvPicPr>
          <p:cNvPr id="6" name="Image 0" descr="/home/claude/mongo_ppt/icons/pluscirc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7068" y="21442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743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0906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data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37560" y="16916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EAF3EF"/>
          </a:solidFill>
          <a:ln/>
        </p:spPr>
      </p:sp>
      <p:sp>
        <p:nvSpPr>
          <p:cNvPr id="10" name="Shape 7"/>
          <p:cNvSpPr/>
          <p:nvPr/>
        </p:nvSpPr>
        <p:spPr>
          <a:xfrm>
            <a:off x="4297680" y="1965960"/>
            <a:ext cx="685800" cy="685800"/>
          </a:xfrm>
          <a:prstGeom prst="ellipse">
            <a:avLst/>
          </a:prstGeom>
          <a:solidFill>
            <a:srgbClr val="00684A"/>
          </a:solidFill>
          <a:ln/>
        </p:spPr>
      </p:sp>
      <p:pic>
        <p:nvPicPr>
          <p:cNvPr id="11" name="Image 1" descr="/home/claude/mongo_ppt/icons/search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988" y="21442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337560" y="2743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337560" y="30906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data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126480" y="16916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EAF3EF"/>
          </a:solidFill>
          <a:ln/>
        </p:spPr>
      </p:sp>
      <p:sp>
        <p:nvSpPr>
          <p:cNvPr id="15" name="Shape 11"/>
          <p:cNvSpPr/>
          <p:nvPr/>
        </p:nvSpPr>
        <p:spPr>
          <a:xfrm>
            <a:off x="7086600" y="1965960"/>
            <a:ext cx="685800" cy="685800"/>
          </a:xfrm>
          <a:prstGeom prst="ellipse">
            <a:avLst/>
          </a:prstGeom>
          <a:solidFill>
            <a:srgbClr val="00684A"/>
          </a:solidFill>
          <a:ln/>
        </p:spPr>
      </p:sp>
      <p:pic>
        <p:nvPicPr>
          <p:cNvPr id="16" name="Image 2" descr="/home/claude/mongo_ppt/icons/edi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908" y="21442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126480" y="2743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126480" y="30906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data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8915400" y="16916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EAF3EF"/>
          </a:solidFill>
          <a:ln/>
        </p:spPr>
      </p:sp>
      <p:sp>
        <p:nvSpPr>
          <p:cNvPr id="20" name="Shape 15"/>
          <p:cNvSpPr/>
          <p:nvPr/>
        </p:nvSpPr>
        <p:spPr>
          <a:xfrm>
            <a:off x="9875520" y="1965960"/>
            <a:ext cx="685800" cy="685800"/>
          </a:xfrm>
          <a:prstGeom prst="ellipse">
            <a:avLst/>
          </a:prstGeom>
          <a:solidFill>
            <a:srgbClr val="00684A"/>
          </a:solidFill>
          <a:ln/>
        </p:spPr>
      </p:sp>
      <p:pic>
        <p:nvPicPr>
          <p:cNvPr id="21" name="Image 3" descr="/home/claude/mongo_ppt/icons/trash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3828" y="214426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915400" y="2743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8915400" y="30906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data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3794760"/>
            <a:ext cx="11064240" cy="640080"/>
          </a:xfrm>
          <a:prstGeom prst="roundRect">
            <a:avLst>
              <a:gd name="adj" fmla="val 50000"/>
            </a:avLst>
          </a:prstGeom>
          <a:solidFill>
            <a:srgbClr val="001E2B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548640" y="3794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  →   Read   →   Update   →   Delete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46634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represents the four basic operations every database supports — MongoDB implements each with a dedicated set of methods, covered on the following slides.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Fundamentals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insertOne() &amp; insertMany()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00684A"/>
          </a:solidFill>
          <a:ln/>
        </p:spPr>
      </p:sp>
      <p:pic>
        <p:nvPicPr>
          <p:cNvPr id="5" name="Image 0" descr="/home/claude/mongo_ppt/icons/pluscirc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6479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67335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insertOne()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Inserts a single document.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001420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49808" y="2615184"/>
            <a:ext cx="471830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db.students.insertOne({</a:t>
            </a:r>
            <a:endParaRPr lang="en-US" sz="14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"Arun",</a:t>
            </a:r>
            <a:endParaRPr lang="en-US" sz="14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age: 22,</a:t>
            </a:r>
            <a:endParaRPr lang="en-US" sz="14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course: "MERN"</a:t>
            </a:r>
            <a:endParaRPr lang="en-US" sz="14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42976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 document inserted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09360" y="1645920"/>
            <a:ext cx="457200" cy="457200"/>
          </a:xfrm>
          <a:prstGeom prst="ellipse">
            <a:avLst/>
          </a:prstGeom>
          <a:solidFill>
            <a:srgbClr val="00684A"/>
          </a:solidFill>
          <a:ln/>
        </p:spPr>
      </p:sp>
      <p:pic>
        <p:nvPicPr>
          <p:cNvPr id="12" name="Image 1" descr="/home/claude/mongo_ppt/icons/pluscircl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76479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03720" y="167335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insertMany()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309360" y="2148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Inserts multiple documents at once.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309360" y="2468880"/>
            <a:ext cx="5120640" cy="3108960"/>
          </a:xfrm>
          <a:prstGeom prst="roundRect">
            <a:avLst>
              <a:gd name="adj" fmla="val 2353"/>
            </a:avLst>
          </a:prstGeom>
          <a:solidFill>
            <a:srgbClr val="001420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6510528" y="2615184"/>
            <a:ext cx="471830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db.students.insertMany([</a:t>
            </a:r>
            <a:endParaRPr lang="en-US" sz="14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name: "Arun", age: 22 },</a:t>
            </a:r>
            <a:endParaRPr lang="en-US" sz="14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name: "Priya", age: 23 },</a:t>
            </a:r>
            <a:endParaRPr lang="en-US" sz="14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name: "Rahul", age: 24 }</a:t>
            </a:r>
            <a:endParaRPr lang="en-US" sz="14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Fundamentals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find() &amp; findOne()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00684A"/>
          </a:solidFill>
          <a:ln/>
        </p:spPr>
      </p:sp>
      <p:pic>
        <p:nvPicPr>
          <p:cNvPr id="5" name="Image 0" descr="/home/claude/mongo_ppt/icons/search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6479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67335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find()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all matching documents.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001420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49808" y="2615184"/>
            <a:ext cx="471830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db.students.find()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33832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students aged 22: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365760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001420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49808" y="3803904"/>
            <a:ext cx="4718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db.students.find({</a:t>
            </a:r>
            <a:endParaRPr lang="en-US" sz="14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age: 22</a:t>
            </a:r>
            <a:endParaRPr lang="en-US" sz="14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309360" y="1645920"/>
            <a:ext cx="457200" cy="457200"/>
          </a:xfrm>
          <a:prstGeom prst="ellipse">
            <a:avLst/>
          </a:prstGeom>
          <a:solidFill>
            <a:srgbClr val="00684A"/>
          </a:solidFill>
          <a:ln/>
        </p:spPr>
      </p:sp>
      <p:pic>
        <p:nvPicPr>
          <p:cNvPr id="14" name="Image 1" descr="/home/claude/mongo_ppt/icons/search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764792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03720" y="167335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findOne()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309360" y="2148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only the first matching document.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309360" y="246888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001420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6510528" y="2615184"/>
            <a:ext cx="4718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db.students.findOne({</a:t>
            </a:r>
            <a:endParaRPr lang="en-US" sz="14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"Arun"</a:t>
            </a:r>
            <a:endParaRPr lang="en-US" sz="14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309360" y="3657600"/>
            <a:ext cx="5120640" cy="1005840"/>
          </a:xfrm>
          <a:prstGeom prst="roundRect">
            <a:avLst>
              <a:gd name="adj" fmla="val 9091"/>
            </a:avLst>
          </a:prstGeom>
          <a:solidFill>
            <a:srgbClr val="EAF3EF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537960" y="37947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find()</a:t>
            </a:r>
            <a:pPr indent="0" marL="0">
              <a:buNone/>
            </a:pPr>
            <a:r>
              <a:rPr lang="en-US" sz="1300" dirty="0">
                <a:solidFill>
                  <a:srgbClr val="0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→  multiple documents
</a:t>
            </a:r>
            <a:pPr indent="0" marL="0">
              <a:buNone/>
            </a:pPr>
            <a:r>
              <a:rPr lang="en-US" sz="1300" b="1" dirty="0">
                <a:solidFill>
                  <a:srgbClr val="006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findOne()</a:t>
            </a:r>
            <a:pPr indent="0" marL="0">
              <a:buNone/>
            </a:pPr>
            <a:r>
              <a:rPr lang="en-US" sz="1300" dirty="0">
                <a:solidFill>
                  <a:srgbClr val="0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one document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Fundamentals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OPERATORS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Operators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108960" cy="566928"/>
          </a:xfrm>
          <a:prstGeom prst="roundRect">
            <a:avLst>
              <a:gd name="adj" fmla="val 12903"/>
            </a:avLst>
          </a:prstGeom>
          <a:solidFill>
            <a:srgbClr val="EAF3E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64592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$eq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6459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840480" y="1645920"/>
            <a:ext cx="3108960" cy="566928"/>
          </a:xfrm>
          <a:prstGeom prst="roundRect">
            <a:avLst>
              <a:gd name="adj" fmla="val 12903"/>
            </a:avLst>
          </a:prstGeom>
          <a:solidFill>
            <a:srgbClr val="EAF3E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977640" y="164592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16459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equal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22576"/>
            <a:ext cx="3108960" cy="566928"/>
          </a:xfrm>
          <a:prstGeom prst="roundRect">
            <a:avLst>
              <a:gd name="adj" fmla="val 12903"/>
            </a:avLst>
          </a:prstGeom>
          <a:solidFill>
            <a:srgbClr val="EAF3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232257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$gt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232257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than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840480" y="2322576"/>
            <a:ext cx="3108960" cy="566928"/>
          </a:xfrm>
          <a:prstGeom prst="roundRect">
            <a:avLst>
              <a:gd name="adj" fmla="val 12903"/>
            </a:avLst>
          </a:prstGeom>
          <a:solidFill>
            <a:srgbClr val="EAF3E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977640" y="232257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$gte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232257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or equal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999232"/>
            <a:ext cx="3108960" cy="566928"/>
          </a:xfrm>
          <a:prstGeom prst="roundRect">
            <a:avLst>
              <a:gd name="adj" fmla="val 12903"/>
            </a:avLst>
          </a:prstGeom>
          <a:solidFill>
            <a:srgbClr val="EAF3E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299923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$lt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299923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840480" y="2999232"/>
            <a:ext cx="3108960" cy="566928"/>
          </a:xfrm>
          <a:prstGeom prst="roundRect">
            <a:avLst>
              <a:gd name="adj" fmla="val 12903"/>
            </a:avLst>
          </a:prstGeom>
          <a:solidFill>
            <a:srgbClr val="EAF3E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977640" y="299923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$lte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983480" y="299923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or equal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675888"/>
            <a:ext cx="3108960" cy="566928"/>
          </a:xfrm>
          <a:prstGeom prst="roundRect">
            <a:avLst>
              <a:gd name="adj" fmla="val 12903"/>
            </a:avLst>
          </a:prstGeom>
          <a:solidFill>
            <a:srgbClr val="EAF3E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367588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691640" y="367588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values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840480" y="3675888"/>
            <a:ext cx="3108960" cy="566928"/>
          </a:xfrm>
          <a:prstGeom prst="roundRect">
            <a:avLst>
              <a:gd name="adj" fmla="val 12903"/>
            </a:avLst>
          </a:prstGeom>
          <a:solidFill>
            <a:srgbClr val="EAF3E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977640" y="367588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$nin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983480" y="367588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match values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589520" y="16459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589520" y="1920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students older than 20: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589520" y="22860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001420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7790688" y="2432304"/>
            <a:ext cx="36210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db.students.find({</a:t>
            </a:r>
            <a:endParaRPr lang="en-US" sz="135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age: { $gt: 20 }</a:t>
            </a:r>
            <a:endParaRPr lang="en-US" sz="135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Fundamentals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OPERATORS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Operators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0068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$and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148840" y="16459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0068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148840" y="1645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$or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749040" y="16459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0068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749040" y="1645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$not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349240" y="16459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0068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349240" y="1645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$nor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23774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$and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001420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49808" y="2889504"/>
            <a:ext cx="471830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db.students.find({</a:t>
            </a:r>
            <a:endParaRPr lang="en-US" sz="135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$and: [</a:t>
            </a:r>
            <a:endParaRPr lang="en-US" sz="135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age: { $gt: 20 } },</a:t>
            </a:r>
            <a:endParaRPr lang="en-US" sz="135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course: "MERN" }</a:t>
            </a:r>
            <a:endParaRPr lang="en-US" sz="135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35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09360" y="23774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$or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274320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001420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510528" y="2889504"/>
            <a:ext cx="471830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db.students.find({</a:t>
            </a:r>
            <a:endParaRPr lang="en-US" sz="135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$or: [</a:t>
            </a:r>
            <a:endParaRPr lang="en-US" sz="135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age: 20 },</a:t>
            </a:r>
            <a:endParaRPr lang="en-US" sz="135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age: 25 }</a:t>
            </a:r>
            <a:endParaRPr lang="en-US" sz="135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35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Fundamentals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OPERATORS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Element Operators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0080" cy="640080"/>
          </a:xfrm>
          <a:prstGeom prst="ellipse">
            <a:avLst/>
          </a:prstGeom>
          <a:solidFill>
            <a:srgbClr val="00684A"/>
          </a:solidFill>
          <a:ln/>
        </p:spPr>
      </p:sp>
      <p:pic>
        <p:nvPicPr>
          <p:cNvPr id="5" name="Image 0" descr="/home/claude/mongo_ppt/icons/questio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18580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operators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21945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$exists — checks whether a field is present.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$type — checks a field’s data type.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30936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documents that contain an email field: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210312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001420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510528" y="2249424"/>
            <a:ext cx="471830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db.students.find({</a:t>
            </a:r>
            <a:endParaRPr lang="en-US" sz="145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5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email: { $exists: true }</a:t>
            </a:r>
            <a:endParaRPr lang="en-US" sz="145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Fundamentals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updateOne(), updateMany() &amp; replaceOne()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updateOne()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one matching document.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3657600" cy="1554480"/>
          </a:xfrm>
          <a:prstGeom prst="roundRect">
            <a:avLst>
              <a:gd name="adj" fmla="val 4706"/>
            </a:avLst>
          </a:prstGeom>
          <a:solidFill>
            <a:srgbClr val="001420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49808" y="2569464"/>
            <a:ext cx="325526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db.students.updateOne(</a:t>
            </a:r>
            <a:endParaRPr lang="en-US" sz="12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name: "Arun" },</a:t>
            </a:r>
            <a:endParaRPr lang="en-US" sz="12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$set: { age: 23 } }</a:t>
            </a:r>
            <a:endParaRPr lang="en-US" sz="12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4340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updateMany()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all matching documents.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2423160"/>
            <a:ext cx="3657600" cy="1554480"/>
          </a:xfrm>
          <a:prstGeom prst="roundRect">
            <a:avLst>
              <a:gd name="adj" fmla="val 4706"/>
            </a:avLst>
          </a:prstGeom>
          <a:solidFill>
            <a:srgbClr val="001420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44568" y="2569464"/>
            <a:ext cx="325526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db.students.updateMany(</a:t>
            </a:r>
            <a:endParaRPr lang="en-US" sz="12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course: "MERN" },</a:t>
            </a:r>
            <a:endParaRPr lang="en-US" sz="12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$set: { active: true } }</a:t>
            </a:r>
            <a:endParaRPr lang="en-US" sz="12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3816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replaceOne()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the entire document.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2423160"/>
            <a:ext cx="3657600" cy="1554480"/>
          </a:xfrm>
          <a:prstGeom prst="roundRect">
            <a:avLst>
              <a:gd name="adj" fmla="val 4706"/>
            </a:avLst>
          </a:prstGeom>
          <a:solidFill>
            <a:srgbClr val="001420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339328" y="2569464"/>
            <a:ext cx="325526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db.students.replaceOne(</a:t>
            </a:r>
            <a:endParaRPr lang="en-US" sz="12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name: "Arun" },</a:t>
            </a:r>
            <a:endParaRPr lang="en-US" sz="12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name: "Arun", age: 23,</a:t>
            </a:r>
            <a:endParaRPr lang="en-US" sz="12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course: "Java" }</a:t>
            </a:r>
            <a:endParaRPr lang="en-US" sz="12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2519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EAF3E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2519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updateOne()</a:t>
            </a:r>
            <a:pPr indent="0" marL="0">
              <a:buNone/>
            </a:pPr>
            <a:r>
              <a:rPr lang="en-US" sz="1350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modifies only the selected fields.      </a:t>
            </a:r>
            <a:pPr indent="0" marL="0">
              <a:buNone/>
            </a:pPr>
            <a:r>
              <a:rPr lang="en-US" sz="135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replaceOne()</a:t>
            </a:r>
            <a:pPr indent="0" marL="0">
              <a:buNone/>
            </a:pPr>
            <a:r>
              <a:rPr lang="en-US" sz="1350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replaces the entire document.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Fundamentals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OPERATORS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$set, $unset &amp; $inc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$set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or modifies a field.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657600" cy="1463040"/>
          </a:xfrm>
          <a:prstGeom prst="roundRect">
            <a:avLst>
              <a:gd name="adj" fmla="val 5000"/>
            </a:avLst>
          </a:prstGeom>
          <a:solidFill>
            <a:srgbClr val="001420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49808" y="2523744"/>
            <a:ext cx="325526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db.students.updateOne(</a:t>
            </a:r>
            <a:endParaRPr lang="en-US" sz="12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name: "Arun" },</a:t>
            </a:r>
            <a:endParaRPr lang="en-US" sz="12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$set: { age: 24 } }</a:t>
            </a:r>
            <a:endParaRPr lang="en-US" sz="12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4340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$unset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1920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 field entirely.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2377440"/>
            <a:ext cx="3657600" cy="1463040"/>
          </a:xfrm>
          <a:prstGeom prst="roundRect">
            <a:avLst>
              <a:gd name="adj" fmla="val 5000"/>
            </a:avLst>
          </a:prstGeom>
          <a:solidFill>
            <a:srgbClr val="001420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44568" y="2523744"/>
            <a:ext cx="325526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db.students.updateOne(</a:t>
            </a:r>
            <a:endParaRPr lang="en-US" sz="12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name: "Arun" },</a:t>
            </a:r>
            <a:endParaRPr lang="en-US" sz="12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$unset: { age: "" } }</a:t>
            </a:r>
            <a:endParaRPr lang="en-US" sz="12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3816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$inc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1920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or decreases a number.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2377440"/>
            <a:ext cx="3657600" cy="1463040"/>
          </a:xfrm>
          <a:prstGeom prst="roundRect">
            <a:avLst>
              <a:gd name="adj" fmla="val 5000"/>
            </a:avLst>
          </a:prstGeom>
          <a:solidFill>
            <a:srgbClr val="001420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339328" y="2523744"/>
            <a:ext cx="325526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db.students.updateOne(</a:t>
            </a:r>
            <a:endParaRPr lang="en-US" sz="12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name: "Arun" },</a:t>
            </a:r>
            <a:endParaRPr lang="en-US" sz="12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$inc: { age: 1 } }</a:t>
            </a:r>
            <a:endParaRPr lang="en-US" sz="12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001E2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251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$inc example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5262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22   </a:t>
            </a:r>
            <a:pPr indent="0" marL="0">
              <a:buNone/>
            </a:pPr>
            <a:r>
              <a:rPr lang="en-US" sz="1500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indent="0" marL="0">
              <a:buNone/>
            </a:pPr>
            <a:r>
              <a:rPr lang="en-US" sz="15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$inc: { age: 1 }   </a:t>
            </a:r>
            <a:pPr indent="0" marL="0">
              <a:buNone/>
            </a:pPr>
            <a:r>
              <a:rPr lang="en-US" sz="1500" dirty="0">
                <a:solidFill>
                  <a:srgbClr val="00E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Age = 23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Fundamentals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OPERATORS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$push, $pull &amp; $addToSet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$push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an element to an array.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657600" cy="1691640"/>
          </a:xfrm>
          <a:prstGeom prst="roundRect">
            <a:avLst>
              <a:gd name="adj" fmla="val 4324"/>
            </a:avLst>
          </a:prstGeom>
          <a:solidFill>
            <a:srgbClr val="001420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49808" y="2523744"/>
            <a:ext cx="3255264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db.students.updateOne(</a:t>
            </a:r>
            <a:endParaRPr lang="en-US" sz="12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name: "Arun" },</a:t>
            </a:r>
            <a:endParaRPr lang="en-US" sz="12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$push: {</a:t>
            </a:r>
            <a:endParaRPr lang="en-US" sz="12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skills: "Node.js" } }</a:t>
            </a:r>
            <a:endParaRPr lang="en-US" sz="12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4340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$pull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1920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an element from an array.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2377440"/>
            <a:ext cx="3657600" cy="1691640"/>
          </a:xfrm>
          <a:prstGeom prst="roundRect">
            <a:avLst>
              <a:gd name="adj" fmla="val 4324"/>
            </a:avLst>
          </a:prstGeom>
          <a:solidFill>
            <a:srgbClr val="001420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44568" y="2523744"/>
            <a:ext cx="3255264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db.students.updateOne(</a:t>
            </a:r>
            <a:endParaRPr lang="en-US" sz="12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name: "Arun" },</a:t>
            </a:r>
            <a:endParaRPr lang="en-US" sz="12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$pull: {</a:t>
            </a:r>
            <a:endParaRPr lang="en-US" sz="12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skills: "Java" } }</a:t>
            </a:r>
            <a:endParaRPr lang="en-US" sz="12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3816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$addToSet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1920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an element only if it doesn’t exist.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2377440"/>
            <a:ext cx="3657600" cy="1691640"/>
          </a:xfrm>
          <a:prstGeom prst="roundRect">
            <a:avLst>
              <a:gd name="adj" fmla="val 4324"/>
            </a:avLst>
          </a:prstGeom>
          <a:solidFill>
            <a:srgbClr val="001420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339328" y="2523744"/>
            <a:ext cx="3255264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db.students.updateOne(</a:t>
            </a:r>
            <a:endParaRPr lang="en-US" sz="12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name: "Arun" },</a:t>
            </a:r>
            <a:endParaRPr lang="en-US" sz="12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$addToSet: {</a:t>
            </a:r>
            <a:endParaRPr lang="en-US" sz="12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skills: "React" } }</a:t>
            </a:r>
            <a:endParaRPr lang="en-US" sz="120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EAF3E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3434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$push</a:t>
            </a:r>
            <a:pPr indent="0" marL="0">
              <a:buNone/>
            </a:pPr>
            <a:r>
              <a:rPr lang="en-US" sz="1350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allows duplicate values.        </a:t>
            </a:r>
            <a:pPr indent="0" marL="0">
              <a:buNone/>
            </a:pPr>
            <a:r>
              <a:rPr lang="en-US" sz="1350" b="1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$addToSet</a:t>
            </a:r>
            <a:pPr indent="0" marL="0">
              <a:buNone/>
            </a:pPr>
            <a:r>
              <a:rPr lang="en-US" sz="1350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prevents duplicate values.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Fundamentals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deleteOne() &amp; deleteMany()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00684A"/>
          </a:solidFill>
          <a:ln/>
        </p:spPr>
      </p:sp>
      <p:pic>
        <p:nvPicPr>
          <p:cNvPr id="5" name="Image 0" descr="/home/claude/mongo_ppt/icons/trash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6479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67335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deleteOne()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one matching document.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001420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49808" y="2615184"/>
            <a:ext cx="4718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db.students.deleteOne({</a:t>
            </a:r>
            <a:endParaRPr lang="en-US" sz="145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5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"Arun"</a:t>
            </a:r>
            <a:endParaRPr lang="en-US" sz="145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309360" y="1645920"/>
            <a:ext cx="457200" cy="457200"/>
          </a:xfrm>
          <a:prstGeom prst="ellipse">
            <a:avLst/>
          </a:prstGeom>
          <a:solidFill>
            <a:srgbClr val="00684A"/>
          </a:solidFill>
          <a:ln/>
        </p:spPr>
      </p:sp>
      <p:pic>
        <p:nvPicPr>
          <p:cNvPr id="11" name="Image 1" descr="/home/claude/mongo_ppt/icons/trash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76479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03720" y="167335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deleteMany()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309360" y="2148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all matching documents.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309360" y="246888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001420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6510528" y="2615184"/>
            <a:ext cx="4718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db.students.deleteMany({</a:t>
            </a:r>
            <a:endParaRPr lang="en-US" sz="145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50" dirty="0">
                <a:solidFill>
                  <a:srgbClr val="9FE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age: { $lt: 18 }</a:t>
            </a:r>
            <a:endParaRPr lang="en-US" sz="1450" dirty="0"/>
          </a:p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548640" y="3840480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EAF3EF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22960" y="38404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Deletions are permanent — always test the filter with find() first to confirm exactly which documents will be removed.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Fundamentals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00684A"/>
          </a:solidFill>
          <a:ln/>
        </p:spPr>
      </p:sp>
      <p:pic>
        <p:nvPicPr>
          <p:cNvPr id="6" name="Image 0" descr="/home/claude/mongo_ppt/icons/database_00ED6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9595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801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stores flexible, JSON-like documents organized as Database → Collection → Document → Field.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0080" y="2670048"/>
            <a:ext cx="502920" cy="502920"/>
          </a:xfrm>
          <a:prstGeom prst="ellipse">
            <a:avLst/>
          </a:prstGeom>
          <a:solidFill>
            <a:srgbClr val="00684A"/>
          </a:solidFill>
          <a:ln/>
        </p:spPr>
      </p:sp>
      <p:pic>
        <p:nvPicPr>
          <p:cNvPr id="9" name="Image 1" descr="/home/claude/mongo_ppt/icons/exchange_00ED6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" y="2800807"/>
            <a:ext cx="241402" cy="24140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642616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trades rigid SQL tables for a schema-flexible, developer-friendly document model in BSON.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40080" y="3511296"/>
            <a:ext cx="502920" cy="502920"/>
          </a:xfrm>
          <a:prstGeom prst="ellipse">
            <a:avLst/>
          </a:prstGeom>
          <a:solidFill>
            <a:srgbClr val="00684A"/>
          </a:solidFill>
          <a:ln/>
        </p:spPr>
      </p:sp>
      <p:pic>
        <p:nvPicPr>
          <p:cNvPr id="12" name="Image 2" descr="/home/claude/mongo_ppt/icons/sync_00ED6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3642055"/>
            <a:ext cx="241402" cy="24140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3483864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— Create, Read, Update, Delete — covers every operation you’ll perform on data.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640080" y="4352544"/>
            <a:ext cx="502920" cy="502920"/>
          </a:xfrm>
          <a:prstGeom prst="ellipse">
            <a:avLst/>
          </a:prstGeom>
          <a:solidFill>
            <a:srgbClr val="00684A"/>
          </a:solidFill>
          <a:ln/>
        </p:spPr>
      </p:sp>
      <p:pic>
        <p:nvPicPr>
          <p:cNvPr id="15" name="Image 3" descr="/home/claude/mongo_ppt/icons/edit_00ED6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" y="4483303"/>
            <a:ext cx="241402" cy="24140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325880" y="432511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like $set, $inc, $push, and comparison/logical operators give queries and updates precision.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594360" y="5532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ED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2026-09-10T08:35:03Z</dcterms:created>
  <dcterms:modified xsi:type="dcterms:W3CDTF">2026-09-10T08:35:03Z</dcterms:modified>
</cp:coreProperties>
</file>