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068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00684A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vs referencing, relationship types, and schema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best practices in MongoDB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B2E28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526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CBE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address: {…} 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0B2E28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4526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CBE7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courseId: 501 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1965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50876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Modeling?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8892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37997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908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Documents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66013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34924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vs Referencing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1965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50876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Relationship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09981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78892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406908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37997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06908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Relationship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26480" y="534924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5660136"/>
            <a:ext cx="457200" cy="457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534924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MODELING?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Data Around the App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5120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means deciding how data should be structured before you write a single query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determines which data should be embedded together and which should be referenced separately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defines how relationships between entities are represented in the schema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 according to how the application will access it — not just how it looks on paper.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41732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581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document shape be organized?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0" y="1581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011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related data should live inside the document?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20040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001E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3364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794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related data should live in its own collection?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0" y="320040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001E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33649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794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connections between entities be modeled?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5257800"/>
            <a:ext cx="5760720" cy="777240"/>
          </a:xfrm>
          <a:prstGeom prst="roundRect">
            <a:avLst>
              <a:gd name="adj" fmla="val 10588"/>
            </a:avLst>
          </a:prstGeom>
          <a:solidFill>
            <a:srgbClr val="E3F5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5257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3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data according to how the application will access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DOCUMENTS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Related Data Together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stored inside the same document, as a nested object or array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related structure travels with the parent document in a single read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data that is always read and written together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trades some duplication risk for simplicity and speed — a fair trade when the nested data is small and tightly coupled.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6675120" cy="2377440"/>
          </a:xfrm>
          <a:prstGeom prst="roundRect">
            <a:avLst>
              <a:gd name="adj" fmla="val 3462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DOCUMENT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6217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"address"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"Chennai"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"pincode"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600001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9776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4279392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0B2E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83480" y="4352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6268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model and read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4279392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0B2E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4352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46268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— one query, one document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55480" y="4279392"/>
            <a:ext cx="2148840" cy="1097280"/>
          </a:xfrm>
          <a:prstGeom prst="roundRect">
            <a:avLst>
              <a:gd name="adj" fmla="val 7500"/>
            </a:avLst>
          </a:prstGeom>
          <a:solidFill>
            <a:srgbClr val="0B2E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55480" y="43525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6268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query or join required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5559552"/>
            <a:ext cx="6675120" cy="685800"/>
          </a:xfrm>
          <a:prstGeom prst="roundRect">
            <a:avLst>
              <a:gd name="adj" fmla="val 12000"/>
            </a:avLst>
          </a:prstGeom>
          <a:solidFill>
            <a:srgbClr val="E3F5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2080" y="555955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 </a:t>
            </a:r>
            <a:pPr indent="0" marL="0">
              <a:buNone/>
            </a:pPr>
            <a:r>
              <a:rPr lang="en-US" sz="11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embedded arrays can grow past MongoDB's 16 MB document limit.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DOCUMENTS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Separate Collections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is stored in its own collection and linked by an ID, similar to a foreign key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documents smaller and avoids duplicating data that's shared or reused elsewhere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extra query (or a $lookup join) to pull the related data together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when data is large, independent, or shared across many parent documents.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001E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0" y="1545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74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101,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"Arun",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"courseId"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501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1417320"/>
            <a:ext cx="3200400" cy="1874520"/>
          </a:xfrm>
          <a:prstGeom prst="roundRect">
            <a:avLst>
              <a:gd name="adj" fmla="val 4390"/>
            </a:avLst>
          </a:prstGeom>
          <a:solidFill>
            <a:srgbClr val="001E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0" y="1545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1874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501,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"MERN"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2194560"/>
            <a:ext cx="365760" cy="274320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courseId → 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83480" y="3566160"/>
            <a:ext cx="6675120" cy="2651760"/>
          </a:xfrm>
          <a:prstGeom prst="roundRect">
            <a:avLst>
              <a:gd name="adj" fmla="val 3103"/>
            </a:avLst>
          </a:prstGeom>
          <a:solidFill>
            <a:srgbClr val="0B2E2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370332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REFERENCE HERE?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course is shared by many students — embedding it would duplicate the same course data in every student document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Updating a course name only requires one write, in one place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and courses can also grow and change independently of each other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VS REFERENCING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Approach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006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001E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72200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6654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inside document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066544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06654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documents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8163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retrieval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816352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8163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661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small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5661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5661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large / independent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1596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relationships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315968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31596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relationships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157216"/>
            <a:ext cx="11018520" cy="960120"/>
          </a:xfrm>
          <a:prstGeom prst="roundRect">
            <a:avLst>
              <a:gd name="adj" fmla="val 8571"/>
            </a:avLst>
          </a:prstGeom>
          <a:solidFill>
            <a:srgbClr val="0068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230368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spc="100" kern="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belongs together → Embed      ·      Data is independent / shared → Reference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RELATIONSHIP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Document, One Related Document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is related to exactly one other document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for optional, sensitive, or rarely-accessed details kept apart from the main record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embedded (tight coupling, one read) or referenced (loose coupling, separate access)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passport, a profile-settings record, or billing details are classic one-to-one examples.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15400" y="141732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006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1883664"/>
            <a:ext cx="1005840" cy="256032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2880360"/>
            <a:ext cx="6675120" cy="2331720"/>
          </a:xfrm>
          <a:prstGeom prst="roundRect">
            <a:avLst>
              <a:gd name="adj" fmla="val 3529"/>
            </a:avLst>
          </a:prstGeom>
          <a:solidFill>
            <a:srgbClr val="001E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30083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EXAMPLE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375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"passport"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"P12345"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5349240"/>
            <a:ext cx="6675120" cy="1005840"/>
          </a:xfrm>
          <a:prstGeom prst="roundRect">
            <a:avLst>
              <a:gd name="adj" fmla="val 8182"/>
            </a:avLst>
          </a:prstGeom>
          <a:solidFill>
            <a:srgbClr val="E3F5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12080" y="5440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ALTERNATIVE 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passport in its own collection with an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— useful when passport data is sensitive and access needs to be restricted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Document, Many Related Documents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relates to many other documents or values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bounded lists can be embedded directly as an array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fast-growing lists are better referenced with a foreign key back to the parent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with a handful of team leads can embed; a department with 50,000 employees should reference.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1732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006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1746504"/>
            <a:ext cx="457200" cy="256032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37160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1371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1874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237744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23774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880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employees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83480" y="3246120"/>
            <a:ext cx="6675120" cy="1691640"/>
          </a:xfrm>
          <a:prstGeom prst="roundRect">
            <a:avLst>
              <a:gd name="adj" fmla="val 4865"/>
            </a:avLst>
          </a:prstGeom>
          <a:solidFill>
            <a:srgbClr val="001E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12080" y="337413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EXAMPLE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7033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"department"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"employees"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"Arun"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507492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E3F5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2080" y="519379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ALTERNATIVE 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employee document a departmentId field instead — safer for departments with large or unbounded employee counts.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Documents on Both Sides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64792"/>
            <a:ext cx="41605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documents on one side can relate to many documents on the other side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can take many courses, and one course can have many students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modeled by referencing — an array of IDs on one or both sides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02736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E3F5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9417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doesn't scale for many-to-many — the same data would need to be duplicated on both sides and kept in sync.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14630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006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463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1664208"/>
            <a:ext cx="1188720" cy="219456"/>
          </a:xfrm>
          <a:prstGeom prst="rightArrow">
            <a:avLst/>
          </a:prstGeom>
          <a:solidFill>
            <a:srgbClr val="00ED64"/>
          </a:solidFill>
          <a:ln/>
        </p:spPr>
      </p:sp>
      <p:sp>
        <p:nvSpPr>
          <p:cNvPr id="15" name="Shape 13"/>
          <p:cNvSpPr/>
          <p:nvPr/>
        </p:nvSpPr>
        <p:spPr>
          <a:xfrm>
            <a:off x="7726680" y="1956816"/>
            <a:ext cx="1188720" cy="219456"/>
          </a:xfrm>
          <a:prstGeom prst="leftArrow">
            <a:avLst/>
          </a:prstGeom>
          <a:solidFill>
            <a:srgbClr val="00ED6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265176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001E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2779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10896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101,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"courseIds"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501, 502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265176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001E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2779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10896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"_id"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501,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"studentIds"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101, 103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C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5120640"/>
            <a:ext cx="6675120" cy="1143000"/>
          </a:xfrm>
          <a:prstGeom prst="roundRect">
            <a:avLst>
              <a:gd name="adj" fmla="val 7200"/>
            </a:avLst>
          </a:prstGeom>
          <a:solidFill>
            <a:srgbClr val="0B2E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12080" y="5230368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REFERENCE ARRAYS HERE?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side just stores the IDs it relates to — no duplicated course or student data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junction (join) collection is an alternative when the relationship itself carries data (e.g. enrollment date, grade)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BEST PRACTICES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to Design By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91640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1732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based on application requirements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752344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78024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duplication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38728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frequently accessed data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9943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873752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599432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large / independent data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1691640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36792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1417320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documents manageable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247802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2752344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3679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478024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meaningful field names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72200" y="3538728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3813048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3679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3538728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read/write patterns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172200" y="459943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4873752"/>
            <a:ext cx="384048" cy="384048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36792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599432"/>
            <a:ext cx="4526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scalability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8483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belongs together, read together, bounded in size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4630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53128" y="160934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208483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independent, shared, or unbounded in size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4630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56448" y="160934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208483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relates to exactly one other document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48386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: 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95935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relates to many related documents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33375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53128" y="348386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: 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395935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documents relate to many — use ID arrays or a junction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3375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2E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56448" y="3483864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3959352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B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schema for how the app will read the data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—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7160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blogging platform, list the four core decisions you must make when modeling its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6946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450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5915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document for a Book that embeds its author's details (name and bio) inside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57016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3438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467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two collections, Orders and Customers, where an order references a customer by ID.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4972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6497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425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VS REF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34256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product's reviews can grow to thousands per product. Should reviews be embedded or referenced? Justify your choice.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742432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742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5623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3212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one-to-one relationship between a User and their Profile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 —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37160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one-to-many relationship between a Blog Post and its Comments.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6946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450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5915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many-to-many relationship between Students and Courses using referencing.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57016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3438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46704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schema design best practices you'd apply to a high-traffic e-commerce catalog.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49724"/>
            <a:ext cx="420624" cy="420624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6497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4256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34256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schema for a food delivery app with Restaurants, MenuItems, and Orders — decide what to embed and what to reference, and explain why.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2026-09-11T10:23:23Z</dcterms:created>
  <dcterms:modified xsi:type="dcterms:W3CDTF">2026-09-11T10:23:23Z</dcterms:modified>
</cp:coreProperties>
</file>