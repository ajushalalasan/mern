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re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933602"/>
            <a:ext cx="510235" cy="5102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JS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Introduction to Building Modern User Interfaces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 ·  Virtual DOM  ·  JSX  ·  Tooling &amp; Ecosystem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React?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92240" cy="4892040"/>
          </a:xfrm>
          <a:prstGeom prst="rect">
            <a:avLst>
              <a:gd name="adj" fmla="val 1495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a </a:t>
            </a:r>
            <a:pPr indent="0" marL="0">
              <a:buNone/>
            </a:pPr>
            <a:r>
              <a:rPr lang="en-US" sz="1600" b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efficient, and flexible</a:t>
            </a:r>
            <a:pPr indent="0" marL="0">
              <a:buNone/>
            </a:pPr>
            <a:r>
              <a:rPr lang="en-US" sz="16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JavaScript library for building reusable UI components.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open-source and component-based, and it is responsible only for the view (UI) layer of an application — the "V" in an MVC architecture.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✦"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small widgets to large, complex applications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✦"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solid core feature set to kick-start any web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✦"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community offering ready-made components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✦"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adds state management, routing &amp; more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1234440"/>
            <a:ext cx="4251960" cy="4892040"/>
          </a:xfrm>
          <a:prstGeom prst="rect">
            <a:avLst>
              <a:gd name="adj" fmla="val 1720"/>
            </a:avLst>
          </a:prstGeom>
          <a:solidFill>
            <a:srgbClr val="0A1929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1600200"/>
            <a:ext cx="685800" cy="6858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2" name="Image 0" descr="/home/claude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985" y="1754505"/>
            <a:ext cx="377190" cy="3771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2668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26680" y="2788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encapsulated pieces that manage their own state, then compose them into complex UIs.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3703320"/>
            <a:ext cx="685800" cy="6858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6" name="Image 1" descr="/home/clau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985" y="3857625"/>
            <a:ext cx="377190" cy="3771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2668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726680" y="4892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the UI should look like; React handles the DOM updates.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internal Facebook tool to the world's most popular UI library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566160"/>
          </a:xfrm>
          <a:prstGeom prst="rect">
            <a:avLst>
              <a:gd name="adj" fmla="val 2105"/>
            </a:avLst>
          </a:prstGeom>
          <a:solidFill>
            <a:srgbClr val="F4F9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59436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internally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Walke, a Facebook engineer, builds an early version and deploys it in Facebook's News Feed.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3566160"/>
          </a:xfrm>
          <a:prstGeom prst="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920240"/>
            <a:ext cx="2606040" cy="59436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20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2461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released publicly in May 2013, maintained by Facebook (Meta).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06040" cy="3566160"/>
          </a:xfrm>
          <a:prstGeom prst="rect">
            <a:avLst>
              <a:gd name="adj" fmla="val 2105"/>
            </a:avLst>
          </a:prstGeom>
          <a:solidFill>
            <a:srgbClr val="F4F9FB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920240"/>
            <a:ext cx="2606040" cy="59436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920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at 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2461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products including Facebook, Instagram and WhatsApp.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920240"/>
            <a:ext cx="2606040" cy="3566160"/>
          </a:xfrm>
          <a:prstGeom prst="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1920240"/>
            <a:ext cx="2606040" cy="59436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920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32461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major version (v18.0.0, released April 2022) adds concurrent rendering.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1783080"/>
            <a:ext cx="10561320" cy="0"/>
          </a:xfrm>
          <a:prstGeom prst="line">
            <a:avLst/>
          </a:prstGeom>
          <a:noFill/>
          <a:ln w="19050">
            <a:solidFill>
              <a:srgbClr val="1B8FB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React Work?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keeps a lightweight copy of the UI in memory and updates the browser only where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246120" cy="3200400"/>
          </a:xfrm>
          <a:prstGeom prst="rect">
            <a:avLst>
              <a:gd name="adj" fmla="val 2286"/>
            </a:avLst>
          </a:prstGeom>
          <a:solidFill>
            <a:srgbClr val="F4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Changes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component's data changes (e.g. user clicks a button).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3383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434840" y="2011680"/>
            <a:ext cx="3246120" cy="3200400"/>
          </a:xfrm>
          <a:prstGeom prst="rect">
            <a:avLst>
              <a:gd name="adj" fmla="val 2286"/>
            </a:avLst>
          </a:prstGeom>
          <a:solidFill>
            <a:srgbClr val="F4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9214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s/arrow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4963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46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Virtual DOM Diff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builds a new Virtual DOM tree and compares it to the previous one in memory.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26680" y="3383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183880" y="2011680"/>
            <a:ext cx="3246120" cy="3200400"/>
          </a:xfrm>
          <a:prstGeom prst="rect">
            <a:avLst>
              <a:gd name="adj" fmla="val 2286"/>
            </a:avLst>
          </a:prstGeom>
          <a:solidFill>
            <a:srgbClr val="F4F9FB"/>
          </a:solidFill>
          <a:ln/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41180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icons/gau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49631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246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 DOM Update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calculates the minimal set of changes and applies only those to the browser DOM.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5532120"/>
            <a:ext cx="10817352" cy="777240"/>
          </a:xfrm>
          <a:prstGeom prst="rect">
            <a:avLst>
              <a:gd name="adj" fmla="val 7059"/>
            </a:avLst>
          </a:prstGeom>
          <a:solidFill>
            <a:srgbClr val="0A1929"/>
          </a:solidFill>
          <a:ln/>
        </p:spPr>
      </p:sp>
      <p:sp>
        <p:nvSpPr>
          <p:cNvPr id="22" name="Text 17"/>
          <p:cNvSpPr/>
          <p:nvPr/>
        </p:nvSpPr>
        <p:spPr>
          <a:xfrm>
            <a:off x="100584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instead of manipulating the browser's DOM directly (slow), React does the heavy lifting in memory and touches the real DOM only for what actually changed.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Features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pillars that define the library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6852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representation that speeds up UI updates.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204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6852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2628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HTML-like syntax directly inside JavaScript.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204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icons/puzz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6852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7532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self-contained building blocks of UI.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5204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icons/arrow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0626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Data Binding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7724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data flow from parent to child.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297680" y="3703320"/>
            <a:ext cx="35204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24" name="Shape 18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icons/check_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406267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2628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code that's easy to read and reason about.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46720" y="3703320"/>
            <a:ext cx="35204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275320" y="3931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/home/claude/icons/gaug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406267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275320" y="4663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diffing keeps large apps fast.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FEATURES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Virtual DOM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309360" cy="4892040"/>
          </a:xfrm>
          <a:prstGeom prst="rect">
            <a:avLst>
              <a:gd name="adj" fmla="val 1495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keeps a lightweight, in-memory representation of the real DOM called the Virtual DOM.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the real DOM directly is comparatively slow, since the browser has to repaint the screen.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component's state changes, React updates only that object in the Virtual DOM rather than the whole tree.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selective update is what makes React noticeably faster than technologies that re-render every object on any change.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78040" y="1234440"/>
            <a:ext cx="4434840" cy="2331720"/>
          </a:xfrm>
          <a:prstGeom prst="rect">
            <a:avLst>
              <a:gd name="adj" fmla="val 3137"/>
            </a:avLst>
          </a:prstGeom>
          <a:solidFill>
            <a:srgbClr val="0A1929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4173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1783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tree. Cheap to create and diff.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228600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1B8FB0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265176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1B8FB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4040" y="228600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1B8F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78440" y="265176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1B8F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3794760"/>
            <a:ext cx="4434840" cy="2331720"/>
          </a:xfrm>
          <a:prstGeom prst="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DC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39776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4343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browser tree. Updated only where diffs exist.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484632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9E4E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9640" y="521208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9E4EA"/>
          </a:solidFill>
          <a:ln/>
        </p:spPr>
      </p:sp>
      <p:sp>
        <p:nvSpPr>
          <p:cNvPr id="20" name="Shape 18"/>
          <p:cNvSpPr/>
          <p:nvPr/>
        </p:nvSpPr>
        <p:spPr>
          <a:xfrm>
            <a:off x="9464040" y="484632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1B8F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78440" y="5212080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9E4EA"/>
          </a:solidFill>
          <a:ln/>
        </p:spPr>
      </p:sp>
      <p:sp>
        <p:nvSpPr>
          <p:cNvPr id="22" name="Shape 20"/>
          <p:cNvSpPr/>
          <p:nvPr/>
        </p:nvSpPr>
        <p:spPr>
          <a:xfrm>
            <a:off x="9102852" y="3200400"/>
            <a:ext cx="585216" cy="585216"/>
          </a:xfrm>
          <a:prstGeom prst="ellipse">
            <a:avLst/>
          </a:prstGeom>
          <a:solidFill>
            <a:srgbClr val="F4F9FB"/>
          </a:solidFill>
          <a:ln/>
        </p:spPr>
      </p:sp>
      <p:pic>
        <p:nvPicPr>
          <p:cNvPr id="23" name="Image 0" descr="/home/claude/icons/cyan_arrow_sw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4526" y="3332074"/>
            <a:ext cx="321869" cy="32186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FEATURES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63040"/>
          </a:xfrm>
          <a:prstGeom prst="rect">
            <a:avLst>
              <a:gd name="adj" fmla="val 5000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 DOM is a programming concept where an ideal, in-memory representation of the UI is kept in sync with the real DOM by a library such as ReactDOM. This synchronization process is called reconciliation.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triggered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72968" y="3977640"/>
            <a:ext cx="109728" cy="0"/>
          </a:xfrm>
          <a:prstGeom prst="line">
            <a:avLst/>
          </a:prstGeom>
          <a:noFill/>
          <a:ln w="25400">
            <a:solidFill>
              <a:srgbClr val="1B8F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0984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83864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Virtual DOM built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25312" y="3977640"/>
            <a:ext cx="109728" cy="0"/>
          </a:xfrm>
          <a:prstGeom prst="line">
            <a:avLst/>
          </a:prstGeom>
          <a:noFill/>
          <a:ln w="25400">
            <a:solidFill>
              <a:srgbClr val="1B8F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36208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Diffed against previous 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77656" y="3977640"/>
            <a:ext cx="109728" cy="0"/>
          </a:xfrm>
          <a:prstGeom prst="line">
            <a:avLst/>
          </a:prstGeom>
          <a:noFill/>
          <a:ln w="25400">
            <a:solidFill>
              <a:srgbClr val="1B8F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672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A1929"/>
          </a:solidFill>
          <a:ln w="19050">
            <a:solidFill>
              <a:srgbClr val="0A19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8552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1D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88552" y="3886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patches applied to real DOM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browser repaints only the nodes that actually changed — not the entire page.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Ecosystem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· JSX · Babel · Webpack · SPA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— Node Package Manager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npm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7282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manager for managing software dependencies and packages used by a React project.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200400"/>
            <a:ext cx="5760720" cy="0"/>
          </a:xfrm>
          <a:prstGeom prst="line">
            <a:avLst/>
          </a:prstGeom>
          <a:noFill/>
          <a:ln w="12700">
            <a:solidFill>
              <a:srgbClr val="DC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npm's configuration file — a JSON file in the project root that holds project metadata and a detailed overview of the project (dependencies, scripts, version, etc.).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1280160"/>
            <a:ext cx="4389120" cy="4846320"/>
          </a:xfrm>
          <a:prstGeom prst="rect">
            <a:avLst>
              <a:gd name="adj" fmla="val 1667"/>
            </a:avLst>
          </a:prstGeom>
          <a:solidFill>
            <a:srgbClr val="0A1929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0" y="2029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packages from package.json into node_modules.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0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uninstall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98080" y="27523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package from package.json and node_modules.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update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9808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specified package (or all, if none given).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update -g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98080" y="41970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update to every globally installed package.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9808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98080" y="4919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package.json by asking a few questions.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98080" y="5367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/ build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0" y="5641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start script, or builds the package for release.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ECOSYSTEM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— JavaScript XML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a React extension that lets you write JavaScript code that looks like HTML — an HTML-like syntax that extends ECMAScript so markup can co-exist with JS/React code.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preprocessor (transpiler, e.g. Babel) transforms the HTML-like syntax into standard JavaScript objects the JS engine can parse. Just like XML/HTML, JSX tags have a tag name, attributes and children.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343400"/>
            <a:ext cx="4846320" cy="0"/>
          </a:xfrm>
          <a:prstGeom prst="line">
            <a:avLst/>
          </a:prstGeom>
          <a:noFill/>
          <a:ln w="12700">
            <a:solidFill>
              <a:srgbClr val="DC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Comments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/* ... */ style comments inside curly braces { }, just like any other JSX expression.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280160"/>
            <a:ext cx="5257800" cy="4846320"/>
          </a:xfrm>
          <a:prstGeom prst="rect">
            <a:avLst>
              <a:gd name="adj" fmla="val 1509"/>
            </a:avLst>
          </a:prstGeom>
          <a:solidFill>
            <a:srgbClr val="0A1929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JSX?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1965960"/>
            <a:ext cx="365760" cy="3657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2" name="Image 0" descr="/home/claude/icons/che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02996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78040" y="19385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plain JavaScript — it's optimized during translation to JS.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5120" y="2834640"/>
            <a:ext cx="365760" cy="3657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5" name="Image 1" descr="/home/claude/icons/che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89864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807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markup and logic together in components instead of separate files.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75120" y="3703320"/>
            <a:ext cx="365760" cy="3657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8" name="Image 2" descr="/home/claude/icons/check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7673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6758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Type-safe: most errors surface at compile time.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675120" y="4572000"/>
            <a:ext cx="365760" cy="3657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21" name="Image 3" descr="/home/claude/icons/check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6360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544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much easier to create and reason about templates.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ECOSYSTEM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Transpiler, Babel &amp; Webpack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754880"/>
          </a:xfrm>
          <a:prstGeom prst="rect">
            <a:avLst>
              <a:gd name="adj" fmla="val 2051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cyan_arrow_sw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967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Source-to-source compiler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converts source code into another source code of the same level — hence "source-to-source compiler." Both versions are equivalent, but one targets a specific browser version and the other doesn't.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66160" cy="4754880"/>
          </a:xfrm>
          <a:prstGeom prst="rect">
            <a:avLst>
              <a:gd name="adj" fmla="val 2051"/>
            </a:avLst>
          </a:prstGeom>
          <a:solidFill>
            <a:srgbClr val="F4F9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1796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compiler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0" y="33375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used transpiler that lets developers write future JavaScript and run it in today's browsers, converting modern JS syntax into browser-understood code.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66160" cy="4754880"/>
          </a:xfrm>
          <a:prstGeom prst="rect">
            <a:avLst>
              <a:gd name="adj" fmla="val 2051"/>
            </a:avLst>
          </a:prstGeom>
          <a:solidFill>
            <a:srgbClr val="F4F9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icons/box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7967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bundler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321040" y="33375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and minifies multiple project files into a single output file, which is then imported into HTML — producing a lighter, more efficient project.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ECOSYSTEM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 — Single Page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SPA interacts with the user by dynamically rewriting the current page rather than loading entirely new pages from the server.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aims to provide a seamless, responsive experience by updating content dynamically, often without a full page reload.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loads as needed, typically via AJAX or the Fetch API, updating specific parts of the page only.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645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6510">
            <a:solidFill>
              <a:srgbClr val="DC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645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0" y="1645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38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41080" y="1645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9E4EA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1645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46920" y="1645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38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0" y="1645920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D9E4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reload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2376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navigation reloads the entire page from the server.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33832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33832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8FB0"/>
                </a:solidFill>
              </a:rPr>
              <a:t>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41080" y="338328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1B8FB0"/>
          </a:solidFill>
          <a:ln/>
        </p:spPr>
      </p:sp>
      <p:sp>
        <p:nvSpPr>
          <p:cNvPr id="22" name="Text 20"/>
          <p:cNvSpPr/>
          <p:nvPr/>
        </p:nvSpPr>
        <p:spPr>
          <a:xfrm>
            <a:off x="864108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AJAX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6696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8FB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378440" y="3383280"/>
            <a:ext cx="123444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/>
        </p:spPr>
      </p:sp>
      <p:sp>
        <p:nvSpPr>
          <p:cNvPr id="25" name="Text 23"/>
          <p:cNvSpPr/>
          <p:nvPr/>
        </p:nvSpPr>
        <p:spPr>
          <a:xfrm>
            <a:off x="10378440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23760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data needed for the change is fetched; the page itself never fully reloads.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23760" y="4846320"/>
            <a:ext cx="4389120" cy="1280160"/>
          </a:xfrm>
          <a:prstGeom prst="rect">
            <a:avLst>
              <a:gd name="adj" fmla="val 4286"/>
            </a:avLst>
          </a:prstGeom>
          <a:solidFill>
            <a:srgbClr val="F4F9FB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48463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is the most common library used to build multi-view SPAs in React.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ECOSYSTEM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tooling &amp; project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ways to scaffold a new React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ect">
            <a:avLst>
              <a:gd name="adj" fmla="val 1633"/>
            </a:avLst>
          </a:prstGeom>
          <a:solidFill>
            <a:srgbClr val="0A192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React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Node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035808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112E4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nodejs.org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Install &amp; create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112E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create-react-app reactproject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project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553712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112E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553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11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npm install -g create-react-app, then create-react-app reactproject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554480"/>
            <a:ext cx="5532120" cy="4480560"/>
          </a:xfrm>
          <a:prstGeom prst="rect">
            <a:avLst>
              <a:gd name="adj" fmla="val 1633"/>
            </a:avLst>
          </a:prstGeom>
          <a:solidFill>
            <a:srgbClr val="F4F9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&amp; create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017520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framework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730752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730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React, language: JavaScript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4169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dependencies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443984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443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4882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Start dev server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5157216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5157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Editor Setup (VS Code)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297680"/>
          </a:xfrm>
          <a:prstGeom prst="rect">
            <a:avLst>
              <a:gd name="adj" fmla="val 2051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8288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406" y="20139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React Snippets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boilerplate for common React patterns and hooks.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66160" cy="4297680"/>
          </a:xfrm>
          <a:prstGeom prst="rect">
            <a:avLst>
              <a:gd name="adj" fmla="val 2051"/>
            </a:avLst>
          </a:prstGeom>
          <a:solidFill>
            <a:srgbClr val="F4F9FB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0" y="18288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check_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2013966"/>
            <a:ext cx="452628" cy="4526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ES7+, Prettier, ESLint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JS/React syntax highlighting plus auto-formatting and linting.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46720" y="1463040"/>
            <a:ext cx="3566160" cy="4297680"/>
          </a:xfrm>
          <a:prstGeom prst="rect">
            <a:avLst>
              <a:gd name="adj" fmla="val 2051"/>
            </a:avLst>
          </a:prstGeom>
          <a:solidFill>
            <a:srgbClr val="F4F9FB"/>
          </a:solidFill>
          <a:ln/>
        </p:spPr>
      </p:sp>
      <p:sp>
        <p:nvSpPr>
          <p:cNvPr id="14" name="Shape 10"/>
          <p:cNvSpPr/>
          <p:nvPr/>
        </p:nvSpPr>
        <p:spPr>
          <a:xfrm>
            <a:off x="9418320" y="18288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icons/slid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86" y="2013966"/>
            <a:ext cx="452628" cy="4526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Emmet for JSX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6760" y="35661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Emmet → Include Languages → add JSX for HTML-style abbreviations.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371600"/>
          </a:xfrm>
          <a:prstGeom prst="rect">
            <a:avLst>
              <a:gd name="adj" fmla="val 4667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356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React library and every third-party library the project depends 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1371600"/>
          </a:xfrm>
          <a:prstGeom prst="rect">
            <a:avLst>
              <a:gd name="adj" fmla="val 4667"/>
            </a:avLst>
          </a:prstGeom>
          <a:solidFill>
            <a:srgbClr val="F4F9F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356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assets, including index.html — the file React mounts the app into, via &lt;div id="root"&gt;.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49240" cy="1371600"/>
          </a:xfrm>
          <a:prstGeom prst="rect">
            <a:avLst>
              <a:gd name="adj" fmla="val 4667"/>
            </a:avLst>
          </a:prstGeom>
          <a:solidFill>
            <a:srgbClr val="F4F9F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5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App.css, App.js, App.test.js, index.css, index.js, serviceWorker.js. App.js renders the output screen.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926080"/>
            <a:ext cx="5349240" cy="1371600"/>
          </a:xfrm>
          <a:prstGeom prst="rect">
            <a:avLst>
              <a:gd name="adj" fmla="val 4667"/>
            </a:avLst>
          </a:prstGeom>
          <a:solidFill>
            <a:srgbClr val="F4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035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4290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metadata; tells npm how to identify the project and manage its dependencies.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349240" cy="1371600"/>
          </a:xfrm>
          <a:prstGeom prst="rect">
            <a:avLst>
              <a:gd name="adj" fmla="val 4667"/>
            </a:avLst>
          </a:prstGeom>
          <a:solidFill>
            <a:srgbClr val="F4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360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package-lock.json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whenever npm modifies node_modules or package.json; not published; ignored outside the top-level package.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5349240" cy="1371600"/>
          </a:xfrm>
          <a:prstGeom prst="rect">
            <a:avLst>
              <a:gd name="adj" fmla="val 4667"/>
            </a:avLst>
          </a:prstGeom>
          <a:solidFill>
            <a:srgbClr val="F4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360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for anyone reading about the codebase.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building blocks of any React app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Components?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800600"/>
          </a:xfrm>
          <a:prstGeom prst="rect">
            <a:avLst>
              <a:gd name="adj" fmla="val 1524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used to write thousands of lines of code for a single page, following a traditional DOM structure. Making changes was challenging — a single mistake meant manually searching the entire application to fix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component-based approach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application is divided into small, logical, independent groups of code called components — solving the maintainability problem.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394960" cy="4800600"/>
          </a:xfrm>
          <a:prstGeom prst="rect">
            <a:avLst>
              <a:gd name="adj" fmla="val 1524"/>
            </a:avLst>
          </a:prstGeom>
          <a:solidFill>
            <a:srgbClr val="0A1929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600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the core building blocks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exists in its own space and works independently.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2918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merge inside a parent component, forming the final UI.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2976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has its own structure, methods and APIs, and can be reused wherever needed.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53035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UI as a tree: the root is the starting component, and each other piece is a branch — further divided into sub-branches.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Components Contain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11680"/>
          </a:xfrm>
          <a:prstGeom prst="rect">
            <a:avLst>
              <a:gd name="adj" fmla="val 3636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window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7766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JSX markup describing what the component renders to the screen.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394960" cy="2011680"/>
          </a:xfrm>
          <a:prstGeom prst="rect">
            <a:avLst>
              <a:gd name="adj" fmla="val 3636"/>
            </a:avLst>
          </a:prstGeom>
          <a:solidFill>
            <a:srgbClr val="F4F9FB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645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gea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17766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8368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JavaScript behavior — state, event handlers, and computations behind the template.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Components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94960" cy="2011680"/>
          </a:xfrm>
          <a:prstGeom prst="rect">
            <a:avLst>
              <a:gd name="adj" fmla="val 3636"/>
            </a:avLst>
          </a:prstGeom>
          <a:solidFill>
            <a:srgbClr val="0A1929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Components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68680" y="48006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HTML and behave much like class components, but are written with far less code and are easier to understand.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63640" y="4160520"/>
            <a:ext cx="5394960" cy="2011680"/>
          </a:xfrm>
          <a:prstGeom prst="rect">
            <a:avLst>
              <a:gd name="adj" fmla="val 3636"/>
            </a:avLst>
          </a:prstGeom>
          <a:solidFill>
            <a:srgbClr val="F4F9FB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Components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83680" y="48006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extend React.Component to inherit its functions, and require a render() method that returns HTML.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Component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function component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HelloWorldComponent.js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HelloWorldComponent()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&lt;div&gt;Hello, World!&lt;/div&gt;;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HelloWorldComponent;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Component — Using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the component inside App.js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HelloWorldComponent from './HelloWorldComponent';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&lt;HelloWorldComponent /&gt;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Component — Arrow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component, written as an arrow function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HelloWorldComponent.js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HelloWorldComponent = () =&gt;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&lt;div&gt;Hello, World!&lt;/div&gt;;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HelloWorldComponent;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Component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2103120"/>
          </a:xfrm>
          <a:prstGeom prst="rect">
            <a:avLst>
              <a:gd name="adj" fmla="val 3478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React.Component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inheritance link to React.Component, giving the class access to its functions.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render() method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on every class component; it returns the HTML/JSX to display.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components were the standard way to hold state and lifecycle logic before Hooks (like useState) made function components equally capable.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Component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class component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HelloWorldComponent.js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Component } from 'react';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HelloWorldComponent extends Component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&lt;div&gt;Hello, World!&lt;/div&gt;;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HelloWorldComponent;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Component — Using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the class component inside App.js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HelloWorldComponent from './HelloWorldComponent';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&lt;HelloWorldComponent /&gt;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1828800"/>
            <a:ext cx="1005840" cy="100584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4" name="Image 0" descr="/home/claude/icons/re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20299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State, Props, Events &amp; Routing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2026-08-26T10:56:50Z</dcterms:created>
  <dcterms:modified xsi:type="dcterms:W3CDTF">2026-08-26T10:56:50Z</dcterms:modified>
</cp:coreProperties>
</file>