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 · PHASE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Aggregation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documents into totals, averages, and real reports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2926080" cy="0"/>
          </a:xfrm>
          <a:prstGeom prst="line">
            <a:avLst/>
          </a:prstGeom>
          <a:noFill/>
          <a:ln w="25400">
            <a:solidFill>
              <a:srgbClr val="00ED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0060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5663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 &amp; $group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$project &amp; $sort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0060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$limit &amp; $skip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$unwind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0060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$lookup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54498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53126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$count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52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09160" y="1124712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49240" y="10881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aggregation pipeline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1865376"/>
            <a:ext cx="0" cy="0"/>
          </a:xfrm>
          <a:prstGeom prst="lin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709160" y="2167128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21305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group, and calculate with $match, $group, and accumulators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2907792"/>
            <a:ext cx="0" cy="0"/>
          </a:xfrm>
          <a:prstGeom prst="line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709160" y="3209544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31729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sort, and page results with $project, $sort, $limit, $skip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3950208"/>
            <a:ext cx="0" cy="0"/>
          </a:xfrm>
          <a:prstGeom prst="line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709160" y="4251960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42153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arrays with $unwind and join collections with $lookup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4992624"/>
            <a:ext cx="0" cy="0"/>
          </a:xfrm>
          <a:prstGeom prst="line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709160" y="5294376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5257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complete, real-world aggregation pipeline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FIND()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aggregation?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processes multiple documents together to generate meaningful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76856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76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employees, or students per course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449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00837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average or total salary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1304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77647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highest or lowest value in a field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581144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54456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by grouping and calculating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49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531266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across collections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aggregation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4650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63449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6344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4650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— the raw collection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1259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45516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34315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3431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45516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 — filter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834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16382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05181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0518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316382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$group — group &amp; calculate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35433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387248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376047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376047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387248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$project — shape the output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51760" y="458114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446913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44691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458114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$sort — order the results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51760" y="49606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51760" y="5289804"/>
            <a:ext cx="6858000" cy="397764"/>
          </a:xfrm>
          <a:prstGeom prst="roundRect">
            <a:avLst>
              <a:gd name="adj" fmla="val 18391"/>
            </a:avLst>
          </a:prstGeom>
          <a:solidFill>
            <a:srgbClr val="00684A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80360" y="5177790"/>
            <a:ext cx="402336" cy="402336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32" name="Text 30"/>
          <p:cNvSpPr/>
          <p:nvPr/>
        </p:nvSpPr>
        <p:spPr>
          <a:xfrm>
            <a:off x="2880360" y="517779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429000" y="5289804"/>
            <a:ext cx="59436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syntax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aggregation is an array of stages — each stage transforms the output of the one before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db.collection.aggregate([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stage1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stage2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stage3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db.students.aggregate([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$match: { course: "MERN" }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$match — filter documents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documents flowing into the pipeline — similar to a find() query.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$match: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age: { $gt: 20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$group — group &amp; calculate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documents by a field and computes a value per group.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db.students.aggregate([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$group: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_id: "$course",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count: { $sum: 1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3F4D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MERN →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→ 15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→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CALCULATIONS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accumulators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5204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 a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$avg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 an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value in the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$last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value in the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{ $group: { _id: "$department", averageSalary: { $avg: "$salary" } } }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$project — shape the output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Selects, removes, renames, or computes fields in the final output.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$project: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1,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salary: 1,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_id: 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$sort and $limit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$sort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$sort: { salary: -1 }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= ascending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-1 = descending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$limit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$limit: 5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Top 5 highest-paid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a $sort: -1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$sort orders the pipeline's results; $limit then caps how many pass through.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EXPANSION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$unwind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element of an array field into its own separate document.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"Arun",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"skills": ["Java", "React", "MongoDB"]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$unwind: "$skills" }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3F4D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$unwind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 → Java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 → React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Arun → MongoDB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COLLECTIONS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$lookup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 from two collections — MongoDB's equivalent of a SQL join.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$lookup: 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from: "courses",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localField: "courseId",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foreignField: "_id",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as: "courseDetails"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+ Courses → $lookup → a combined result with course details attached.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TALLYING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$count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documents remaining at that point in the pipeline.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2834640"/>
          </a:xfrm>
          <a:prstGeom prst="roundRect">
            <a:avLst>
              <a:gd name="adj" fmla="val 32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db.students.aggregate([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$match: { course: "MERN" }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$count: "totalStudents"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3F4D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184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"totalStudents": 25 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 · 1 &amp;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per department, and average salary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per department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db.employees.aggregate([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$group: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_id: "$department",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totalEmployees: { $sum: 1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salary per department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db.employees.aggregate([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$group: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_id: "$department",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averageSalary: { $avg: "$salary"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result — IT → 55000, HR → 45000, Finance → 60000.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highest-paid IT employees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pipeline: filter, sort, limit, then shape the output.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db.employees.aggregate([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$match: { department: "IT" }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$sort: { salary: -1 }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$limit: 3 },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$project: { name: 1, salary: 1, _id: 0 } }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visualization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46504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705356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7053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46504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267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596896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555748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5557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596896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 → IT only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118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447288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40614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4061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3447288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$sort → salary DESC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39684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4297680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4256532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4297680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$limit → top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4818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51760" y="5148072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00684A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5106924"/>
            <a:ext cx="402336" cy="402336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51069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5148072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$project → name + salary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hands-on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calculate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employees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employees by department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average salary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3832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maximum salary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minimum salary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41148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salary by department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54496" y="1600200"/>
            <a:ext cx="5385816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4496" y="1600200"/>
            <a:ext cx="5385816" cy="502920"/>
          </a:xfrm>
          <a:prstGeom prst="roundRect">
            <a:avLst>
              <a:gd name="adj" fmla="val 18182"/>
            </a:avLst>
          </a:prstGeom>
          <a:solidFill>
            <a:srgbClr val="00684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54496" y="1828800"/>
            <a:ext cx="538581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1600200"/>
            <a:ext cx="5020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combine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37376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57416" y="228600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 5 employees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7376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57416" y="265176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$unwind on skills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37376" y="3017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57416" y="301752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$lookup with departments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37376" y="3383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57416" y="3383280"/>
            <a:ext cx="4700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aggregation pipeline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Summary — Aggregation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18745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$group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18745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0624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$project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97880" y="18745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932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80960" y="18745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$unwind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64040" y="1874520"/>
            <a:ext cx="9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554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$lookup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880360"/>
            <a:ext cx="10607040" cy="3017520"/>
          </a:xfrm>
          <a:prstGeom prst="roundRect">
            <a:avLst>
              <a:gd name="adj" fmla="val 3636"/>
            </a:avLst>
          </a:prstGeom>
          <a:solidFill>
            <a:srgbClr val="052A22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3602736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multi-stage aggregation pipelines with $match and $group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0120" y="398678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7" name="Text 25"/>
          <p:cNvSpPr/>
          <p:nvPr/>
        </p:nvSpPr>
        <p:spPr>
          <a:xfrm>
            <a:off x="1207008" y="3831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sort, and page results with $project, $sort, $limit, $skip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0120" y="4370832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9" name="Text 27"/>
          <p:cNvSpPr/>
          <p:nvPr/>
        </p:nvSpPr>
        <p:spPr>
          <a:xfrm>
            <a:off x="1207008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array fields with $unwind and join collections with $lookup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0120" y="4754880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1" name="Text 29"/>
          <p:cNvSpPr/>
          <p:nvPr/>
        </p:nvSpPr>
        <p:spPr>
          <a:xfrm>
            <a:off x="1207008" y="45994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group, calculate, transform, and combine data for real MERN apps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5193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completes Phases 1–5. Next: Mongoose + Express integration.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5 · MongoDB Aggregation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MongoDB MERN Training</dc:creator>
  <cp:lastModifiedBy>MongoDB MERN Training</cp:lastModifiedBy>
  <cp:revision>1</cp:revision>
  <dcterms:created xsi:type="dcterms:W3CDTF">2026-09-15T10:07:55Z</dcterms:created>
  <dcterms:modified xsi:type="dcterms:W3CDTF">2026-09-15T10:07:55Z</dcterms:modified>
</cp:coreProperties>
</file>