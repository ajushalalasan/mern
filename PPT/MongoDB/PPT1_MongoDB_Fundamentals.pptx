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2926080" cy="292608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· 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database at the foundation of the MERN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00E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MongoDB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00600" y="40782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56632" y="39410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architecture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45354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43982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collections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&amp; JSON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49926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48554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44982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531266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tools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52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 up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09160" y="1124712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49240" y="10881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MongoDB is and why it fits modern apps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1865376"/>
            <a:ext cx="0" cy="0"/>
          </a:xfrm>
          <a:prstGeom prst="lin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4709160" y="2167128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21305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MongoDB's model to traditional SQL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07792"/>
            <a:ext cx="0" cy="0"/>
          </a:xfrm>
          <a:prstGeom prst="lin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4709160" y="3209544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729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Database → Collection → Document → Field hierarchy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3950208"/>
            <a:ext cx="0" cy="0"/>
          </a:xfrm>
          <a:prstGeom prst="lin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4709160" y="4251960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51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2153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data is stored as BSON, and which data types are supported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4992624"/>
            <a:ext cx="0" cy="0"/>
          </a:xfrm>
          <a:prstGeom prst="lin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4709160" y="5294376"/>
            <a:ext cx="438912" cy="43891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5257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tools used to work with MongoDB day to day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MongoDB?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465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 NoSQL, document-oriented database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 as documents — JSON-like records, not table rows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5021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grouped together into collections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16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3799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live inside a database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294376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257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Internally, MongoDB stores every document in BSON format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001E2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7183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MERN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MongoDB?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465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 — no rigid table structure to fight against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JSON-like documents map naturally onto JavaScript objects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5021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scale as an application and its data grow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16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3799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nested data and arrays inside one document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294376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257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with straightforward Node.js integration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001E2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Suitable for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modern, JS-driven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applications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7183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5138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vs MongoDB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35204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$lookup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needs — filtering, relating, aggregating data — expressed through a document-shaped model instead of rigid tables.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table vs MongoDB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— Student table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| name | age | course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---+------+-----+-------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| Arun | 22  | MERN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— document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05956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6" name="Text 14"/>
          <p:cNvSpPr/>
          <p:nvPr/>
        </p:nvSpPr>
        <p:spPr>
          <a:xfrm>
            <a:off x="6688836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22,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"course": "MERN"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becomes one self-contained document — no need to look up a separate table to know what "course" means.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705356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7053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Server — the running database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596896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555748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5557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596896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e.g. collegeDB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118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447288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406140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4061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447288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— e.g. students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39684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297680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4256532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297680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— individual records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51760" y="4818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51760" y="5148072"/>
            <a:ext cx="6858000" cy="539496"/>
          </a:xfrm>
          <a:prstGeom prst="roundRect">
            <a:avLst>
              <a:gd name="adj" fmla="val 13559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5106924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7" name="Text 25"/>
          <p:cNvSpPr/>
          <p:nvPr/>
        </p:nvSpPr>
        <p:spPr>
          <a:xfrm>
            <a:off x="2880360" y="51069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5148072"/>
            <a:ext cx="5943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— the data inside each document, e.g. { name: "Arun", age: 22 }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collection commands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 container for collections; a collection stores related documents.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/ switch to a database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collegeDB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Show the current database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 all databases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dbs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a collection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db.createCollection("students")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 collections in the current database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collections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layout →  collegeDB  →  students, courses, teachers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and _id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represents one record and behaves like a JSON object. Every document normally carries a unique _id, which MongoDB auto-generates as an ObjectId.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ObjectId("68c..."),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22,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"course": "MERN"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_id is used to uniquely identify, search for, update, and delete a specific document.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FORMAT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BSON and JSON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— what you write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4905756" cy="2971800"/>
          </a:xfrm>
          <a:prstGeom prst="roundRect">
            <a:avLst>
              <a:gd name="adj" fmla="val 2462"/>
            </a:avLst>
          </a:prstGeom>
          <a:solidFill>
            <a:srgbClr val="0B232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514600"/>
            <a:ext cx="45399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"Arun",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BSON — what's stored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33388" y="2551176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6" name="Text 14"/>
          <p:cNvSpPr/>
          <p:nvPr/>
        </p:nvSpPr>
        <p:spPr>
          <a:xfrm>
            <a:off x="6716268" y="24231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JSON — MongoDB's internal storage format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3388" y="2971800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716268" y="2843784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extra data types JSON alone doesn't have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3388" y="3392424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0" name="Text 18"/>
          <p:cNvSpPr/>
          <p:nvPr/>
        </p:nvSpPr>
        <p:spPr>
          <a:xfrm>
            <a:off x="6716268" y="3264408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faster, more efficient processing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write and read JSON-like documents; MongoDB handles the BSON translation for you.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OF DATA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data types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can freely mix these types — including nesting arrays and objects inside one another.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286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362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Integer, Double, Boolean — the basics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32988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2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2964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— an ordered list of values, e.g. skills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9310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3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2565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— a nested document, e.g. an address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253228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3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52166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Date, and ObjectId round out the common set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001E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MIXED-TYPE DOCUMENT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"Arun",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22,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active: true,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skills: ["Java",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"React"],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address: {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47183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city: "Chennai"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5138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automatically generates a unique _id for every document that doesn't specify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7286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3629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unique identification across a collection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332988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32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2964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search for a specific document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93108"/>
            <a:ext cx="512064" cy="512064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931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2565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target updates precisely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253228"/>
            <a:ext cx="512064" cy="512064"/>
          </a:xfrm>
          <a:prstGeom prst="ellipse">
            <a:avLst/>
          </a:prstGeom>
          <a:solidFill>
            <a:srgbClr val="0C7A5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32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52166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target deletes precisely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52360" y="150876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001E2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194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0" y="26151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035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ObjectId(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"68c..."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0" y="3877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4297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MONGODB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tools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1E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5362956" cy="274320"/>
          </a:xfrm>
          <a:prstGeom prst="rect">
            <a:avLst/>
          </a:prstGeom>
          <a:solidFill>
            <a:srgbClr val="001E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mongosh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04672" y="2551176"/>
            <a:ext cx="73152" cy="73152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4231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command-line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2971800"/>
            <a:ext cx="73152" cy="73152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843784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and scripts directly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" y="3392424"/>
            <a:ext cx="73152" cy="73152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264408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quick queries &amp; admin tasks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7356" y="1600200"/>
            <a:ext cx="5362956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1600200"/>
            <a:ext cx="5362956" cy="594360"/>
          </a:xfrm>
          <a:prstGeom prst="roundRect">
            <a:avLst>
              <a:gd name="adj" fmla="val 15385"/>
            </a:avLst>
          </a:prstGeom>
          <a:solidFill>
            <a:srgbClr val="00684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7356" y="1920240"/>
            <a:ext cx="5362956" cy="274320"/>
          </a:xfrm>
          <a:prstGeom prst="rect">
            <a:avLst/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05956" y="160020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Compass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33388" y="2551176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0" name="Text 18"/>
          <p:cNvSpPr/>
          <p:nvPr/>
        </p:nvSpPr>
        <p:spPr>
          <a:xfrm>
            <a:off x="6716268" y="2423160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graphical interface for MongoDB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3388" y="2971800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16268" y="2843784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databases and documents visually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3388" y="3392424"/>
            <a:ext cx="73152" cy="73152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16268" y="3264408"/>
            <a:ext cx="4677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queries interactively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connect to the same MongoDB Server — pick the interface that fits the task.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in the MERN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74650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81165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18116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174650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builds the user interface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48031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51760" y="280949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87464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80360" y="287464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80949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— defines the API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5433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387248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FFFFFF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937635"/>
            <a:ext cx="402336" cy="402336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17" name="Text 15"/>
          <p:cNvSpPr/>
          <p:nvPr/>
        </p:nvSpPr>
        <p:spPr>
          <a:xfrm>
            <a:off x="2880360" y="393763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387248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runs the server-side 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460629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51760" y="4935474"/>
            <a:ext cx="6858000" cy="752094"/>
          </a:xfrm>
          <a:prstGeom prst="roundRect">
            <a:avLst>
              <a:gd name="adj" fmla="val 9726"/>
            </a:avLst>
          </a:prstGeom>
          <a:solidFill>
            <a:srgbClr val="00684A"/>
          </a:solidFill>
          <a:ln w="12700">
            <a:solidFill>
              <a:srgbClr val="DC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0360" y="5000625"/>
            <a:ext cx="402336" cy="402336"/>
          </a:xfrm>
          <a:prstGeom prst="ellipse">
            <a:avLst/>
          </a:prstGeom>
          <a:solidFill>
            <a:srgbClr val="001E2B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500062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4935474"/>
            <a:ext cx="59436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the database layer that stores and serves the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the foundation the rest of the MERN stack reads from and writes to.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0"/>
          </a:xfrm>
          <a:prstGeom prst="line">
            <a:avLst/>
          </a:prstGeom>
          <a:noFill/>
          <a:ln w="38100">
            <a:solidFill>
              <a:srgbClr val="00ED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813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database, add a collection, and insert your first document.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0881360" cy="3931920"/>
          </a:xfrm>
          <a:prstGeom prst="roundRect">
            <a:avLst>
              <a:gd name="adj" fmla="val 2326"/>
            </a:avLst>
          </a:prstGeom>
          <a:solidFill>
            <a:srgbClr val="0B232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E8746B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240280"/>
            <a:ext cx="128016" cy="128016"/>
          </a:xfrm>
          <a:prstGeom prst="ellipse">
            <a:avLst/>
          </a:prstGeom>
          <a:solidFill>
            <a:srgbClr val="E8C15C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240280"/>
            <a:ext cx="128016" cy="128016"/>
          </a:xfrm>
          <a:prstGeom prst="ellipse">
            <a:avLst/>
          </a:prstGeom>
          <a:solidFill>
            <a:srgbClr val="6FCF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10332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Create a database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companyDB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Create a collection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db.createCollection("employees")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Insert one document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db.employees.insertOne({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"Arun",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"IT",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salary: 50000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8F5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068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Summary — MongoDB Fundamentals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259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9" name="Text 7"/>
          <p:cNvSpPr/>
          <p:nvPr/>
        </p:nvSpPr>
        <p:spPr>
          <a:xfrm>
            <a:off x="21259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176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118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77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0977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894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753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695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C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80695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61220" y="1874520"/>
            <a:ext cx="-205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5548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068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5548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10607040" cy="3017520"/>
          </a:xfrm>
          <a:prstGeom prst="roundRect">
            <a:avLst>
              <a:gd name="adj" fmla="val 3636"/>
            </a:avLst>
          </a:prstGeom>
          <a:solidFill>
            <a:srgbClr val="052A22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E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3602736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28" name="Text 26"/>
          <p:cNvSpPr/>
          <p:nvPr/>
        </p:nvSpPr>
        <p:spPr>
          <a:xfrm>
            <a:off x="1207008" y="34472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MongoDB is and how it differs from SQL databases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3986784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0" name="Text 28"/>
          <p:cNvSpPr/>
          <p:nvPr/>
        </p:nvSpPr>
        <p:spPr>
          <a:xfrm>
            <a:off x="1207008" y="3831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Database → Collection → Document → Field hierarchy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370832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2" name="Text 30"/>
          <p:cNvSpPr/>
          <p:nvPr/>
        </p:nvSpPr>
        <p:spPr>
          <a:xfrm>
            <a:off x="1207008" y="4215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BSON, JSON, and the core MongoDB data types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0120" y="4754880"/>
            <a:ext cx="91440" cy="91440"/>
          </a:xfrm>
          <a:prstGeom prst="ellipse">
            <a:avLst/>
          </a:prstGeom>
          <a:solidFill>
            <a:srgbClr val="00ED64"/>
          </a:solidFill>
          <a:ln/>
        </p:spPr>
      </p:sp>
      <p:sp>
        <p:nvSpPr>
          <p:cNvPr id="34" name="Text 32"/>
          <p:cNvSpPr/>
          <p:nvPr/>
        </p:nvSpPr>
        <p:spPr>
          <a:xfrm>
            <a:off x="1207008" y="45994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mongosh and Compass, and create a first database and collection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51937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3F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Phase 2 — CRUD Operations.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1 · MongoDB Fundamentals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MongoDB MERN Training</dc:creator>
  <cp:lastModifiedBy>MongoDB MERN Training</cp:lastModifiedBy>
  <cp:revision>1</cp:revision>
  <dcterms:created xsi:type="dcterms:W3CDTF">2026-09-15T10:06:00Z</dcterms:created>
  <dcterms:modified xsi:type="dcterms:W3CDTF">2026-09-15T10:06:00Z</dcterms:modified>
</cp:coreProperties>
</file>