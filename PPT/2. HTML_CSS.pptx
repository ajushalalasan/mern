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7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8" r:id="rId16"/>
    <p:sldId id="279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9" autoAdjust="0"/>
    <p:restoredTop sz="85036" autoAdjust="0"/>
  </p:normalViewPr>
  <p:slideViewPr>
    <p:cSldViewPr snapToGrid="0" snapToObjects="1">
      <p:cViewPr>
        <p:scale>
          <a:sx n="80" d="100"/>
          <a:sy n="80" d="100"/>
        </p:scale>
        <p:origin x="144" y="-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6528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7680960" y="-914400"/>
            <a:ext cx="5486400" cy="8686800"/>
          </a:xfrm>
          <a:prstGeom prst="rect">
            <a:avLst/>
          </a:prstGeom>
          <a:solidFill>
            <a:srgbClr val="2B3155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0" y="237744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E44D26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7373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44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</a:t>
            </a: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</a:t>
            </a:r>
            <a:r>
              <a:rPr lang="en-US" sz="6000" b="1" dirty="0">
                <a:solidFill>
                  <a:srgbClr val="264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</a:t>
            </a:r>
            <a:r>
              <a:rPr lang="en-US" sz="1500" dirty="0" smtClean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structure</a:t>
            </a:r>
            <a:r>
              <a:rPr lang="en-US" sz="15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content, media, tables, forms, attributes, metadata — then styling, layout, and responsive design.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1005840" cy="0"/>
          </a:xfrm>
          <a:prstGeom prst="line">
            <a:avLst/>
          </a:prstGeom>
          <a:noFill/>
          <a:ln w="38100">
            <a:solidFill>
              <a:srgbClr val="E44D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172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13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Sections, Front To 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960120"/>
          </a:xfrm>
          <a:prstGeom prst="roundRect">
            <a:avLst>
              <a:gd name="adj" fmla="val 6667"/>
            </a:avLst>
          </a:prstGeom>
          <a:solidFill>
            <a:srgbClr val="F6F7FB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00200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44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17320" y="16184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 &amp; Structure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417320" y="19476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skeleton, elements, nesting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51960" y="1508760"/>
            <a:ext cx="3520440" cy="960120"/>
          </a:xfrm>
          <a:prstGeom prst="roundRect">
            <a:avLst>
              <a:gd name="adj" fmla="val 6667"/>
            </a:avLst>
          </a:prstGeom>
          <a:solidFill>
            <a:srgbClr val="F6F7FB"/>
          </a:solidFill>
          <a:ln/>
        </p:spPr>
      </p:sp>
      <p:sp>
        <p:nvSpPr>
          <p:cNvPr id="9" name="Text 7"/>
          <p:cNvSpPr/>
          <p:nvPr/>
        </p:nvSpPr>
        <p:spPr>
          <a:xfrm>
            <a:off x="4416552" y="1600200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4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120640" y="16184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Content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120640" y="19476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Headings, formatting, lists, blockquotes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55280" y="1508760"/>
            <a:ext cx="3520440" cy="960120"/>
          </a:xfrm>
          <a:prstGeom prst="roundRect">
            <a:avLst>
              <a:gd name="adj" fmla="val 6667"/>
            </a:avLst>
          </a:prstGeom>
          <a:solidFill>
            <a:srgbClr val="F6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8119872" y="1600200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44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823960" y="16184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Navigation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823960" y="19476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Anchors, paths, in-page jumps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633472"/>
            <a:ext cx="3520440" cy="960120"/>
          </a:xfrm>
          <a:prstGeom prst="roundRect">
            <a:avLst>
              <a:gd name="adj" fmla="val 6667"/>
            </a:avLst>
          </a:prstGeom>
          <a:solidFill>
            <a:srgbClr val="F6F7FB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2724912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4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17320" y="27432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417320" y="307238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audio, video, iframe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51960" y="2633472"/>
            <a:ext cx="3520440" cy="960120"/>
          </a:xfrm>
          <a:prstGeom prst="roundRect">
            <a:avLst>
              <a:gd name="adj" fmla="val 6667"/>
            </a:avLst>
          </a:prstGeom>
          <a:solidFill>
            <a:srgbClr val="F6F7FB"/>
          </a:solidFill>
          <a:ln/>
        </p:spPr>
      </p:sp>
      <p:sp>
        <p:nvSpPr>
          <p:cNvPr id="21" name="Text 19"/>
          <p:cNvSpPr/>
          <p:nvPr/>
        </p:nvSpPr>
        <p:spPr>
          <a:xfrm>
            <a:off x="4416552" y="2724912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44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120640" y="27432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20640" y="307238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Rows, columns, spans, sections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55280" y="2633472"/>
            <a:ext cx="3520440" cy="960120"/>
          </a:xfrm>
          <a:prstGeom prst="roundRect">
            <a:avLst>
              <a:gd name="adj" fmla="val 6667"/>
            </a:avLst>
          </a:prstGeom>
          <a:solidFill>
            <a:srgbClr val="F6F7FB"/>
          </a:solidFill>
          <a:ln/>
        </p:spPr>
      </p:sp>
      <p:sp>
        <p:nvSpPr>
          <p:cNvPr id="25" name="Text 23"/>
          <p:cNvSpPr/>
          <p:nvPr/>
        </p:nvSpPr>
        <p:spPr>
          <a:xfrm>
            <a:off x="8119872" y="2724912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4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823960" y="27432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823960" y="307238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Inputs, selects, validation, submission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758184"/>
            <a:ext cx="3520440" cy="960120"/>
          </a:xfrm>
          <a:prstGeom prst="roundRect">
            <a:avLst>
              <a:gd name="adj" fmla="val 6667"/>
            </a:avLst>
          </a:prstGeom>
          <a:solidFill>
            <a:srgbClr val="F6F7FB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3849624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44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417320" y="38679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417320" y="419709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structural tags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51960" y="3758184"/>
            <a:ext cx="3520440" cy="960120"/>
          </a:xfrm>
          <a:prstGeom prst="roundRect">
            <a:avLst>
              <a:gd name="adj" fmla="val 6667"/>
            </a:avLst>
          </a:prstGeom>
          <a:solidFill>
            <a:srgbClr val="F6F7FB"/>
          </a:solidFill>
          <a:ln/>
        </p:spPr>
      </p:sp>
      <p:sp>
        <p:nvSpPr>
          <p:cNvPr id="33" name="Text 31"/>
          <p:cNvSpPr/>
          <p:nvPr/>
        </p:nvSpPr>
        <p:spPr>
          <a:xfrm>
            <a:off x="4416552" y="3849624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4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120640" y="38679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Div, Span &amp; Attributes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120640" y="419709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containers, id/class/data-*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955280" y="3758184"/>
            <a:ext cx="3520440" cy="960120"/>
          </a:xfrm>
          <a:prstGeom prst="roundRect">
            <a:avLst>
              <a:gd name="adj" fmla="val 6667"/>
            </a:avLst>
          </a:prstGeom>
          <a:solidFill>
            <a:srgbClr val="F6F7FB"/>
          </a:solidFill>
          <a:ln/>
        </p:spPr>
      </p:sp>
      <p:sp>
        <p:nvSpPr>
          <p:cNvPr id="37" name="Text 35"/>
          <p:cNvSpPr/>
          <p:nvPr/>
        </p:nvSpPr>
        <p:spPr>
          <a:xfrm>
            <a:off x="8119872" y="3849624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44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8823960" y="38679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823960" y="419709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tags, title, linked assets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4882896"/>
            <a:ext cx="3520440" cy="960120"/>
          </a:xfrm>
          <a:prstGeom prst="roundRect">
            <a:avLst>
              <a:gd name="adj" fmla="val 6667"/>
            </a:avLst>
          </a:prstGeom>
          <a:solidFill>
            <a:srgbClr val="F6F7FB"/>
          </a:solidFill>
          <a:ln/>
        </p:spPr>
      </p:sp>
      <p:sp>
        <p:nvSpPr>
          <p:cNvPr id="41" name="Text 39"/>
          <p:cNvSpPr/>
          <p:nvPr/>
        </p:nvSpPr>
        <p:spPr>
          <a:xfrm>
            <a:off x="713232" y="4974336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4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1417320" y="499262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Essentials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417320" y="53218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Selectors, box model, flex, grid, responsive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13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BASICS &amp; 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HTML?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 Markup Language — the structural backbone every web page is built on.</a:t>
            </a:r>
            <a:endParaRPr lang="en-US" sz="1300" dirty="0"/>
          </a:p>
        </p:txBody>
      </p:sp>
      <p:sp>
        <p:nvSpPr>
          <p:cNvPr id="5" name="Shape"/>
          <p:cNvSpPr/>
          <p:nvPr/>
        </p:nvSpPr>
        <p:spPr>
          <a:xfrm>
            <a:off x="548640" y="2148840"/>
            <a:ext cx="384048" cy="384048"/>
          </a:xfrm>
          <a:prstGeom prst="ellipse">
            <a:avLst/>
          </a:prstGeom>
          <a:solidFill>
            <a:srgbClr val="E44D26"/>
          </a:solidFill>
          <a:ln/>
        </p:spPr>
      </p:sp>
      <p:sp>
        <p:nvSpPr>
          <p:cNvPr id="6" name="Text"/>
          <p:cNvSpPr/>
          <p:nvPr/>
        </p:nvSpPr>
        <p:spPr>
          <a:xfrm>
            <a:off x="5486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7" name="Text"/>
          <p:cNvSpPr/>
          <p:nvPr/>
        </p:nvSpPr>
        <p:spPr>
          <a:xfrm>
            <a:off x="1078992" y="210312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 Language</a:t>
            </a:r>
            <a:endParaRPr lang="en-US" sz="1500" dirty="0"/>
          </a:p>
        </p:txBody>
      </p:sp>
      <p:sp>
        <p:nvSpPr>
          <p:cNvPr id="8" name="Text"/>
          <p:cNvSpPr/>
          <p:nvPr/>
        </p:nvSpPr>
        <p:spPr>
          <a:xfrm>
            <a:off x="1078992" y="239572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content in tags that describe what each piece is, not how it looks.</a:t>
            </a:r>
            <a:endParaRPr lang="en-US" sz="1250" dirty="0"/>
          </a:p>
        </p:txBody>
      </p:sp>
      <p:sp>
        <p:nvSpPr>
          <p:cNvPr id="9" name="Shape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E44D26"/>
          </a:solidFill>
          <a:ln/>
        </p:spPr>
      </p:sp>
      <p:sp>
        <p:nvSpPr>
          <p:cNvPr id="10" name="Text"/>
          <p:cNvSpPr/>
          <p:nvPr/>
        </p:nvSpPr>
        <p:spPr>
          <a:xfrm>
            <a:off x="5486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11" name="Text"/>
          <p:cNvSpPr/>
          <p:nvPr/>
        </p:nvSpPr>
        <p:spPr>
          <a:xfrm>
            <a:off x="1078992" y="283464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&amp; Tags</a:t>
            </a:r>
            <a:endParaRPr lang="en-US" sz="1500" dirty="0"/>
          </a:p>
        </p:txBody>
      </p:sp>
      <p:sp>
        <p:nvSpPr>
          <p:cNvPr id="12" name="Text"/>
          <p:cNvSpPr/>
          <p:nvPr/>
        </p:nvSpPr>
        <p:spPr>
          <a:xfrm>
            <a:off x="1078992" y="312724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Angle-bracket tags like &lt;p&gt; and &lt;img&gt; mark where content starts and ends.</a:t>
            </a:r>
            <a:endParaRPr lang="en-US" sz="1250" dirty="0"/>
          </a:p>
        </p:txBody>
      </p:sp>
      <p:sp>
        <p:nvSpPr>
          <p:cNvPr id="13" name="Shape"/>
          <p:cNvSpPr/>
          <p:nvPr/>
        </p:nvSpPr>
        <p:spPr>
          <a:xfrm>
            <a:off x="548640" y="3611880"/>
            <a:ext cx="384048" cy="384048"/>
          </a:xfrm>
          <a:prstGeom prst="ellipse">
            <a:avLst/>
          </a:prstGeom>
          <a:solidFill>
            <a:srgbClr val="E44D26"/>
          </a:solidFill>
          <a:ln/>
        </p:spPr>
      </p:sp>
      <p:sp>
        <p:nvSpPr>
          <p:cNvPr id="14" name="Text"/>
          <p:cNvSpPr/>
          <p:nvPr/>
        </p:nvSpPr>
        <p:spPr>
          <a:xfrm>
            <a:off x="54864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15" name="Text"/>
          <p:cNvSpPr/>
          <p:nvPr/>
        </p:nvSpPr>
        <p:spPr>
          <a:xfrm>
            <a:off x="1078992" y="356616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Nested Tree</a:t>
            </a:r>
            <a:endParaRPr lang="en-US" sz="1500" dirty="0"/>
          </a:p>
        </p:txBody>
      </p:sp>
      <p:sp>
        <p:nvSpPr>
          <p:cNvPr id="16" name="Text"/>
          <p:cNvSpPr/>
          <p:nvPr/>
        </p:nvSpPr>
        <p:spPr>
          <a:xfrm>
            <a:off x="1078992" y="385876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nest inside one another, forming the structure the browser reads.</a:t>
            </a:r>
            <a:endParaRPr lang="en-US" sz="1250" dirty="0"/>
          </a:p>
        </p:txBody>
      </p:sp>
      <p:sp>
        <p:nvSpPr>
          <p:cNvPr id="17" name="Shape"/>
          <p:cNvSpPr/>
          <p:nvPr/>
        </p:nvSpPr>
        <p:spPr>
          <a:xfrm>
            <a:off x="548640" y="4343400"/>
            <a:ext cx="384048" cy="384048"/>
          </a:xfrm>
          <a:prstGeom prst="ellipse">
            <a:avLst/>
          </a:prstGeom>
          <a:solidFill>
            <a:srgbClr val="E44D26"/>
          </a:solidFill>
          <a:ln/>
        </p:spPr>
      </p:sp>
      <p:sp>
        <p:nvSpPr>
          <p:cNvPr id="18" name="Text"/>
          <p:cNvSpPr/>
          <p:nvPr/>
        </p:nvSpPr>
        <p:spPr>
          <a:xfrm>
            <a:off x="54864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9" name="Text"/>
          <p:cNvSpPr/>
          <p:nvPr/>
        </p:nvSpPr>
        <p:spPr>
          <a:xfrm>
            <a:off x="1078992" y="429768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By Browsers</a:t>
            </a:r>
            <a:endParaRPr lang="en-US" sz="1500" dirty="0"/>
          </a:p>
        </p:txBody>
      </p:sp>
      <p:sp>
        <p:nvSpPr>
          <p:cNvPr id="20" name="Text"/>
          <p:cNvSpPr/>
          <p:nvPr/>
        </p:nvSpPr>
        <p:spPr>
          <a:xfrm>
            <a:off x="1078992" y="459028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parse the HTML and render it as the page people see and use.</a:t>
            </a:r>
            <a:endParaRPr lang="en-US" sz="1250" dirty="0"/>
          </a:p>
        </p:txBody>
      </p:sp>
      <p:sp>
        <p:nvSpPr>
          <p:cNvPr id="21" name="Shape"/>
          <p:cNvSpPr/>
          <p:nvPr/>
        </p:nvSpPr>
        <p:spPr>
          <a:xfrm>
            <a:off x="548640" y="5074920"/>
            <a:ext cx="384048" cy="384048"/>
          </a:xfrm>
          <a:prstGeom prst="ellipse">
            <a:avLst/>
          </a:prstGeom>
          <a:solidFill>
            <a:srgbClr val="6B7080"/>
          </a:solidFill>
          <a:ln/>
        </p:spPr>
      </p:sp>
      <p:sp>
        <p:nvSpPr>
          <p:cNvPr id="22" name="Text"/>
          <p:cNvSpPr/>
          <p:nvPr/>
        </p:nvSpPr>
        <p:spPr>
          <a:xfrm>
            <a:off x="54864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3" name="Text"/>
          <p:cNvSpPr/>
          <p:nvPr/>
        </p:nvSpPr>
        <p:spPr>
          <a:xfrm>
            <a:off x="1078992" y="502920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Programming Language</a:t>
            </a:r>
            <a:endParaRPr lang="en-US" sz="1500" dirty="0"/>
          </a:p>
        </p:txBody>
      </p:sp>
      <p:sp>
        <p:nvSpPr>
          <p:cNvPr id="24" name="Text"/>
          <p:cNvSpPr/>
          <p:nvPr/>
        </p:nvSpPr>
        <p:spPr>
          <a:xfrm>
            <a:off x="1078992" y="532180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logic, no loops — HTML only describes content and structure.</a:t>
            </a:r>
            <a:endParaRPr lang="en-US" sz="1250" dirty="0"/>
          </a:p>
        </p:txBody>
      </p:sp>
      <p:sp>
        <p:nvSpPr>
          <p:cNvPr id="25" name="Shape"/>
          <p:cNvSpPr/>
          <p:nvPr/>
        </p:nvSpPr>
        <p:spPr>
          <a:xfrm>
            <a:off x="6126480" y="1600200"/>
            <a:ext cx="5486400" cy="4892040"/>
          </a:xfrm>
          <a:prstGeom prst="roundRect">
            <a:avLst>
              <a:gd name="adj" fmla="val 1682"/>
            </a:avLst>
          </a:prstGeom>
          <a:solidFill>
            <a:srgbClr val="14172B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"/>
          <p:cNvSpPr/>
          <p:nvPr/>
        </p:nvSpPr>
        <p:spPr>
          <a:xfrm>
            <a:off x="6291072" y="17465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7" name="Shape"/>
          <p:cNvSpPr/>
          <p:nvPr/>
        </p:nvSpPr>
        <p:spPr>
          <a:xfrm>
            <a:off x="6437376" y="17465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8" name="Shape"/>
          <p:cNvSpPr/>
          <p:nvPr/>
        </p:nvSpPr>
        <p:spPr>
          <a:xfrm>
            <a:off x="6583680" y="17465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9" name="Text"/>
          <p:cNvSpPr/>
          <p:nvPr/>
        </p:nvSpPr>
        <p:spPr>
          <a:xfrm>
            <a:off x="10149840" y="1691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30" name="Text"/>
          <p:cNvSpPr/>
          <p:nvPr/>
        </p:nvSpPr>
        <p:spPr>
          <a:xfrm>
            <a:off x="6382512" y="1984248"/>
            <a:ext cx="5029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lang=</a:t>
            </a:r>
            <a:r>
              <a:rPr lang="en-US" sz="12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"en"</a:t>
            </a: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Page</a:t>
            </a: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&lt;/title&gt;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World!</a:t>
            </a: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 to my site.</a:t>
            </a: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13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BASICS &amp; 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Document Skeleton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HTML page starts from the same boilerplate — the frame every page hangs 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84048" cy="384048"/>
          </a:xfrm>
          <a:prstGeom prst="ellipse">
            <a:avLst/>
          </a:prstGeom>
          <a:solidFill>
            <a:srgbClr val="E44D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210312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&lt;!DOCTYPE html&gt;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78992" y="239572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browser this is HTML5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E44D2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8992" y="283464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&lt;html&gt;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78992" y="312724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element wrapping the page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384048" cy="384048"/>
          </a:xfrm>
          <a:prstGeom prst="ellipse">
            <a:avLst/>
          </a:prstGeom>
          <a:solidFill>
            <a:srgbClr val="E44D2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8992" y="356616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&lt;head&gt;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78992" y="385876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Metadata: title, links, character set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384048" cy="384048"/>
          </a:xfrm>
          <a:prstGeom prst="ellipse">
            <a:avLst/>
          </a:prstGeom>
          <a:solidFill>
            <a:srgbClr val="E44D2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8992" y="429768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&lt;body&gt;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78992" y="459028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visible on the page lives here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384048" cy="384048"/>
          </a:xfrm>
          <a:prstGeom prst="ellipse">
            <a:avLst/>
          </a:prstGeom>
          <a:solidFill>
            <a:srgbClr val="6B708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78992" y="502920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&lt;!-- comment --&gt;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78992" y="532180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 by the browser, notes for humans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0" y="1600200"/>
            <a:ext cx="5486400" cy="4892040"/>
          </a:xfrm>
          <a:prstGeom prst="roundRect">
            <a:avLst>
              <a:gd name="adj" fmla="val 1682"/>
            </a:avLst>
          </a:prstGeom>
          <a:solidFill>
            <a:srgbClr val="14172B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91072" y="17465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7" name="Shape 25"/>
          <p:cNvSpPr/>
          <p:nvPr/>
        </p:nvSpPr>
        <p:spPr>
          <a:xfrm>
            <a:off x="6437376" y="17465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8" name="Shape 26"/>
          <p:cNvSpPr/>
          <p:nvPr/>
        </p:nvSpPr>
        <p:spPr>
          <a:xfrm>
            <a:off x="6583680" y="17465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9" name="Text 27"/>
          <p:cNvSpPr/>
          <p:nvPr/>
        </p:nvSpPr>
        <p:spPr>
          <a:xfrm>
            <a:off x="10149840" y="1691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82512" y="1984248"/>
            <a:ext cx="5029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lang=</a:t>
            </a:r>
            <a:r>
              <a:rPr lang="en-US" sz="12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"en"</a:t>
            </a: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&lt;meta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charset=</a:t>
            </a:r>
            <a:r>
              <a:rPr lang="en-US" sz="12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Page</a:t>
            </a: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&lt;/title&gt;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&lt;!-- main greeting --&gt;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World!</a:t>
            </a: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 to my site.</a:t>
            </a: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13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BASICS &amp; 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Elements, Attributes &amp; Nesting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element is an opening tag, its content, and a closing tag. Elements nest inside each other to form a tree.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F6F7F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77440"/>
            <a:ext cx="4663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44D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4505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13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class="card"&gt;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97280" y="2834640"/>
            <a:ext cx="4114800" cy="914400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19050">
            <a:solidFill>
              <a:srgbClr val="264D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9077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371600" y="3291840"/>
            <a:ext cx="35661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27C9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33649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8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5120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→ child → grandchild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600200"/>
            <a:ext cx="384048" cy="384048"/>
          </a:xfrm>
          <a:prstGeom prst="ellipse">
            <a:avLst/>
          </a:prstGeom>
          <a:solidFill>
            <a:srgbClr val="E44D26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56832" y="1554480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56832" y="1847088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&lt;p&gt; and closing &lt;/p&gt;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26480" y="2331720"/>
            <a:ext cx="384048" cy="384048"/>
          </a:xfrm>
          <a:prstGeom prst="ellipse">
            <a:avLst/>
          </a:prstGeom>
          <a:solidFill>
            <a:srgbClr val="264DE4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56832" y="2286000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56832" y="2578608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name="value" pairs inside the opening tag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26480" y="3063240"/>
            <a:ext cx="384048" cy="38404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56832" y="3017520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56832" y="3310128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placed inside other elements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0" y="3977640"/>
            <a:ext cx="5486400" cy="1600200"/>
          </a:xfrm>
          <a:prstGeom prst="roundRect">
            <a:avLst>
              <a:gd name="adj" fmla="val 5143"/>
            </a:avLst>
          </a:prstGeom>
          <a:solidFill>
            <a:srgbClr val="14172B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91072" y="412394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7" name="Shape 25"/>
          <p:cNvSpPr/>
          <p:nvPr/>
        </p:nvSpPr>
        <p:spPr>
          <a:xfrm>
            <a:off x="6437376" y="412394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8" name="Shape 26"/>
          <p:cNvSpPr/>
          <p:nvPr/>
        </p:nvSpPr>
        <p:spPr>
          <a:xfrm>
            <a:off x="6583680" y="412394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9" name="Text 27"/>
          <p:cNvSpPr/>
          <p:nvPr/>
        </p:nvSpPr>
        <p:spPr>
          <a:xfrm>
            <a:off x="10149840" y="40690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snippet.html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82512" y="4361688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r>
              <a:rPr lang="en-US" sz="12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href=</a:t>
            </a:r>
            <a:r>
              <a:rPr lang="en-US" sz="12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"/home"</a:t>
            </a:r>
            <a:r>
              <a:rPr lang="en-US" sz="12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target=</a:t>
            </a:r>
            <a:r>
              <a:rPr lang="en-US" sz="12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"_blank"</a:t>
            </a:r>
            <a:r>
              <a:rPr lang="en-US" sz="120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Go home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r>
              <a:rPr lang="en-US" sz="12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2 attributes */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13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TEXT CONTENT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Headings, Paragraphs &amp; Emphasis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E44D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8992" y="155448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&lt;h1&gt; – &lt;h6&gt;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184708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heading levels, largest to smallest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384048" cy="384048"/>
          </a:xfrm>
          <a:prstGeom prst="ellipse">
            <a:avLst/>
          </a:prstGeom>
          <a:solidFill>
            <a:srgbClr val="E44D2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8992" y="228600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&lt;p&gt; / &lt;br&gt;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78992" y="257860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paragraph; &lt;br&gt; forces a line break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384048" cy="384048"/>
          </a:xfrm>
          <a:prstGeom prst="ellipse">
            <a:avLst/>
          </a:prstGeom>
          <a:solidFill>
            <a:srgbClr val="264DE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8992" y="301752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&lt;strong&gt; / &lt;b&gt;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8992" y="331012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importance vs. plain bold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384048" cy="384048"/>
          </a:xfrm>
          <a:prstGeom prst="ellipse">
            <a:avLst/>
          </a:prstGeom>
          <a:solidFill>
            <a:srgbClr val="264DE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8992" y="374904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&lt;em&gt; / &lt;i&gt;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78992" y="404164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Stressed emphasis vs. plain italic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384048" cy="38404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8992" y="448056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&lt;small&gt; / &lt;mark&gt;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78992" y="477316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print, and highlighted text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26480" y="1600200"/>
            <a:ext cx="5486400" cy="4572000"/>
          </a:xfrm>
          <a:prstGeom prst="roundRect">
            <a:avLst>
              <a:gd name="adj" fmla="val 1800"/>
            </a:avLst>
          </a:prstGeom>
          <a:solidFill>
            <a:srgbClr val="14172B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91072" y="17465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6" name="Shape 24"/>
          <p:cNvSpPr/>
          <p:nvPr/>
        </p:nvSpPr>
        <p:spPr>
          <a:xfrm>
            <a:off x="6437376" y="17465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6583680" y="17465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8" name="Text 26"/>
          <p:cNvSpPr/>
          <p:nvPr/>
        </p:nvSpPr>
        <p:spPr>
          <a:xfrm>
            <a:off x="10149840" y="1691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text.html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82512" y="1984248"/>
            <a:ext cx="50292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Title</a:t>
            </a: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Heading</a:t>
            </a: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&lt;/h2&gt;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 </a:t>
            </a: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important</a:t>
            </a: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&lt;/strong&gt;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this is </a:t>
            </a: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&lt;em&gt;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emphasized</a:t>
            </a: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&lt;/em&gt;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&lt;br&gt;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&lt;small&gt;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Terms apply.</a:t>
            </a: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&lt;/small&gt;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Save </a:t>
            </a: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&lt;mark&gt;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&lt;/mark&gt;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today.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13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TEXT CONTENT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 &amp; Blockquotes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E44D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8992" y="169164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&lt;ol&gt;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198424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list — numbers items automatically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384048" cy="384048"/>
          </a:xfrm>
          <a:prstGeom prst="ellipse">
            <a:avLst/>
          </a:prstGeom>
          <a:solidFill>
            <a:srgbClr val="E44D2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8992" y="242316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&lt;ul&gt;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78992" y="271576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 list — bullets items automatically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264DE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8992" y="315468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&lt;dl&gt; / &lt;dt&gt; / &lt;dd&gt;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8992" y="344728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list — term paired with detail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84048" cy="38404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8992" y="388620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&lt;blockquote&gt;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78992" y="417880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extended quotation, often indented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384048" cy="38404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8992" y="461772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&lt;cite&gt;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78992" y="491032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source being quoted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26480" y="1600200"/>
            <a:ext cx="5486400" cy="4617720"/>
          </a:xfrm>
          <a:prstGeom prst="roundRect">
            <a:avLst>
              <a:gd name="adj" fmla="val 1782"/>
            </a:avLst>
          </a:prstGeom>
          <a:solidFill>
            <a:srgbClr val="14172B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91072" y="17465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6" name="Shape 24"/>
          <p:cNvSpPr/>
          <p:nvPr/>
        </p:nvSpPr>
        <p:spPr>
          <a:xfrm>
            <a:off x="6437376" y="17465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6583680" y="17465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8" name="Text 26"/>
          <p:cNvSpPr/>
          <p:nvPr/>
        </p:nvSpPr>
        <p:spPr>
          <a:xfrm>
            <a:off x="10149840" y="1691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content.html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82512" y="1984248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Preheat oven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Mix batter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&lt;/ol&gt;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&lt;dl&gt;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&lt;dt&gt;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&lt;/dt&gt;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&lt;dd&gt;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Markup language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&lt;/dd&gt;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&lt;/dl&gt;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&lt;blockquote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cite=</a:t>
            </a:r>
            <a:r>
              <a:rPr lang="en-US" sz="11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"src"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Stay hungry.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&lt;cite&gt;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Steve Jobs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&lt;/cite&gt;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&lt;/blockquote&gt;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13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LINKS &amp; NAVIGATION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Anchors &amp; Paths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E44D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8992" y="169164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href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198424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destination URL of a link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384048" cy="384048"/>
          </a:xfrm>
          <a:prstGeom prst="ellipse">
            <a:avLst/>
          </a:prstGeom>
          <a:solidFill>
            <a:srgbClr val="E44D2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8992" y="242316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target="_blank"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78992" y="271576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link in a new tab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264DE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8992" y="315468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path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8992" y="344728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"/about" — relative to this site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84048" cy="384048"/>
          </a:xfrm>
          <a:prstGeom prst="ellipse">
            <a:avLst/>
          </a:prstGeom>
          <a:solidFill>
            <a:srgbClr val="264DE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8992" y="388620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path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78992" y="417880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"https://..." — a full external URL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384048" cy="38404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8992" y="461772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In-page anchor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78992" y="491032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href="#section" jumps within the page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26480" y="1600200"/>
            <a:ext cx="5486400" cy="4617720"/>
          </a:xfrm>
          <a:prstGeom prst="roundRect">
            <a:avLst>
              <a:gd name="adj" fmla="val 1782"/>
            </a:avLst>
          </a:prstGeom>
          <a:solidFill>
            <a:srgbClr val="14172B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91072" y="17465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6" name="Shape 24"/>
          <p:cNvSpPr/>
          <p:nvPr/>
        </p:nvSpPr>
        <p:spPr>
          <a:xfrm>
            <a:off x="6437376" y="17465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6583680" y="17465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8" name="Text 26"/>
          <p:cNvSpPr/>
          <p:nvPr/>
        </p:nvSpPr>
        <p:spPr>
          <a:xfrm>
            <a:off x="10149840" y="1691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nav.html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82512" y="1984248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relative path --&gt;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href=</a:t>
            </a:r>
            <a:r>
              <a:rPr lang="en-US" sz="11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"/about"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&gt;About&lt;/a&gt;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absolute path, new tab --&gt;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href=</a:t>
            </a:r>
            <a:r>
              <a:rPr lang="en-US" sz="11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"https://mdn.dev"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target=</a:t>
            </a:r>
            <a:r>
              <a:rPr lang="en-US" sz="11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"_blank"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&gt;Docs&lt;/a&gt;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jump to a section on this page --&gt;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href=</a:t>
            </a:r>
            <a:r>
              <a:rPr lang="en-US" sz="11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"#pricing"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&gt;Pricing&lt;/a&gt;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id=</a:t>
            </a:r>
            <a:r>
              <a:rPr lang="en-US" sz="11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"pricing"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13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MEDIA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Images, Audio, Video &amp; Embeds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E44D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8992" y="169164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&lt;img src alt&gt;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198424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an image; alt describes it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384048" cy="384048"/>
          </a:xfrm>
          <a:prstGeom prst="ellipse">
            <a:avLst/>
          </a:prstGeom>
          <a:solidFill>
            <a:srgbClr val="264DE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8992" y="242316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&lt;audio controls&gt;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78992" y="271576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a playable sound file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264DE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8992" y="315468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&lt;video controls&gt;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8992" y="344728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a playable video file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84048" cy="38404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8992" y="388620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&lt;iframe&gt;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78992" y="417880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another page inside this one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384048" cy="384048"/>
          </a:xfrm>
          <a:prstGeom prst="ellipse">
            <a:avLst/>
          </a:prstGeom>
          <a:solidFill>
            <a:srgbClr val="6B708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8992" y="461772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text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78992" y="491032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if the browser can't load the media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26480" y="1600200"/>
            <a:ext cx="5486400" cy="4617720"/>
          </a:xfrm>
          <a:prstGeom prst="roundRect">
            <a:avLst>
              <a:gd name="adj" fmla="val 1782"/>
            </a:avLst>
          </a:prstGeom>
          <a:solidFill>
            <a:srgbClr val="14172B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91072" y="17465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6" name="Shape 24"/>
          <p:cNvSpPr/>
          <p:nvPr/>
        </p:nvSpPr>
        <p:spPr>
          <a:xfrm>
            <a:off x="6437376" y="17465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6583680" y="17465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8" name="Text 26"/>
          <p:cNvSpPr/>
          <p:nvPr/>
        </p:nvSpPr>
        <p:spPr>
          <a:xfrm>
            <a:off x="10149840" y="1691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media.html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82512" y="1984248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src=</a:t>
            </a:r>
            <a:r>
              <a:rPr lang="en-US" sz="11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"cat.jpg"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alt=</a:t>
            </a:r>
            <a:r>
              <a:rPr lang="en-US" sz="11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sleepy cat"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&lt;audio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controls&gt;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&lt;source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src=</a:t>
            </a:r>
            <a:r>
              <a:rPr lang="en-US" sz="11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"song.mp3"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&lt;/audio&gt;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&lt;video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controls width=</a:t>
            </a:r>
            <a:r>
              <a:rPr lang="en-US" sz="11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"480"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&lt;source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src=</a:t>
            </a:r>
            <a:r>
              <a:rPr lang="en-US" sz="11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"clip.mp4"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&lt;/video&gt;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&lt;iframe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src=</a:t>
            </a:r>
            <a:r>
              <a:rPr lang="en-US" sz="11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"map.html"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&gt;&lt;/iframe&gt;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13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TABLES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Rows, Columns &amp; Spans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are for tabular data — never for page layout.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600200" cy="502920"/>
          </a:xfrm>
          <a:prstGeom prst="rect">
            <a:avLst/>
          </a:prstGeom>
          <a:solidFill>
            <a:srgbClr val="E44D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031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148840" y="2103120"/>
            <a:ext cx="1600200" cy="502920"/>
          </a:xfrm>
          <a:prstGeom prst="rect">
            <a:avLst/>
          </a:prstGeom>
          <a:solidFill>
            <a:srgbClr val="E44D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21031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749040" y="2103120"/>
            <a:ext cx="1600200" cy="502920"/>
          </a:xfrm>
          <a:prstGeom prst="rect">
            <a:avLst/>
          </a:prstGeom>
          <a:solidFill>
            <a:srgbClr val="E44D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21031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1600200" cy="502920"/>
          </a:xfrm>
          <a:prstGeom prst="rect">
            <a:avLst/>
          </a:prstGeom>
          <a:solidFill>
            <a:srgbClr val="F6F7FB"/>
          </a:solidFill>
          <a:ln w="12700">
            <a:solidFill>
              <a:srgbClr val="E1E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06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48840" y="2606040"/>
            <a:ext cx="1600200" cy="502920"/>
          </a:xfrm>
          <a:prstGeom prst="rect">
            <a:avLst/>
          </a:prstGeom>
          <a:solidFill>
            <a:srgbClr val="F6F7FB"/>
          </a:solidFill>
          <a:ln w="12700">
            <a:solidFill>
              <a:srgbClr val="E1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2606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49040" y="2606040"/>
            <a:ext cx="1600200" cy="502920"/>
          </a:xfrm>
          <a:prstGeom prst="rect">
            <a:avLst/>
          </a:prstGeom>
          <a:solidFill>
            <a:srgbClr val="F6F7FB"/>
          </a:solidFill>
          <a:ln w="12700">
            <a:solidFill>
              <a:srgbClr val="E1E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2606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1600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089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148840" y="3108960"/>
            <a:ext cx="1600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48840" y="31089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49040" y="3108960"/>
            <a:ext cx="1600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31089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7947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&lt;thead&gt; = header row   ·   &lt;tbody&gt; = data rows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384048" cy="384048"/>
          </a:xfrm>
          <a:prstGeom prst="ellipse">
            <a:avLst/>
          </a:prstGeom>
          <a:solidFill>
            <a:srgbClr val="264DE4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78992" y="480060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colspan / rowspan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78992" y="509320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 cell across columns or rows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126480" y="1600200"/>
            <a:ext cx="5486400" cy="4617720"/>
          </a:xfrm>
          <a:prstGeom prst="roundRect">
            <a:avLst>
              <a:gd name="adj" fmla="val 1782"/>
            </a:avLst>
          </a:prstGeom>
          <a:solidFill>
            <a:srgbClr val="14172B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91072" y="17465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7376" y="17465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1" name="Shape 29"/>
          <p:cNvSpPr/>
          <p:nvPr/>
        </p:nvSpPr>
        <p:spPr>
          <a:xfrm>
            <a:off x="6583680" y="17465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2" name="Text 30"/>
          <p:cNvSpPr/>
          <p:nvPr/>
        </p:nvSpPr>
        <p:spPr>
          <a:xfrm>
            <a:off x="10149840" y="1691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table.html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82512" y="1984248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&lt;thead&gt;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&lt;tr&gt;&lt;th&gt;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&lt;/th&gt;&lt;th&gt;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&lt;/th&gt;&lt;/tr&gt;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&lt;/thead&gt;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&lt;tbody&gt;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colspan=</a:t>
            </a:r>
            <a:r>
              <a:rPr lang="en-US" sz="11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"2"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$9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&lt;/tr&gt;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&lt;/tbody&gt;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13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FORMS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Collecting Input With Forms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E44D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8992" y="155448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&lt;form action method&gt;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184708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appends data to the URL, POST sends it in the request body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384048" cy="384048"/>
          </a:xfrm>
          <a:prstGeom prst="ellipse">
            <a:avLst/>
          </a:prstGeom>
          <a:solidFill>
            <a:srgbClr val="E44D2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8992" y="233172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&lt;input type="..."&gt;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78992" y="262432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email, password, checkbox, radio, date...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384048" cy="384048"/>
          </a:xfrm>
          <a:prstGeom prst="ellipse">
            <a:avLst/>
          </a:prstGeom>
          <a:solidFill>
            <a:srgbClr val="264DE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8992" y="310896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&lt;select&gt; / &lt;option&gt;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8992" y="340156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dropdown list of choices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84048" cy="384048"/>
          </a:xfrm>
          <a:prstGeom prst="ellipse">
            <a:avLst/>
          </a:prstGeom>
          <a:solidFill>
            <a:srgbClr val="264DE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8992" y="388620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&lt;textarea&gt;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78992" y="417880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multi-line text field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384048" cy="38404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8992" y="466344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/ pattern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78992" y="495604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validation before submit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26480" y="1600200"/>
            <a:ext cx="5486400" cy="4892040"/>
          </a:xfrm>
          <a:prstGeom prst="roundRect">
            <a:avLst>
              <a:gd name="adj" fmla="val 1682"/>
            </a:avLst>
          </a:prstGeom>
          <a:solidFill>
            <a:srgbClr val="14172B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91072" y="17465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6" name="Shape 24"/>
          <p:cNvSpPr/>
          <p:nvPr/>
        </p:nvSpPr>
        <p:spPr>
          <a:xfrm>
            <a:off x="6437376" y="17465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6583680" y="17465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8" name="Text 26"/>
          <p:cNvSpPr/>
          <p:nvPr/>
        </p:nvSpPr>
        <p:spPr>
          <a:xfrm>
            <a:off x="10149840" y="1691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signup.html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82512" y="1984248"/>
            <a:ext cx="5029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action=</a:t>
            </a:r>
            <a:r>
              <a:rPr lang="en-US" sz="11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"/submit"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method=</a:t>
            </a:r>
            <a:r>
              <a:rPr lang="en-US" sz="11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"post"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for=</a:t>
            </a:r>
            <a:r>
              <a:rPr lang="en-US" sz="11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&gt;Email&lt;/label&gt;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id=</a:t>
            </a:r>
            <a:r>
              <a:rPr lang="en-US" sz="11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type=</a:t>
            </a:r>
            <a:r>
              <a:rPr lang="en-US" sz="11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required&gt;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&lt;select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name=</a:t>
            </a:r>
            <a:r>
              <a:rPr lang="en-US" sz="11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"plan"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&lt;option&gt;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&lt;/option&gt;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&lt;/select&gt;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&lt;textarea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rows=</a:t>
            </a:r>
            <a:r>
              <a:rPr lang="en-US" sz="11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"4"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&gt;&lt;/textarea&gt;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type=</a:t>
            </a:r>
            <a:r>
              <a:rPr lang="en-US" sz="11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&gt;Sign Up&lt;/button&gt;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SEMANTIC HTML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That Explains Itself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generic &lt;div&gt;s for tags that describe their purpose — better accessibility and SEO for free.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2B3155"/>
          </a:solidFill>
          <a:ln w="12700">
            <a:solidFill>
              <a:srgbClr val="3A40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4028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1B1F3B"/>
          </a:solidFill>
          <a:ln w="15875">
            <a:solidFill>
              <a:srgbClr val="E44D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40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4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4663440" cy="384048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 w="15875">
            <a:solidFill>
              <a:srgbClr val="264D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8803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401568"/>
            <a:ext cx="4663440" cy="822960"/>
          </a:xfrm>
          <a:prstGeom prst="roundRect">
            <a:avLst>
              <a:gd name="adj" fmla="val 6667"/>
            </a:avLst>
          </a:prstGeom>
          <a:solidFill>
            <a:srgbClr val="1B1F3B"/>
          </a:solidFill>
          <a:ln w="15875">
            <a:solidFill>
              <a:srgbClr val="27C9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4015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C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361688"/>
            <a:ext cx="4663440" cy="54864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 w="15875">
            <a:solidFill>
              <a:srgbClr val="FFBD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3616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5047488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1B1F3B"/>
          </a:solidFill>
          <a:ln w="15875">
            <a:solidFill>
              <a:srgbClr val="E44D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50474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4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89320" y="2057400"/>
            <a:ext cx="5623560" cy="3794760"/>
          </a:xfrm>
          <a:prstGeom prst="roundRect">
            <a:avLst>
              <a:gd name="adj" fmla="val 2169"/>
            </a:avLst>
          </a:prstGeom>
          <a:solidFill>
            <a:srgbClr val="14172B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53912" y="22037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0216" y="22037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6520" y="22037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10149840" y="21488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layout.html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45352" y="2441448"/>
            <a:ext cx="5166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r>
              <a:rPr lang="en-US" sz="12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r>
              <a:rPr lang="en-US" sz="125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r>
              <a:rPr lang="en-US" sz="12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r>
              <a:rPr lang="en-US" sz="125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&lt;/nav&gt;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&lt;article&gt;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&lt;h2&gt;Post Title&lt;/h2&gt;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&lt;p&gt;Post content...&lt;/p&gt;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&lt;/article&gt;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&lt;aside&gt;Related links&lt;/aside&gt;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&lt;/main&gt;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r>
              <a:rPr lang="en-US" sz="12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r>
              <a:rPr lang="en-US" sz="125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&lt;/footer&gt;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13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DIV, SPAN &amp; ATTRIBUTES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Containers &amp; Global Attributes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E44D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8992" y="155448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&lt;div&gt;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184708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block-level container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rgbClr val="E44D2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8992" y="224028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&lt;span&gt;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78992" y="253288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inline container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384048" cy="384048"/>
          </a:xfrm>
          <a:prstGeom prst="ellipse">
            <a:avLst/>
          </a:prstGeom>
          <a:solidFill>
            <a:srgbClr val="264DE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8992" y="292608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id="..."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8992" y="321868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unique identifier per page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384048" cy="384048"/>
          </a:xfrm>
          <a:prstGeom prst="ellipse">
            <a:avLst/>
          </a:prstGeom>
          <a:solidFill>
            <a:srgbClr val="264DE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8992" y="361188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class="..."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78992" y="390448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label shared by many elements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384048" cy="38404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8992" y="429768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style="..."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78992" y="459028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CSS for a single element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384048" cy="38404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78992" y="498348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data-*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78992" y="527608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data attributes for scripting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126480" y="1600200"/>
            <a:ext cx="5486400" cy="4892040"/>
          </a:xfrm>
          <a:prstGeom prst="roundRect">
            <a:avLst>
              <a:gd name="adj" fmla="val 1682"/>
            </a:avLst>
          </a:prstGeom>
          <a:solidFill>
            <a:srgbClr val="14172B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91072" y="17465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7376" y="17465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1" name="Shape 29"/>
          <p:cNvSpPr/>
          <p:nvPr/>
        </p:nvSpPr>
        <p:spPr>
          <a:xfrm>
            <a:off x="6583680" y="17465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2" name="Text 30"/>
          <p:cNvSpPr/>
          <p:nvPr/>
        </p:nvSpPr>
        <p:spPr>
          <a:xfrm>
            <a:off x="10149840" y="1691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attrs.html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82512" y="1984248"/>
            <a:ext cx="5029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id=</a:t>
            </a:r>
            <a:r>
              <a:rPr lang="en-US" sz="12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"main-banner"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class=</a:t>
            </a:r>
            <a:r>
              <a:rPr lang="en-US" sz="12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"card highlight"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data-user-id=</a:t>
            </a:r>
            <a:r>
              <a:rPr lang="en-US" sz="12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"482"</a:t>
            </a: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&lt;span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style=</a:t>
            </a:r>
            <a:r>
              <a:rPr lang="en-US" sz="12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"color:red"</a:t>
            </a: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New!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&lt;/span&gt;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class = reusable, id = one-off */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13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METADATA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Goes In &lt;head&gt;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never renders on the page — it describes the page to browsers, search engines, and social previews.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84048" cy="384048"/>
          </a:xfrm>
          <a:prstGeom prst="ellipse">
            <a:avLst/>
          </a:prstGeom>
          <a:solidFill>
            <a:srgbClr val="E44D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210312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&lt;title&gt;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78992" y="239572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in the browser tab and search results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E44D2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8992" y="283464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charset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78992" y="312724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character encoding (usually UTF-8)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384048" cy="384048"/>
          </a:xfrm>
          <a:prstGeom prst="ellipse">
            <a:avLst/>
          </a:prstGeom>
          <a:solidFill>
            <a:srgbClr val="264DE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8992" y="356616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viewport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78992" y="385876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scaling on mobile devices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384048" cy="384048"/>
          </a:xfrm>
          <a:prstGeom prst="ellipse">
            <a:avLst/>
          </a:prstGeom>
          <a:solidFill>
            <a:srgbClr val="264DE4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8992" y="429768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description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78992" y="459028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shown in search engine results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384048" cy="38404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78992" y="502920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&lt;link rel&gt;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78992" y="532180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a stylesheet or favicon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0" y="1600200"/>
            <a:ext cx="5486400" cy="4892040"/>
          </a:xfrm>
          <a:prstGeom prst="roundRect">
            <a:avLst>
              <a:gd name="adj" fmla="val 1682"/>
            </a:avLst>
          </a:prstGeom>
          <a:solidFill>
            <a:srgbClr val="14172B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91072" y="17465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7" name="Shape 25"/>
          <p:cNvSpPr/>
          <p:nvPr/>
        </p:nvSpPr>
        <p:spPr>
          <a:xfrm>
            <a:off x="6437376" y="17465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8" name="Shape 26"/>
          <p:cNvSpPr/>
          <p:nvPr/>
        </p:nvSpPr>
        <p:spPr>
          <a:xfrm>
            <a:off x="6583680" y="17465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9" name="Text 27"/>
          <p:cNvSpPr/>
          <p:nvPr/>
        </p:nvSpPr>
        <p:spPr>
          <a:xfrm>
            <a:off x="10149840" y="1691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head.html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82512" y="1984248"/>
            <a:ext cx="5029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charset=</a:t>
            </a:r>
            <a:r>
              <a:rPr lang="en-US" sz="11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name=</a:t>
            </a:r>
            <a:r>
              <a:rPr lang="en-US" sz="11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"viewport"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content=</a:t>
            </a:r>
            <a:r>
              <a:rPr lang="en-US" sz="11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"width=device-width"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name=</a:t>
            </a:r>
            <a:r>
              <a:rPr lang="en-US" sz="11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"description"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content=</a:t>
            </a:r>
            <a:r>
              <a:rPr lang="en-US" sz="11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"Learn HTML &amp; CSS fast"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Crash Course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&lt;/title&gt;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&lt;link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rel=</a:t>
            </a:r>
            <a:r>
              <a:rPr lang="en-US" sz="11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"stylesheet"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href=</a:t>
            </a:r>
            <a:r>
              <a:rPr lang="en-US" sz="11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"style.css"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&lt;link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rel=</a:t>
            </a:r>
            <a:r>
              <a:rPr lang="en-US" sz="11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"icon"</a:t>
            </a:r>
            <a:r>
              <a:rPr lang="en-US" sz="11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href=</a:t>
            </a:r>
            <a:r>
              <a:rPr lang="en-US" sz="11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"favicon.ico"</a:t>
            </a: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CSS ESSENTIALS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CSS?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Style Sheets — the language that styles and lays out HTML content.</a:t>
            </a:r>
            <a:endParaRPr lang="en-US" sz="1300" dirty="0"/>
          </a:p>
        </p:txBody>
      </p:sp>
      <p:sp>
        <p:nvSpPr>
          <p:cNvPr id="5" name="Shape"/>
          <p:cNvSpPr/>
          <p:nvPr/>
        </p:nvSpPr>
        <p:spPr>
          <a:xfrm>
            <a:off x="548640" y="2148840"/>
            <a:ext cx="384048" cy="384048"/>
          </a:xfrm>
          <a:prstGeom prst="ellipse">
            <a:avLst/>
          </a:prstGeom>
          <a:solidFill>
            <a:srgbClr val="264DE4"/>
          </a:solidFill>
          <a:ln/>
        </p:spPr>
      </p:sp>
      <p:sp>
        <p:nvSpPr>
          <p:cNvPr id="6" name="Text"/>
          <p:cNvSpPr/>
          <p:nvPr/>
        </p:nvSpPr>
        <p:spPr>
          <a:xfrm>
            <a:off x="5486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7" name="Text"/>
          <p:cNvSpPr/>
          <p:nvPr/>
        </p:nvSpPr>
        <p:spPr>
          <a:xfrm>
            <a:off x="1078992" y="210312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Styling Language</a:t>
            </a:r>
            <a:endParaRPr lang="en-US" sz="1500" dirty="0"/>
          </a:p>
        </p:txBody>
      </p:sp>
      <p:sp>
        <p:nvSpPr>
          <p:cNvPr id="8" name="Text"/>
          <p:cNvSpPr/>
          <p:nvPr/>
        </p:nvSpPr>
        <p:spPr>
          <a:xfrm>
            <a:off x="1078992" y="239572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color, spacing, fonts, and layout — everything HTML leaves plain.</a:t>
            </a:r>
            <a:endParaRPr lang="en-US" sz="1250" dirty="0"/>
          </a:p>
        </p:txBody>
      </p:sp>
      <p:sp>
        <p:nvSpPr>
          <p:cNvPr id="9" name="Shape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264DE4"/>
          </a:solidFill>
          <a:ln/>
        </p:spPr>
      </p:sp>
      <p:sp>
        <p:nvSpPr>
          <p:cNvPr id="10" name="Text"/>
          <p:cNvSpPr/>
          <p:nvPr/>
        </p:nvSpPr>
        <p:spPr>
          <a:xfrm>
            <a:off x="5486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11" name="Text"/>
          <p:cNvSpPr/>
          <p:nvPr/>
        </p:nvSpPr>
        <p:spPr>
          <a:xfrm>
            <a:off x="1078992" y="283464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Selectors</a:t>
            </a:r>
            <a:endParaRPr lang="en-US" sz="1500" dirty="0"/>
          </a:p>
        </p:txBody>
      </p:sp>
      <p:sp>
        <p:nvSpPr>
          <p:cNvPr id="12" name="Text"/>
          <p:cNvSpPr/>
          <p:nvPr/>
        </p:nvSpPr>
        <p:spPr>
          <a:xfrm>
            <a:off x="1078992" y="312724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rule targets elements with a selector, then sets their properties.</a:t>
            </a:r>
            <a:endParaRPr lang="en-US" sz="1250" dirty="0"/>
          </a:p>
        </p:txBody>
      </p:sp>
      <p:sp>
        <p:nvSpPr>
          <p:cNvPr id="13" name="Shape"/>
          <p:cNvSpPr/>
          <p:nvPr/>
        </p:nvSpPr>
        <p:spPr>
          <a:xfrm>
            <a:off x="548640" y="3611880"/>
            <a:ext cx="384048" cy="384048"/>
          </a:xfrm>
          <a:prstGeom prst="ellipse">
            <a:avLst/>
          </a:prstGeom>
          <a:solidFill>
            <a:srgbClr val="264DE4"/>
          </a:solidFill>
          <a:ln/>
        </p:spPr>
      </p:sp>
      <p:sp>
        <p:nvSpPr>
          <p:cNvPr id="14" name="Text"/>
          <p:cNvSpPr/>
          <p:nvPr/>
        </p:nvSpPr>
        <p:spPr>
          <a:xfrm>
            <a:off x="54864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5" name="Text"/>
          <p:cNvSpPr/>
          <p:nvPr/>
        </p:nvSpPr>
        <p:spPr>
          <a:xfrm>
            <a:off x="1078992" y="356616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</a:t>
            </a:r>
            <a:endParaRPr lang="en-US" sz="1500" dirty="0"/>
          </a:p>
        </p:txBody>
      </p:sp>
      <p:sp>
        <p:nvSpPr>
          <p:cNvPr id="16" name="Text"/>
          <p:cNvSpPr/>
          <p:nvPr/>
        </p:nvSpPr>
        <p:spPr>
          <a:xfrm>
            <a:off x="1078992" y="385876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rules conflict, specificity and source order decide which one wins.</a:t>
            </a:r>
            <a:endParaRPr lang="en-US" sz="1250" dirty="0"/>
          </a:p>
        </p:txBody>
      </p:sp>
      <p:sp>
        <p:nvSpPr>
          <p:cNvPr id="17" name="Shape"/>
          <p:cNvSpPr/>
          <p:nvPr/>
        </p:nvSpPr>
        <p:spPr>
          <a:xfrm>
            <a:off x="548640" y="4343400"/>
            <a:ext cx="384048" cy="384048"/>
          </a:xfrm>
          <a:prstGeom prst="ellipse">
            <a:avLst/>
          </a:prstGeom>
          <a:solidFill>
            <a:srgbClr val="264DE4"/>
          </a:solidFill>
          <a:ln/>
        </p:spPr>
      </p:sp>
      <p:sp>
        <p:nvSpPr>
          <p:cNvPr id="18" name="Text"/>
          <p:cNvSpPr/>
          <p:nvPr/>
        </p:nvSpPr>
        <p:spPr>
          <a:xfrm>
            <a:off x="54864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600" dirty="0"/>
          </a:p>
        </p:txBody>
      </p:sp>
      <p:sp>
        <p:nvSpPr>
          <p:cNvPr id="19" name="Text"/>
          <p:cNvSpPr/>
          <p:nvPr/>
        </p:nvSpPr>
        <p:spPr>
          <a:xfrm>
            <a:off x="1078992" y="429768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500" dirty="0"/>
          </a:p>
        </p:txBody>
      </p:sp>
      <p:sp>
        <p:nvSpPr>
          <p:cNvPr id="20" name="Text"/>
          <p:cNvSpPr/>
          <p:nvPr/>
        </p:nvSpPr>
        <p:spPr>
          <a:xfrm>
            <a:off x="1078992" y="459028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style in CSS keeps HTML focused purely on structure and meaning.</a:t>
            </a:r>
            <a:endParaRPr lang="en-US" sz="1250" dirty="0"/>
          </a:p>
        </p:txBody>
      </p:sp>
      <p:sp>
        <p:nvSpPr>
          <p:cNvPr id="21" name="Shape"/>
          <p:cNvSpPr/>
          <p:nvPr/>
        </p:nvSpPr>
        <p:spPr>
          <a:xfrm>
            <a:off x="548640" y="5074920"/>
            <a:ext cx="384048" cy="384048"/>
          </a:xfrm>
          <a:prstGeom prst="ellipse">
            <a:avLst/>
          </a:prstGeom>
          <a:solidFill>
            <a:srgbClr val="6B7080"/>
          </a:solidFill>
          <a:ln/>
        </p:spPr>
      </p:sp>
      <p:sp>
        <p:nvSpPr>
          <p:cNvPr id="22" name="Text"/>
          <p:cNvSpPr/>
          <p:nvPr/>
        </p:nvSpPr>
        <p:spPr>
          <a:xfrm>
            <a:off x="54864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3" name="Text"/>
          <p:cNvSpPr/>
          <p:nvPr/>
        </p:nvSpPr>
        <p:spPr>
          <a:xfrm>
            <a:off x="1078992" y="502920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Optional For Real Sites</a:t>
            </a:r>
            <a:endParaRPr lang="en-US" sz="1500" dirty="0"/>
          </a:p>
        </p:txBody>
      </p:sp>
      <p:sp>
        <p:nvSpPr>
          <p:cNvPr id="24" name="Text"/>
          <p:cNvSpPr/>
          <p:nvPr/>
        </p:nvSpPr>
        <p:spPr>
          <a:xfrm>
            <a:off x="1078992" y="532180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every page renders as plain, unstyled black-and-white text.</a:t>
            </a:r>
            <a:endParaRPr lang="en-US" sz="1250" dirty="0"/>
          </a:p>
        </p:txBody>
      </p:sp>
      <p:sp>
        <p:nvSpPr>
          <p:cNvPr id="25" name="Shape"/>
          <p:cNvSpPr/>
          <p:nvPr/>
        </p:nvSpPr>
        <p:spPr>
          <a:xfrm>
            <a:off x="6126480" y="1600200"/>
            <a:ext cx="5486400" cy="4892040"/>
          </a:xfrm>
          <a:prstGeom prst="roundRect">
            <a:avLst>
              <a:gd name="adj" fmla="val 1682"/>
            </a:avLst>
          </a:prstGeom>
          <a:solidFill>
            <a:srgbClr val="14172B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"/>
          <p:cNvSpPr/>
          <p:nvPr/>
        </p:nvSpPr>
        <p:spPr>
          <a:xfrm>
            <a:off x="6291072" y="17465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7" name="Shape"/>
          <p:cNvSpPr/>
          <p:nvPr/>
        </p:nvSpPr>
        <p:spPr>
          <a:xfrm>
            <a:off x="6437376" y="17465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8" name="Shape"/>
          <p:cNvSpPr/>
          <p:nvPr/>
        </p:nvSpPr>
        <p:spPr>
          <a:xfrm>
            <a:off x="6583680" y="17465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9" name="Text"/>
          <p:cNvSpPr/>
          <p:nvPr/>
        </p:nvSpPr>
        <p:spPr>
          <a:xfrm>
            <a:off x="10149840" y="1691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950" dirty="0"/>
          </a:p>
        </p:txBody>
      </p:sp>
      <p:sp>
        <p:nvSpPr>
          <p:cNvPr id="30" name="Text"/>
          <p:cNvSpPr/>
          <p:nvPr/>
        </p:nvSpPr>
        <p:spPr>
          <a:xfrm>
            <a:off x="6382512" y="1984248"/>
            <a:ext cx="5029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</a:t>
            </a: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navy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</a:t>
            </a: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16px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1px solid #ddd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CSS ESSENTIALS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Linking HTML &amp; CSS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connect a stylesheet to a page — pick one, don't mix all three.</a:t>
            </a:r>
            <a:endParaRPr lang="en-US" sz="1300" dirty="0"/>
          </a:p>
        </p:txBody>
      </p:sp>
      <p:sp>
        <p:nvSpPr>
          <p:cNvPr id="5" name="Shape"/>
          <p:cNvSpPr/>
          <p:nvPr/>
        </p:nvSpPr>
        <p:spPr>
          <a:xfrm>
            <a:off x="548640" y="2148840"/>
            <a:ext cx="384048" cy="384048"/>
          </a:xfrm>
          <a:prstGeom prst="ellipse">
            <a:avLst/>
          </a:prstGeom>
          <a:solidFill>
            <a:srgbClr val="264DE4"/>
          </a:solidFill>
          <a:ln/>
        </p:spPr>
      </p:sp>
      <p:sp>
        <p:nvSpPr>
          <p:cNvPr id="6" name="Text"/>
          <p:cNvSpPr/>
          <p:nvPr/>
        </p:nvSpPr>
        <p:spPr>
          <a:xfrm>
            <a:off x="5486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"/>
          <p:cNvSpPr/>
          <p:nvPr/>
        </p:nvSpPr>
        <p:spPr>
          <a:xfrm>
            <a:off x="1078992" y="210312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Stylesheet</a:t>
            </a:r>
            <a:endParaRPr lang="en-US" sz="1500" dirty="0"/>
          </a:p>
        </p:txBody>
      </p:sp>
      <p:sp>
        <p:nvSpPr>
          <p:cNvPr id="8" name="Text"/>
          <p:cNvSpPr/>
          <p:nvPr/>
        </p:nvSpPr>
        <p:spPr>
          <a:xfrm>
            <a:off x="1078992" y="239572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 separate .css file with &lt;link&gt; inside &lt;head&gt; — the standard approach.</a:t>
            </a:r>
            <a:endParaRPr lang="en-US" sz="1250" dirty="0"/>
          </a:p>
        </p:txBody>
      </p:sp>
      <p:sp>
        <p:nvSpPr>
          <p:cNvPr id="9" name="Shape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264DE4"/>
          </a:solidFill>
          <a:ln/>
        </p:spPr>
      </p:sp>
      <p:sp>
        <p:nvSpPr>
          <p:cNvPr id="10" name="Text"/>
          <p:cNvSpPr/>
          <p:nvPr/>
        </p:nvSpPr>
        <p:spPr>
          <a:xfrm>
            <a:off x="5486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"/>
          <p:cNvSpPr/>
          <p:nvPr/>
        </p:nvSpPr>
        <p:spPr>
          <a:xfrm>
            <a:off x="1078992" y="283464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&lt;style&gt;</a:t>
            </a:r>
            <a:endParaRPr lang="en-US" sz="1500" dirty="0"/>
          </a:p>
        </p:txBody>
      </p:sp>
      <p:sp>
        <p:nvSpPr>
          <p:cNvPr id="12" name="Text"/>
          <p:cNvSpPr/>
          <p:nvPr/>
        </p:nvSpPr>
        <p:spPr>
          <a:xfrm>
            <a:off x="1078992" y="312724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CSS rules directly in a &lt;style&gt; block inside &lt;head&gt;, no file needed.</a:t>
            </a:r>
            <a:endParaRPr lang="en-US" sz="1250" dirty="0"/>
          </a:p>
        </p:txBody>
      </p:sp>
      <p:sp>
        <p:nvSpPr>
          <p:cNvPr id="13" name="Shape"/>
          <p:cNvSpPr/>
          <p:nvPr/>
        </p:nvSpPr>
        <p:spPr>
          <a:xfrm>
            <a:off x="548640" y="3611880"/>
            <a:ext cx="384048" cy="384048"/>
          </a:xfrm>
          <a:prstGeom prst="ellipse">
            <a:avLst/>
          </a:prstGeom>
          <a:solidFill>
            <a:srgbClr val="264DE4"/>
          </a:solidFill>
          <a:ln/>
        </p:spPr>
      </p:sp>
      <p:sp>
        <p:nvSpPr>
          <p:cNvPr id="14" name="Text"/>
          <p:cNvSpPr/>
          <p:nvPr/>
        </p:nvSpPr>
        <p:spPr>
          <a:xfrm>
            <a:off x="54864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"/>
          <p:cNvSpPr/>
          <p:nvPr/>
        </p:nvSpPr>
        <p:spPr>
          <a:xfrm>
            <a:off x="1078992" y="356616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style Attribute</a:t>
            </a:r>
            <a:endParaRPr lang="en-US" sz="1500" dirty="0"/>
          </a:p>
        </p:txBody>
      </p:sp>
      <p:sp>
        <p:nvSpPr>
          <p:cNvPr id="16" name="Text"/>
          <p:cNvSpPr/>
          <p:nvPr/>
        </p:nvSpPr>
        <p:spPr>
          <a:xfrm>
            <a:off x="1078992" y="385876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a single element directly with style="..." — hardest to maintain.</a:t>
            </a:r>
            <a:endParaRPr lang="en-US" sz="1250" dirty="0"/>
          </a:p>
        </p:txBody>
      </p:sp>
      <p:sp>
        <p:nvSpPr>
          <p:cNvPr id="17" name="Shape"/>
          <p:cNvSpPr/>
          <p:nvPr/>
        </p:nvSpPr>
        <p:spPr>
          <a:xfrm>
            <a:off x="548640" y="4343400"/>
            <a:ext cx="384048" cy="38404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"/>
          <p:cNvSpPr/>
          <p:nvPr/>
        </p:nvSpPr>
        <p:spPr>
          <a:xfrm>
            <a:off x="54864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"/>
          <p:cNvSpPr/>
          <p:nvPr/>
        </p:nvSpPr>
        <p:spPr>
          <a:xfrm>
            <a:off x="1078992" y="429768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</a:t>
            </a:r>
            <a:endParaRPr lang="en-US" sz="1500" dirty="0"/>
          </a:p>
        </p:txBody>
      </p:sp>
      <p:sp>
        <p:nvSpPr>
          <p:cNvPr id="20" name="Text"/>
          <p:cNvSpPr/>
          <p:nvPr/>
        </p:nvSpPr>
        <p:spPr>
          <a:xfrm>
            <a:off x="1078992" y="459028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external stylesheets — they're cacheable and keep style out of markup.</a:t>
            </a:r>
            <a:endParaRPr lang="en-US" sz="1250" dirty="0"/>
          </a:p>
        </p:txBody>
      </p:sp>
      <p:sp>
        <p:nvSpPr>
          <p:cNvPr id="21" name="Shape"/>
          <p:cNvSpPr/>
          <p:nvPr/>
        </p:nvSpPr>
        <p:spPr>
          <a:xfrm>
            <a:off x="6126480" y="1600200"/>
            <a:ext cx="5486400" cy="4892040"/>
          </a:xfrm>
          <a:prstGeom prst="roundRect">
            <a:avLst>
              <a:gd name="adj" fmla="val 1682"/>
            </a:avLst>
          </a:prstGeom>
          <a:solidFill>
            <a:srgbClr val="14172B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"/>
          <p:cNvSpPr/>
          <p:nvPr/>
        </p:nvSpPr>
        <p:spPr>
          <a:xfrm>
            <a:off x="6291072" y="17465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3" name="Shape"/>
          <p:cNvSpPr/>
          <p:nvPr/>
        </p:nvSpPr>
        <p:spPr>
          <a:xfrm>
            <a:off x="6437376" y="17465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"/>
          <p:cNvSpPr/>
          <p:nvPr/>
        </p:nvSpPr>
        <p:spPr>
          <a:xfrm>
            <a:off x="6583680" y="17465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5" name="Text"/>
          <p:cNvSpPr/>
          <p:nvPr/>
        </p:nvSpPr>
        <p:spPr>
          <a:xfrm>
            <a:off x="10149840" y="1691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26" name="Text"/>
          <p:cNvSpPr/>
          <p:nvPr/>
        </p:nvSpPr>
        <p:spPr>
          <a:xfrm>
            <a:off x="6382512" y="1984248"/>
            <a:ext cx="5029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&lt;link 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rel=</a:t>
            </a:r>
            <a:r>
              <a:rPr lang="en-US" sz="12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"stylesheet" 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href=</a:t>
            </a:r>
            <a:r>
              <a:rPr lang="en-US" sz="12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"styles.css"</a:t>
            </a: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&lt;style&gt;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</a:t>
            </a: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r>
              <a:rPr lang="en-US" sz="12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navy</a:t>
            </a: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&lt;/style&gt;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 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style=</a:t>
            </a:r>
            <a:r>
              <a:rPr lang="en-US" sz="12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"color: navy;"</a:t>
            </a: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&lt;/h1&gt;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250" dirty="0"/>
          </a:p>
        </p:txBody>
      </p:sp>
      <p:sp>
        <p:nvSpPr>
          <p:cNvPr id="27" name="Text 2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63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CSS ESSENTIALS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CSS Rule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1417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</a:t>
            </a:r>
            <a:r>
              <a:rPr lang="en-US" sz="22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r>
              <a:rPr lang="en-US" sz="22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22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22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navy</a:t>
            </a:r>
            <a:r>
              <a:rPr lang="en-US" sz="22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E44D2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315468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78992" y="344728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"p" — which elements this rule targets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384048" cy="384048"/>
          </a:xfrm>
          <a:prstGeom prst="ellipse">
            <a:avLst/>
          </a:prstGeom>
          <a:solidFill>
            <a:srgbClr val="264DE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8992" y="374904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78992" y="404164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"color" — the style aspect to change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384048" cy="38404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8992" y="434340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78992" y="463600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"navy" — what to set that property to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09360" y="1554480"/>
            <a:ext cx="5303520" cy="4480560"/>
          </a:xfrm>
          <a:prstGeom prst="roundRect">
            <a:avLst>
              <a:gd name="adj" fmla="val 1837"/>
            </a:avLst>
          </a:prstGeom>
          <a:solidFill>
            <a:srgbClr val="14172B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73952" y="17007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6620256" y="17007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766560" y="17007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10149840" y="1645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65392" y="1938528"/>
            <a:ext cx="48463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element selector */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 color: navy; 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class selector */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 padding: 1rem; 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id selector */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#logo { width: 120px; 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descendant selector */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 a { text-decoration: none; }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63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CSS ESSENTIALS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Box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is a box: content, padding, border, then margin — from the inside out.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566160" cy="3566160"/>
          </a:xfrm>
          <a:prstGeom prst="rect">
            <a:avLst/>
          </a:prstGeom>
          <a:solidFill>
            <a:srgbClr val="FDEBD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76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13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5840" y="2468880"/>
            <a:ext cx="2834640" cy="2834640"/>
          </a:xfrm>
          <a:prstGeom prst="rect">
            <a:avLst/>
          </a:prstGeom>
          <a:solidFill>
            <a:srgbClr val="E44D26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237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234440" y="2697480"/>
            <a:ext cx="2377440" cy="2377440"/>
          </a:xfrm>
          <a:prstGeom prst="rect">
            <a:avLst/>
          </a:prstGeom>
          <a:solidFill>
            <a:srgbClr val="D6E0FF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27614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3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600200" y="3154680"/>
            <a:ext cx="1645920" cy="146304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3703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103120"/>
            <a:ext cx="6903720" cy="3566160"/>
          </a:xfrm>
          <a:prstGeom prst="roundRect">
            <a:avLst>
              <a:gd name="adj" fmla="val 2308"/>
            </a:avLst>
          </a:prstGeom>
          <a:solidFill>
            <a:srgbClr val="14172B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73752" y="224942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0056" y="224942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166360" y="224942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/>
          <p:nvPr/>
        </p:nvSpPr>
        <p:spPr>
          <a:xfrm>
            <a:off x="10149840" y="21945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box-model.css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65192" y="2487168"/>
            <a:ext cx="64465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200px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20px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    </a:t>
            </a:r>
            <a:r>
              <a:rPr lang="en-US" sz="12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inner space */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4px solid orange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16px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      </a:t>
            </a:r>
            <a:r>
              <a:rPr lang="en-US" sz="12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outer space */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box-sizing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border-box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63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CSS ESSENTIALS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 &amp; Typography Basics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E44D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8992" y="155448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formats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184708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Named, hex, rgb() or hsl() — all valid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384048" cy="384048"/>
          </a:xfrm>
          <a:prstGeom prst="ellipse">
            <a:avLst/>
          </a:prstGeom>
          <a:solidFill>
            <a:srgbClr val="E44D2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8992" y="228600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font-family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78992" y="257860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fallback fonts, most preferred first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384048" cy="384048"/>
          </a:xfrm>
          <a:prstGeom prst="ellipse">
            <a:avLst/>
          </a:prstGeom>
          <a:solidFill>
            <a:srgbClr val="264DE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8992" y="301752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font-size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8992" y="331012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 for fixed, rem for scalable text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384048" cy="384048"/>
          </a:xfrm>
          <a:prstGeom prst="ellipse">
            <a:avLst/>
          </a:prstGeom>
          <a:solidFill>
            <a:srgbClr val="264DE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8992" y="374904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font-weight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78992" y="404164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normal, 700 bold — or the keywords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384048" cy="38404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8992" y="448056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text-align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78992" y="477316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left, center, right, or justify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26480" y="1600200"/>
            <a:ext cx="5486400" cy="4526280"/>
          </a:xfrm>
          <a:prstGeom prst="roundRect">
            <a:avLst>
              <a:gd name="adj" fmla="val 1818"/>
            </a:avLst>
          </a:prstGeom>
          <a:solidFill>
            <a:srgbClr val="14172B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91072" y="17465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6" name="Shape 24"/>
          <p:cNvSpPr/>
          <p:nvPr/>
        </p:nvSpPr>
        <p:spPr>
          <a:xfrm>
            <a:off x="6437376" y="17465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6583680" y="17465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8" name="Text 26"/>
          <p:cNvSpPr/>
          <p:nvPr/>
        </p:nvSpPr>
        <p:spPr>
          <a:xfrm>
            <a:off x="10149840" y="1691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type.css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82512" y="1984248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#1B1F3B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"Helvetica", sans-serif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2.5rem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font-weight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700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text-align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rgb(90, 90, 110)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line-height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4C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CSS ESSENTIALS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Flexbox: One-Dimensional Layout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flex turns a container's children into a flexible row or column.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2B3155"/>
          </a:solidFill>
          <a:ln w="12700">
            <a:solidFill>
              <a:srgbClr val="3A407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822960" y="2377440"/>
            <a:ext cx="1371600" cy="1280160"/>
          </a:xfrm>
          <a:prstGeom prst="roundRect">
            <a:avLst>
              <a:gd name="adj" fmla="val 5000"/>
            </a:avLst>
          </a:prstGeom>
          <a:solidFill>
            <a:srgbClr val="E44D2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774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423160" y="2377440"/>
            <a:ext cx="1371600" cy="1280160"/>
          </a:xfrm>
          <a:prstGeom prst="roundRect">
            <a:avLst>
              <a:gd name="adj" fmla="val 5000"/>
            </a:avLst>
          </a:prstGeom>
          <a:solidFill>
            <a:srgbClr val="264DE4"/>
          </a:solidFill>
          <a:ln/>
        </p:spPr>
      </p:sp>
      <p:sp>
        <p:nvSpPr>
          <p:cNvPr id="9" name="Text 7"/>
          <p:cNvSpPr/>
          <p:nvPr/>
        </p:nvSpPr>
        <p:spPr>
          <a:xfrm>
            <a:off x="2423160" y="23774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023360" y="2377440"/>
            <a:ext cx="1371600" cy="1280160"/>
          </a:xfrm>
          <a:prstGeom prst="roundRect">
            <a:avLst>
              <a:gd name="adj" fmla="val 5000"/>
            </a:avLst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0" y="23774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" y="4069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justify-content: space-between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384048" cy="384048"/>
          </a:xfrm>
          <a:prstGeom prst="ellipse">
            <a:avLst/>
          </a:prstGeom>
          <a:solidFill>
            <a:srgbClr val="74C0F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8992" y="4526280"/>
            <a:ext cx="4590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78992" y="4818888"/>
            <a:ext cx="4590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E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children along the main axis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rgbClr val="74C0F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8992" y="5166360"/>
            <a:ext cx="4590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align-items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78992" y="5458968"/>
            <a:ext cx="4590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E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children along the cross axis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852160"/>
            <a:ext cx="384048" cy="384048"/>
          </a:xfrm>
          <a:prstGeom prst="ellipse">
            <a:avLst/>
          </a:prstGeom>
          <a:solidFill>
            <a:srgbClr val="74C0FC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852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78992" y="5806440"/>
            <a:ext cx="4590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78992" y="6099048"/>
            <a:ext cx="4590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E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between flex children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989320" y="2103120"/>
            <a:ext cx="5623560" cy="3749040"/>
          </a:xfrm>
          <a:prstGeom prst="roundRect">
            <a:avLst>
              <a:gd name="adj" fmla="val 2195"/>
            </a:avLst>
          </a:prstGeom>
          <a:solidFill>
            <a:srgbClr val="14172B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53912" y="224942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7" name="Shape 25"/>
          <p:cNvSpPr/>
          <p:nvPr/>
        </p:nvSpPr>
        <p:spPr>
          <a:xfrm>
            <a:off x="6300216" y="224942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8" name="Shape 26"/>
          <p:cNvSpPr/>
          <p:nvPr/>
        </p:nvSpPr>
        <p:spPr>
          <a:xfrm>
            <a:off x="6446520" y="224942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9" name="Text 27"/>
          <p:cNvSpPr/>
          <p:nvPr/>
        </p:nvSpPr>
        <p:spPr>
          <a:xfrm>
            <a:off x="10149840" y="21945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flex.css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45352" y="2487168"/>
            <a:ext cx="51663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justify-content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space-between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align-items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16px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.item { flex: 1; }  </a:t>
            </a:r>
            <a:r>
              <a:rPr lang="en-US" sz="12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grow equally */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63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CSS ESSENTIALS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Grid: Two-Dimensional Layout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grid arranges children into rows AND columns at once — ideal for full page layouts.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600200" cy="1600200"/>
          </a:xfrm>
          <a:prstGeom prst="roundRect">
            <a:avLst>
              <a:gd name="adj" fmla="val 4000"/>
            </a:avLst>
          </a:prstGeom>
          <a:solidFill>
            <a:srgbClr val="D6E0FF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0312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2103120"/>
            <a:ext cx="1600200" cy="1600200"/>
          </a:xfrm>
          <a:prstGeom prst="roundRect">
            <a:avLst>
              <a:gd name="adj" fmla="val 4000"/>
            </a:avLst>
          </a:prstGeom>
          <a:solidFill>
            <a:srgbClr val="FDEBD3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210312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0" y="2103120"/>
            <a:ext cx="1600200" cy="1600200"/>
          </a:xfrm>
          <a:prstGeom prst="roundRect">
            <a:avLst>
              <a:gd name="adj" fmla="val 4000"/>
            </a:avLst>
          </a:prstGeom>
          <a:solidFill>
            <a:srgbClr val="D6E0FF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210312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1600200" cy="1600200"/>
          </a:xfrm>
          <a:prstGeom prst="roundRect">
            <a:avLst>
              <a:gd name="adj" fmla="val 4000"/>
            </a:avLst>
          </a:prstGeom>
          <a:solidFill>
            <a:srgbClr val="FDEBD3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84048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0" y="3840480"/>
            <a:ext cx="1600200" cy="1600200"/>
          </a:xfrm>
          <a:prstGeom prst="roundRect">
            <a:avLst>
              <a:gd name="adj" fmla="val 4000"/>
            </a:avLst>
          </a:prstGeom>
          <a:solidFill>
            <a:srgbClr val="D6E0FF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384048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023360" y="3840480"/>
            <a:ext cx="1600200" cy="1600200"/>
          </a:xfrm>
          <a:prstGeom prst="roundRect">
            <a:avLst>
              <a:gd name="adj" fmla="val 4000"/>
            </a:avLst>
          </a:prstGeom>
          <a:solidFill>
            <a:srgbClr val="FDEBD3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384048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2103120"/>
            <a:ext cx="5486400" cy="3566160"/>
          </a:xfrm>
          <a:prstGeom prst="roundRect">
            <a:avLst>
              <a:gd name="adj" fmla="val 2308"/>
            </a:avLst>
          </a:prstGeom>
          <a:solidFill>
            <a:srgbClr val="14172B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91072" y="224942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7"/>
          <p:cNvSpPr/>
          <p:nvPr/>
        </p:nvSpPr>
        <p:spPr>
          <a:xfrm>
            <a:off x="6437376" y="224942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0" y="224942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0" y="21945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grid.css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82512" y="2487168"/>
            <a:ext cx="5029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.grid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repeat(3, 1fr)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12px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3 equal-width columns, */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rows sized to content */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63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CSS ESSENTIALS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Adapting To Any Screen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 apply CSS conditionally, based on the viewport's width, height, or orientation.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822960" cy="1554480"/>
          </a:xfrm>
          <a:prstGeom prst="roundRect">
            <a:avLst>
              <a:gd name="adj" fmla="val 11111"/>
            </a:avLst>
          </a:prstGeom>
          <a:solidFill>
            <a:srgbClr val="1B1F3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4480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13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&lt;600px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74520" y="2468880"/>
            <a:ext cx="1463040" cy="1920240"/>
          </a:xfrm>
          <a:prstGeom prst="roundRect">
            <a:avLst>
              <a:gd name="adj" fmla="val 6250"/>
            </a:avLst>
          </a:prstGeom>
          <a:solidFill>
            <a:srgbClr val="1B1F3B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91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13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600–1024px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94760" y="210312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1B1F3B"/>
          </a:solidFill>
          <a:ln/>
        </p:spPr>
      </p:sp>
      <p:sp>
        <p:nvSpPr>
          <p:cNvPr id="12" name="Shape 10"/>
          <p:cNvSpPr/>
          <p:nvPr/>
        </p:nvSpPr>
        <p:spPr>
          <a:xfrm>
            <a:off x="4709160" y="3657600"/>
            <a:ext cx="640080" cy="22860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13" name="Text 11"/>
          <p:cNvSpPr/>
          <p:nvPr/>
        </p:nvSpPr>
        <p:spPr>
          <a:xfrm>
            <a:off x="3794760" y="4023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94760" y="4297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13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&gt;1024px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75120" y="2103120"/>
            <a:ext cx="4937760" cy="4023360"/>
          </a:xfrm>
          <a:prstGeom prst="roundRect">
            <a:avLst>
              <a:gd name="adj" fmla="val 2045"/>
            </a:avLst>
          </a:prstGeom>
          <a:solidFill>
            <a:srgbClr val="14172B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39712" y="224942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5"/>
          <p:cNvSpPr/>
          <p:nvPr/>
        </p:nvSpPr>
        <p:spPr>
          <a:xfrm>
            <a:off x="6986016" y="224942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0" y="224942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7"/>
          <p:cNvSpPr/>
          <p:nvPr/>
        </p:nvSpPr>
        <p:spPr>
          <a:xfrm>
            <a:off x="10149840" y="21945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responsive.css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931152" y="2487168"/>
            <a:ext cx="44805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base: mobile styles */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flex-direction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768px)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.container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flex-direction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</a:t>
            </a: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Cheat Sheet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5029200"/>
          </a:xfrm>
          <a:prstGeom prst="roundRect">
            <a:avLst>
              <a:gd name="adj" fmla="val 1818"/>
            </a:avLst>
          </a:prstGeom>
          <a:solidFill>
            <a:srgbClr val="2B315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44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20574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doctype → html → head/body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262432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headings, p, strong/em, lists, blockquote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19125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319125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Links: href, target, relative vs absolute, #anchors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75818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37581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Media: img/alt, audio, video, iframe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32511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432511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Tables: tr/td/th with colspan &amp; rowspan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8920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48920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Forms: input types, select, textarea, required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4589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545896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tags + id/class/data-* attributes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1417320"/>
            <a:ext cx="5440680" cy="5029200"/>
          </a:xfrm>
          <a:prstGeom prst="roundRect">
            <a:avLst>
              <a:gd name="adj" fmla="val 1818"/>
            </a:avLst>
          </a:prstGeom>
          <a:solidFill>
            <a:srgbClr val="2B3155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4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46520" y="20574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64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0" y="2057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= selector + { property: value; }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262432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64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66560" y="262432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by element, .class, or #id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319125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64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319125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model: content → padding → border → margin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375818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64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66560" y="375818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&amp; type: hex/rgb, font-family, font-size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46520" y="432511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64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66560" y="432511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for rows/columns (justify/align/gap)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48920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64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66560" y="4892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for two-dimensional layouts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46520" y="54589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64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66560" y="545896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@media queries adapt styles to screen size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7680960" y="-914400"/>
            <a:ext cx="5486400" cy="8686800"/>
          </a:xfrm>
          <a:prstGeom prst="rect">
            <a:avLst/>
          </a:prstGeom>
          <a:solidFill>
            <a:srgbClr val="F6F7F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63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Challenge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19659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Profile Page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everything: semantic HTML, a table of stats, a contact form, and metadata — styled with flexbox, the box model, and a media query.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397764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9776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87552" y="395935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&lt;header&gt;, &lt;main&gt;, &lt;section&gt;, &lt;footer&gt;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41655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416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87552" y="439826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table of 3 skills with a header row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85546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554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87552" y="483717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contact &lt;form&gt; with required fields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529437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2943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87552" y="527608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with class selectors, not inline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73328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7C93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7332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87552" y="57150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content using flexbox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617220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6172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87552" y="615391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@media rule for narrow screens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2750</Words>
  <Application>Microsoft Office PowerPoint</Application>
  <PresentationFormat>Widescreen</PresentationFormat>
  <Paragraphs>650</Paragraphs>
  <Slides>24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Lenovo</cp:lastModifiedBy>
  <cp:revision>3</cp:revision>
  <dcterms:created xsi:type="dcterms:W3CDTF">2026-08-24T10:55:23Z</dcterms:created>
  <dcterms:modified xsi:type="dcterms:W3CDTF">2026-08-24T14:00:34Z</dcterms:modified>
</cp:coreProperties>
</file>