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takes an Express app from your laptop to a live web service on Render: what to change in the code, how to create the service, which settings matter, and what to expect on the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 runs your Express server as a long-lived web service, so there is no need to rewrite it as serverless functions. You keep a normal Node process with a public HTTPS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express is listed under dependencies, not devDependencies, because Render installs production dependencies for the running service. Add node_modules and .env to .gitignore before the first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failure on a first deploy is an app that hardcodes a port or listens only on localhost. Read the port from process.env.PORT and bind to 0.0.0.0, then commit and push to your Git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log streams live while the first deploy runs. When the service shows as live, open the onrender.com URL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command runs once per deploy and the start command runs your server. If the app is in a monorepo subfolder, set the root directory so both commands run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 does not read your local .env file, so every variable your app needs must be added in the dashboard. Secrets stay out of the repository and out of the build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is optional. A Blueprint keeps the service configuration in version control next to the code. Use the dashboard for a first deploy and move to render.yaml once the setup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simple GET /health route that returns 200. With a health check path set, Render waits for the new version to respond before switching traffic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instances suit demos and side projects. Paid instance types stay running, so they avoid the cold start. Check Render's pricing page for the current limits, since they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Logs tab: nearly every failed deploy prints the cause there. File name casing matters because Render builds on Linux, so an import that works on macOS or Windows can still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make the app listen on the assigned port, push it to Git, create the web service on Render, and add your environment variables. Keep the free tier limits in mind.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71B"/>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5171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71B"/>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5171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78BFA"/>
                </a:solidFill>
                <a:latin typeface="DM Sans" pitchFamily="34" charset="0"/>
                <a:ea typeface="DM Sans" pitchFamily="34" charset="-122"/>
                <a:cs typeface="DM Sans" pitchFamily="34" charset="-120"/>
              </a:rPr>
              <a:t>DEPLOYMENT GUIDE</a:t>
            </a:r>
            <a:endParaRPr lang="en-US" sz="1400" dirty="0"/>
          </a:p>
        </p:txBody>
      </p:sp>
      <p:sp>
        <p:nvSpPr>
          <p:cNvPr id="3" name="Text 1"/>
          <p:cNvSpPr/>
          <p:nvPr>
            <p:ph type="title"/>
          </p:nvPr>
        </p:nvSpPr>
        <p:spPr>
          <a:xfrm>
            <a:off x="812800" y="20218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1EE"/>
                </a:solidFill>
                <a:latin typeface="DM Sans" pitchFamily="34" charset="0"/>
                <a:ea typeface="DM Sans" pitchFamily="34" charset="-122"/>
                <a:cs typeface="DM Sans" pitchFamily="34" charset="-120"/>
              </a:rPr>
              <a:t>Deploying an Express App on Render</a:t>
            </a:r>
            <a:endParaRPr lang="en-US" sz="6000" dirty="0"/>
          </a:p>
        </p:txBody>
      </p:sp>
      <p:sp>
        <p:nvSpPr>
          <p:cNvPr id="4" name="Text 2"/>
          <p:cNvSpPr/>
          <p:nvPr/>
        </p:nvSpPr>
        <p:spPr>
          <a:xfrm>
            <a:off x="812800" y="3825240"/>
            <a:ext cx="78486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9ADB5"/>
                </a:solidFill>
                <a:latin typeface="DM Sans" pitchFamily="34" charset="0"/>
                <a:ea typeface="DM Sans" pitchFamily="34" charset="-122"/>
                <a:cs typeface="DM Sans" pitchFamily="34" charset="-120"/>
              </a:rPr>
              <a:t>From a local Node.js server to a live HTTPS web service that redeploys on every push.</a:t>
            </a:r>
            <a:endParaRPr lang="en-US" sz="2000" dirty="0"/>
          </a:p>
        </p:txBody>
      </p:sp>
      <p:sp>
        <p:nvSpPr>
          <p:cNvPr id="5" name="Text 3"/>
          <p:cNvSpPr/>
          <p:nvPr/>
        </p:nvSpPr>
        <p:spPr>
          <a:xfrm>
            <a:off x="815975" y="5499735"/>
            <a:ext cx="3092450" cy="542290"/>
          </a:xfrm>
          <a:prstGeom prst="roundRect">
            <a:avLst>
              <a:gd name="adj" fmla="val 13466"/>
            </a:avLst>
          </a:prstGeom>
          <a:solidFill>
            <a:srgbClr val="181A1F"/>
          </a:solidFill>
          <a:ln w="6350">
            <a:solidFill>
              <a:srgbClr val="2A2D34"/>
            </a:solidFill>
            <a:prstDash val="solid"/>
          </a:ln>
        </p:spPr>
        <p:txBody>
          <a:bodyPr wrap="none" lIns="0" tIns="0" rIns="0" bIns="0" rtlCol="0" anchor="ctr">
            <a:normAutofit/>
          </a:bodyPr>
          <a:lstStyle/>
          <a:p>
            <a:pPr algn="ctr" indent="0" marL="0">
              <a:lnSpc>
                <a:spcPts val="2240"/>
              </a:lnSpc>
              <a:buNone/>
            </a:pPr>
            <a:r>
              <a:rPr lang="en-US" sz="1600" dirty="0">
                <a:solidFill>
                  <a:srgbClr val="A78BFA"/>
                </a:solidFill>
                <a:latin typeface="Fira Code" pitchFamily="49" charset="0"/>
                <a:ea typeface="Fira Code" pitchFamily="49" charset="-122"/>
                <a:cs typeface="Fira Code" pitchFamily="49" charset="-120"/>
              </a:rPr>
              <a:t>$ git push origin main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WHY RENDER</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A simple home for Node servers</a:t>
            </a:r>
            <a:endParaRPr lang="en-US" sz="3600" dirty="0"/>
          </a:p>
        </p:txBody>
      </p:sp>
      <p:sp>
        <p:nvSpPr>
          <p:cNvPr id="4" name="Shape 2"/>
          <p:cNvSpPr/>
          <p:nvPr/>
        </p:nvSpPr>
        <p:spPr>
          <a:xfrm>
            <a:off x="815975" y="1989455"/>
            <a:ext cx="3380264" cy="2277110"/>
          </a:xfrm>
          <a:prstGeom prst="roundRect">
            <a:avLst>
              <a:gd name="adj" fmla="val 5438"/>
            </a:avLst>
          </a:prstGeom>
          <a:solidFill>
            <a:srgbClr val="FBFAF8"/>
          </a:solidFill>
          <a:ln w="6350">
            <a:solidFill>
              <a:srgbClr val="DDDBD5"/>
            </a:solidFill>
            <a:prstDash val="solid"/>
          </a:ln>
        </p:spPr>
      </p:sp>
      <p:pic>
        <p:nvPicPr>
          <p:cNvPr id="5" name="Image 0" descr="Link">    </p:cNvPr>
          <p:cNvPicPr>
            <a:picLocks noChangeAspect="1"/>
          </p:cNvPicPr>
          <p:nvPr/>
        </p:nvPicPr>
        <p:blipFill>
          <a:blip r:embed="rId1"/>
          <a:srcRect l="0" r="0" t="0" b="0"/>
          <a:stretch/>
        </p:blipFill>
        <p:spPr>
          <a:xfrm>
            <a:off x="1071880" y="2245360"/>
            <a:ext cx="406400" cy="406400"/>
          </a:xfrm>
          <a:prstGeom prst="rect">
            <a:avLst/>
          </a:prstGeom>
        </p:spPr>
      </p:pic>
      <p:sp>
        <p:nvSpPr>
          <p:cNvPr id="6" name="Text 3"/>
          <p:cNvSpPr/>
          <p:nvPr/>
        </p:nvSpPr>
        <p:spPr>
          <a:xfrm>
            <a:off x="1071880" y="2778760"/>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Git-based deploys</a:t>
            </a:r>
            <a:endParaRPr lang="en-US" sz="2000" dirty="0"/>
          </a:p>
        </p:txBody>
      </p:sp>
      <p:sp>
        <p:nvSpPr>
          <p:cNvPr id="7" name="Text 4"/>
          <p:cNvSpPr/>
          <p:nvPr/>
        </p:nvSpPr>
        <p:spPr>
          <a:xfrm>
            <a:off x="1071880" y="3210560"/>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Connect a repository and each push builds and releases a new version.</a:t>
            </a:r>
            <a:endParaRPr lang="en-US" sz="1500" dirty="0"/>
          </a:p>
        </p:txBody>
      </p:sp>
      <p:sp>
        <p:nvSpPr>
          <p:cNvPr id="8" name="Shape 5"/>
          <p:cNvSpPr/>
          <p:nvPr/>
        </p:nvSpPr>
        <p:spPr>
          <a:xfrm>
            <a:off x="4405789" y="1989455"/>
            <a:ext cx="3380343" cy="2277110"/>
          </a:xfrm>
          <a:prstGeom prst="roundRect">
            <a:avLst>
              <a:gd name="adj" fmla="val 5438"/>
            </a:avLst>
          </a:prstGeom>
          <a:solidFill>
            <a:srgbClr val="FBFAF8"/>
          </a:solidFill>
          <a:ln w="6350">
            <a:solidFill>
              <a:srgbClr val="DDDBD5"/>
            </a:solidFill>
            <a:prstDash val="solid"/>
          </a:ln>
        </p:spPr>
      </p:sp>
      <p:pic>
        <p:nvPicPr>
          <p:cNvPr id="9" name="Image 1" descr="Lock">    </p:cNvPr>
          <p:cNvPicPr>
            <a:picLocks noChangeAspect="1"/>
          </p:cNvPicPr>
          <p:nvPr/>
        </p:nvPicPr>
        <p:blipFill>
          <a:blip r:embed="rId2"/>
          <a:srcRect l="0" r="0" t="0" b="0"/>
          <a:stretch/>
        </p:blipFill>
        <p:spPr>
          <a:xfrm>
            <a:off x="4661694" y="2245360"/>
            <a:ext cx="406400" cy="406400"/>
          </a:xfrm>
          <a:prstGeom prst="rect">
            <a:avLst/>
          </a:prstGeom>
        </p:spPr>
      </p:pic>
      <p:sp>
        <p:nvSpPr>
          <p:cNvPr id="10" name="Text 6"/>
          <p:cNvSpPr/>
          <p:nvPr/>
        </p:nvSpPr>
        <p:spPr>
          <a:xfrm>
            <a:off x="4661694" y="277876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Managed HTTPS</a:t>
            </a:r>
            <a:endParaRPr lang="en-US" sz="2000" dirty="0"/>
          </a:p>
        </p:txBody>
      </p:sp>
      <p:sp>
        <p:nvSpPr>
          <p:cNvPr id="11" name="Text 7"/>
          <p:cNvSpPr/>
          <p:nvPr/>
        </p:nvSpPr>
        <p:spPr>
          <a:xfrm>
            <a:off x="4661694" y="321056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Every web service gets a public URL with a TLS certificate included.</a:t>
            </a:r>
            <a:endParaRPr lang="en-US" sz="1500" dirty="0"/>
          </a:p>
        </p:txBody>
      </p:sp>
      <p:sp>
        <p:nvSpPr>
          <p:cNvPr id="12" name="Shape 8"/>
          <p:cNvSpPr/>
          <p:nvPr/>
        </p:nvSpPr>
        <p:spPr>
          <a:xfrm>
            <a:off x="7995682" y="1989455"/>
            <a:ext cx="3380343" cy="2277110"/>
          </a:xfrm>
          <a:prstGeom prst="roundRect">
            <a:avLst>
              <a:gd name="adj" fmla="val 5438"/>
            </a:avLst>
          </a:prstGeom>
          <a:solidFill>
            <a:srgbClr val="FBFAF8"/>
          </a:solidFill>
          <a:ln w="6350">
            <a:solidFill>
              <a:srgbClr val="DDDBD5"/>
            </a:solidFill>
            <a:prstDash val="solid"/>
          </a:ln>
        </p:spPr>
      </p:sp>
      <p:pic>
        <p:nvPicPr>
          <p:cNvPr id="13" name="Image 2" descr="Database">    </p:cNvPr>
          <p:cNvPicPr>
            <a:picLocks noChangeAspect="1"/>
          </p:cNvPicPr>
          <p:nvPr/>
        </p:nvPicPr>
        <p:blipFill>
          <a:blip r:embed="rId3"/>
          <a:srcRect l="0" r="0" t="0" b="0"/>
          <a:stretch/>
        </p:blipFill>
        <p:spPr>
          <a:xfrm>
            <a:off x="8251587" y="2245360"/>
            <a:ext cx="406400" cy="406400"/>
          </a:xfrm>
          <a:prstGeom prst="rect">
            <a:avLst/>
          </a:prstGeom>
        </p:spPr>
      </p:pic>
      <p:sp>
        <p:nvSpPr>
          <p:cNvPr id="14" name="Text 9"/>
          <p:cNvSpPr/>
          <p:nvPr/>
        </p:nvSpPr>
        <p:spPr>
          <a:xfrm>
            <a:off x="8251587" y="277876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Add-ons nearby</a:t>
            </a:r>
            <a:endParaRPr lang="en-US" sz="2000" dirty="0"/>
          </a:p>
        </p:txBody>
      </p:sp>
      <p:sp>
        <p:nvSpPr>
          <p:cNvPr id="15" name="Text 10"/>
          <p:cNvSpPr/>
          <p:nvPr/>
        </p:nvSpPr>
        <p:spPr>
          <a:xfrm>
            <a:off x="8251587" y="321056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Add a managed Postgres database or Redis next to your service.</a:t>
            </a:r>
            <a:endParaRPr lang="en-US" sz="1500" dirty="0"/>
          </a:p>
        </p:txBody>
      </p:sp>
      <p:sp>
        <p:nvSpPr>
          <p:cNvPr id="16" name="Text 11"/>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02 · Deploying an Express App on Render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BEFORE YOU START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Prerequisites</a:t>
            </a:r>
            <a:endParaRPr lang="en-US" sz="3600" dirty="0"/>
          </a:p>
        </p:txBody>
      </p:sp>
      <p:sp>
        <p:nvSpPr>
          <p:cNvPr id="4" name="Shape 2"/>
          <p:cNvSpPr/>
          <p:nvPr/>
        </p:nvSpPr>
        <p:spPr>
          <a:xfrm>
            <a:off x="815975" y="1989455"/>
            <a:ext cx="5175250" cy="1413510"/>
          </a:xfrm>
          <a:prstGeom prst="roundRect">
            <a:avLst>
              <a:gd name="adj" fmla="val 8760"/>
            </a:avLst>
          </a:prstGeom>
          <a:solidFill>
            <a:srgbClr val="FBFAF8"/>
          </a:solidFill>
          <a:ln w="6350">
            <a:solidFill>
              <a:srgbClr val="DDDBD5"/>
            </a:solidFill>
            <a:prstDash val="solid"/>
          </a:ln>
        </p:spPr>
      </p:sp>
      <p:pic>
        <p:nvPicPr>
          <p:cNvPr id="5" name="Image 0" descr="CheckCircle">    </p:cNvPr>
          <p:cNvPicPr>
            <a:picLocks noChangeAspect="1"/>
          </p:cNvPicPr>
          <p:nvPr/>
        </p:nvPicPr>
        <p:blipFill>
          <a:blip r:embed="rId1"/>
          <a:srcRect l="0" r="0" t="0" b="0"/>
          <a:stretch/>
        </p:blipFill>
        <p:spPr>
          <a:xfrm>
            <a:off x="1071880" y="2245361"/>
            <a:ext cx="355600" cy="355600"/>
          </a:xfrm>
          <a:prstGeom prst="rect">
            <a:avLst/>
          </a:prstGeom>
        </p:spPr>
      </p:pic>
      <p:sp>
        <p:nvSpPr>
          <p:cNvPr id="6" name="Text 3"/>
          <p:cNvSpPr/>
          <p:nvPr/>
        </p:nvSpPr>
        <p:spPr>
          <a:xfrm>
            <a:off x="1605280" y="2245361"/>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An Express app</a:t>
            </a:r>
            <a:endParaRPr lang="en-US" sz="2000" dirty="0"/>
          </a:p>
        </p:txBody>
      </p:sp>
      <p:sp>
        <p:nvSpPr>
          <p:cNvPr id="7" name="Text 4"/>
          <p:cNvSpPr/>
          <p:nvPr/>
        </p:nvSpPr>
        <p:spPr>
          <a:xfrm>
            <a:off x="1605280" y="2613661"/>
            <a:ext cx="42539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A Node.js project that runs locally with npm start.</a:t>
            </a:r>
            <a:endParaRPr lang="en-US" sz="1500" dirty="0"/>
          </a:p>
        </p:txBody>
      </p:sp>
      <p:sp>
        <p:nvSpPr>
          <p:cNvPr id="8" name="Shape 5"/>
          <p:cNvSpPr/>
          <p:nvPr/>
        </p:nvSpPr>
        <p:spPr>
          <a:xfrm>
            <a:off x="6200775" y="1989455"/>
            <a:ext cx="5175250" cy="1413510"/>
          </a:xfrm>
          <a:prstGeom prst="roundRect">
            <a:avLst>
              <a:gd name="adj" fmla="val 8760"/>
            </a:avLst>
          </a:prstGeom>
          <a:solidFill>
            <a:srgbClr val="FBFAF8"/>
          </a:solidFill>
          <a:ln w="6350">
            <a:solidFill>
              <a:srgbClr val="DDDBD5"/>
            </a:solidFill>
            <a:prstDash val="solid"/>
          </a:ln>
        </p:spPr>
      </p:sp>
      <p:pic>
        <p:nvPicPr>
          <p:cNvPr id="9" name="Image 1" descr="CheckCircle">    </p:cNvPr>
          <p:cNvPicPr>
            <a:picLocks noChangeAspect="1"/>
          </p:cNvPicPr>
          <p:nvPr/>
        </p:nvPicPr>
        <p:blipFill>
          <a:blip r:embed="rId2"/>
          <a:srcRect l="0" r="0" t="0" b="0"/>
          <a:stretch/>
        </p:blipFill>
        <p:spPr>
          <a:xfrm>
            <a:off x="6456680" y="2245361"/>
            <a:ext cx="355600" cy="355600"/>
          </a:xfrm>
          <a:prstGeom prst="rect">
            <a:avLst/>
          </a:prstGeom>
        </p:spPr>
      </p:pic>
      <p:sp>
        <p:nvSpPr>
          <p:cNvPr id="10" name="Text 6"/>
          <p:cNvSpPr/>
          <p:nvPr/>
        </p:nvSpPr>
        <p:spPr>
          <a:xfrm>
            <a:off x="6990080" y="2245361"/>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 package.json</a:t>
            </a:r>
            <a:endParaRPr lang="en-US" sz="2000" dirty="0"/>
          </a:p>
        </p:txBody>
      </p:sp>
      <p:sp>
        <p:nvSpPr>
          <p:cNvPr id="11" name="Text 7"/>
          <p:cNvSpPr/>
          <p:nvPr/>
        </p:nvSpPr>
        <p:spPr>
          <a:xfrm>
            <a:off x="6990080" y="2613661"/>
            <a:ext cx="4382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With a start script and all dependencies listed.</a:t>
            </a:r>
            <a:endParaRPr lang="en-US" sz="1500" dirty="0"/>
          </a:p>
        </p:txBody>
      </p:sp>
      <p:sp>
        <p:nvSpPr>
          <p:cNvPr id="12" name="Shape 8"/>
          <p:cNvSpPr/>
          <p:nvPr/>
        </p:nvSpPr>
        <p:spPr>
          <a:xfrm>
            <a:off x="815975" y="3612516"/>
            <a:ext cx="5175250" cy="1413510"/>
          </a:xfrm>
          <a:prstGeom prst="roundRect">
            <a:avLst>
              <a:gd name="adj" fmla="val 8760"/>
            </a:avLst>
          </a:prstGeom>
          <a:solidFill>
            <a:srgbClr val="FBFAF8"/>
          </a:solidFill>
          <a:ln w="6350">
            <a:solidFill>
              <a:srgbClr val="DDDBD5"/>
            </a:solidFill>
            <a:prstDash val="solid"/>
          </a:ln>
        </p:spPr>
      </p:sp>
      <p:pic>
        <p:nvPicPr>
          <p:cNvPr id="13" name="Image 2" descr="CheckCircle">    </p:cNvPr>
          <p:cNvPicPr>
            <a:picLocks noChangeAspect="1"/>
          </p:cNvPicPr>
          <p:nvPr/>
        </p:nvPicPr>
        <p:blipFill>
          <a:blip r:embed="rId3"/>
          <a:srcRect l="0" r="0" t="0" b="0"/>
          <a:stretch/>
        </p:blipFill>
        <p:spPr>
          <a:xfrm>
            <a:off x="1071880" y="3868420"/>
            <a:ext cx="355600" cy="355600"/>
          </a:xfrm>
          <a:prstGeom prst="rect">
            <a:avLst/>
          </a:prstGeom>
        </p:spPr>
      </p:pic>
      <p:sp>
        <p:nvSpPr>
          <p:cNvPr id="14" name="Text 9"/>
          <p:cNvSpPr/>
          <p:nvPr/>
        </p:nvSpPr>
        <p:spPr>
          <a:xfrm>
            <a:off x="1605280" y="3868420"/>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 Git repository</a:t>
            </a:r>
            <a:endParaRPr lang="en-US" sz="2000" dirty="0"/>
          </a:p>
        </p:txBody>
      </p:sp>
      <p:sp>
        <p:nvSpPr>
          <p:cNvPr id="15" name="Text 10"/>
          <p:cNvSpPr/>
          <p:nvPr/>
        </p:nvSpPr>
        <p:spPr>
          <a:xfrm>
            <a:off x="1605280" y="4236720"/>
            <a:ext cx="42539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On GitHub, GitLab or Bitbucket, with node_modules ignored.</a:t>
            </a:r>
            <a:endParaRPr lang="en-US" sz="1500" dirty="0"/>
          </a:p>
        </p:txBody>
      </p:sp>
      <p:sp>
        <p:nvSpPr>
          <p:cNvPr id="16" name="Shape 11"/>
          <p:cNvSpPr/>
          <p:nvPr/>
        </p:nvSpPr>
        <p:spPr>
          <a:xfrm>
            <a:off x="6200775" y="3612516"/>
            <a:ext cx="5175250" cy="1413510"/>
          </a:xfrm>
          <a:prstGeom prst="roundRect">
            <a:avLst>
              <a:gd name="adj" fmla="val 8760"/>
            </a:avLst>
          </a:prstGeom>
          <a:solidFill>
            <a:srgbClr val="FBFAF8"/>
          </a:solidFill>
          <a:ln w="6350">
            <a:solidFill>
              <a:srgbClr val="DDDBD5"/>
            </a:solidFill>
            <a:prstDash val="solid"/>
          </a:ln>
        </p:spPr>
      </p:sp>
      <p:pic>
        <p:nvPicPr>
          <p:cNvPr id="17" name="Image 3" descr="CheckCircle">    </p:cNvPr>
          <p:cNvPicPr>
            <a:picLocks noChangeAspect="1"/>
          </p:cNvPicPr>
          <p:nvPr/>
        </p:nvPicPr>
        <p:blipFill>
          <a:blip r:embed="rId4"/>
          <a:srcRect l="0" r="0" t="0" b="0"/>
          <a:stretch/>
        </p:blipFill>
        <p:spPr>
          <a:xfrm>
            <a:off x="6456680" y="3868420"/>
            <a:ext cx="355600" cy="355600"/>
          </a:xfrm>
          <a:prstGeom prst="rect">
            <a:avLst/>
          </a:prstGeom>
        </p:spPr>
      </p:pic>
      <p:sp>
        <p:nvSpPr>
          <p:cNvPr id="18" name="Text 12"/>
          <p:cNvSpPr/>
          <p:nvPr/>
        </p:nvSpPr>
        <p:spPr>
          <a:xfrm>
            <a:off x="6990080" y="3868420"/>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 Render account</a:t>
            </a:r>
            <a:endParaRPr lang="en-US" sz="2000" dirty="0"/>
          </a:p>
        </p:txBody>
      </p:sp>
      <p:sp>
        <p:nvSpPr>
          <p:cNvPr id="19" name="Text 13"/>
          <p:cNvSpPr/>
          <p:nvPr/>
        </p:nvSpPr>
        <p:spPr>
          <a:xfrm>
            <a:off x="6990080" y="4236720"/>
            <a:ext cx="42539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Sign up with your Git provider to skip a step later.</a:t>
            </a:r>
            <a:endParaRPr lang="en-US" sz="1500" dirty="0"/>
          </a:p>
        </p:txBody>
      </p:sp>
      <p:sp>
        <p:nvSpPr>
          <p:cNvPr id="20" name="Text 14"/>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03 · Deploying an Express App on Render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78BFA"/>
                </a:solidFill>
                <a:latin typeface="DM Sans" pitchFamily="34" charset="0"/>
                <a:ea typeface="DM Sans" pitchFamily="34" charset="-122"/>
                <a:cs typeface="DM Sans" pitchFamily="34" charset="-120"/>
              </a:rPr>
              <a:t>STEP 1</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1EE"/>
                </a:solidFill>
                <a:latin typeface="DM Sans" pitchFamily="34" charset="0"/>
                <a:ea typeface="DM Sans" pitchFamily="34" charset="-122"/>
                <a:cs typeface="DM Sans" pitchFamily="34" charset="-120"/>
              </a:rPr>
              <a:t>Make the app Render-ready</a:t>
            </a:r>
            <a:endParaRPr lang="en-US" sz="3600" dirty="0"/>
          </a:p>
        </p:txBody>
      </p:sp>
      <p:sp>
        <p:nvSpPr>
          <p:cNvPr id="4" name="Shape 2"/>
          <p:cNvSpPr/>
          <p:nvPr/>
        </p:nvSpPr>
        <p:spPr>
          <a:xfrm>
            <a:off x="815975" y="1938655"/>
            <a:ext cx="5783501" cy="3282950"/>
          </a:xfrm>
          <a:prstGeom prst="roundRect">
            <a:avLst>
              <a:gd name="adj" fmla="val 3772"/>
            </a:avLst>
          </a:prstGeom>
          <a:solidFill>
            <a:srgbClr val="181A1F"/>
          </a:solidFill>
          <a:ln w="6350">
            <a:solidFill>
              <a:srgbClr val="2A2D34"/>
            </a:solidFill>
            <a:prstDash val="solid"/>
          </a:ln>
        </p:spPr>
      </p:sp>
      <p:sp>
        <p:nvSpPr>
          <p:cNvPr id="5" name="Text 3"/>
          <p:cNvSpPr/>
          <p:nvPr/>
        </p:nvSpPr>
        <p:spPr>
          <a:xfrm>
            <a:off x="1071880" y="2194561"/>
            <a:ext cx="54298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E"/>
                </a:solidFill>
                <a:latin typeface="DM Sans" pitchFamily="34" charset="0"/>
                <a:ea typeface="DM Sans" pitchFamily="34" charset="-122"/>
                <a:cs typeface="DM Sans" pitchFamily="34" charset="-120"/>
              </a:rPr>
              <a:t>Listen on the assigned port</a:t>
            </a:r>
            <a:endParaRPr lang="en-US" sz="2000" dirty="0"/>
          </a:p>
        </p:txBody>
      </p:sp>
      <p:sp>
        <p:nvSpPr>
          <p:cNvPr id="6" name="Shape 4"/>
          <p:cNvSpPr/>
          <p:nvPr/>
        </p:nvSpPr>
        <p:spPr>
          <a:xfrm>
            <a:off x="1071880" y="2651761"/>
            <a:ext cx="5271691" cy="2202180"/>
          </a:xfrm>
          <a:prstGeom prst="roundRect">
            <a:avLst>
              <a:gd name="adj" fmla="val 4037"/>
            </a:avLst>
          </a:prstGeom>
          <a:solidFill>
            <a:srgbClr val="07080A"/>
          </a:solidFill>
          <a:ln/>
        </p:spPr>
      </p:sp>
      <p:sp>
        <p:nvSpPr>
          <p:cNvPr id="7" name="Text 5"/>
          <p:cNvSpPr/>
          <p:nvPr/>
        </p:nvSpPr>
        <p:spPr>
          <a:xfrm>
            <a:off x="1249680" y="2829561"/>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const express = require("express");</a:t>
            </a:r>
            <a:endParaRPr lang="en-US" sz="1300" dirty="0"/>
          </a:p>
        </p:txBody>
      </p:sp>
      <p:sp>
        <p:nvSpPr>
          <p:cNvPr id="8" name="Text 6"/>
          <p:cNvSpPr/>
          <p:nvPr/>
        </p:nvSpPr>
        <p:spPr>
          <a:xfrm>
            <a:off x="1249680" y="3098800"/>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const app = express();</a:t>
            </a:r>
            <a:endParaRPr lang="en-US" sz="1300" dirty="0"/>
          </a:p>
        </p:txBody>
      </p:sp>
      <p:sp>
        <p:nvSpPr>
          <p:cNvPr id="9" name="Text 7"/>
          <p:cNvSpPr/>
          <p:nvPr/>
        </p:nvSpPr>
        <p:spPr>
          <a:xfrm>
            <a:off x="1249680" y="3368041"/>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const PORT = process.env.PORT || 3000;</a:t>
            </a:r>
            <a:endParaRPr lang="en-US" sz="1300" dirty="0"/>
          </a:p>
        </p:txBody>
      </p:sp>
      <p:sp>
        <p:nvSpPr>
          <p:cNvPr id="10" name="Text 8"/>
          <p:cNvSpPr/>
          <p:nvPr/>
        </p:nvSpPr>
        <p:spPr>
          <a:xfrm>
            <a:off x="1249680" y="3637280"/>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app.get("/", (req, res) =&gt; res.send("OK"));</a:t>
            </a:r>
            <a:endParaRPr lang="en-US" sz="1300" dirty="0"/>
          </a:p>
        </p:txBody>
      </p:sp>
      <p:sp>
        <p:nvSpPr>
          <p:cNvPr id="11" name="Text 9"/>
          <p:cNvSpPr/>
          <p:nvPr/>
        </p:nvSpPr>
        <p:spPr>
          <a:xfrm>
            <a:off x="1249680" y="3906520"/>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app.listen(PORT, "0.0.0.0", () =&gt; {</a:t>
            </a:r>
            <a:endParaRPr lang="en-US" sz="1300" dirty="0"/>
          </a:p>
        </p:txBody>
      </p:sp>
      <p:sp>
        <p:nvSpPr>
          <p:cNvPr id="12" name="Text 10"/>
          <p:cNvSpPr/>
          <p:nvPr/>
        </p:nvSpPr>
        <p:spPr>
          <a:xfrm>
            <a:off x="1402080" y="4175761"/>
            <a:ext cx="49066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console.log("Listening on " + PORT);</a:t>
            </a:r>
            <a:endParaRPr lang="en-US" sz="1300" dirty="0"/>
          </a:p>
        </p:txBody>
      </p:sp>
      <p:sp>
        <p:nvSpPr>
          <p:cNvPr id="13" name="Text 11"/>
          <p:cNvSpPr/>
          <p:nvPr/>
        </p:nvSpPr>
        <p:spPr>
          <a:xfrm>
            <a:off x="1249680" y="4445000"/>
            <a:ext cx="5063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a:t>
            </a:r>
            <a:endParaRPr lang="en-US" sz="1300" dirty="0"/>
          </a:p>
        </p:txBody>
      </p:sp>
      <p:sp>
        <p:nvSpPr>
          <p:cNvPr id="14" name="Shape 12"/>
          <p:cNvSpPr/>
          <p:nvPr/>
        </p:nvSpPr>
        <p:spPr>
          <a:xfrm>
            <a:off x="6809025" y="1938655"/>
            <a:ext cx="4567000" cy="3282950"/>
          </a:xfrm>
          <a:prstGeom prst="roundRect">
            <a:avLst>
              <a:gd name="adj" fmla="val 3772"/>
            </a:avLst>
          </a:prstGeom>
          <a:solidFill>
            <a:srgbClr val="181A1F"/>
          </a:solidFill>
          <a:ln w="6350">
            <a:solidFill>
              <a:srgbClr val="2A2D34"/>
            </a:solidFill>
            <a:prstDash val="solid"/>
          </a:ln>
        </p:spPr>
      </p:sp>
      <p:sp>
        <p:nvSpPr>
          <p:cNvPr id="15" name="Text 13"/>
          <p:cNvSpPr/>
          <p:nvPr/>
        </p:nvSpPr>
        <p:spPr>
          <a:xfrm>
            <a:off x="7064931" y="2194561"/>
            <a:ext cx="417684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E"/>
                </a:solidFill>
                <a:latin typeface="DM Sans" pitchFamily="34" charset="0"/>
                <a:ea typeface="DM Sans" pitchFamily="34" charset="-122"/>
                <a:cs typeface="DM Sans" pitchFamily="34" charset="-120"/>
              </a:rPr>
              <a:t>Add a start script</a:t>
            </a:r>
            <a:endParaRPr lang="en-US" sz="2000" dirty="0"/>
          </a:p>
        </p:txBody>
      </p:sp>
      <p:sp>
        <p:nvSpPr>
          <p:cNvPr id="16" name="Shape 14"/>
          <p:cNvSpPr/>
          <p:nvPr/>
        </p:nvSpPr>
        <p:spPr>
          <a:xfrm>
            <a:off x="7064931" y="2651761"/>
            <a:ext cx="4055189" cy="1663700"/>
          </a:xfrm>
          <a:prstGeom prst="roundRect">
            <a:avLst>
              <a:gd name="adj" fmla="val 5344"/>
            </a:avLst>
          </a:prstGeom>
          <a:solidFill>
            <a:srgbClr val="07080A"/>
          </a:solidFill>
          <a:ln/>
        </p:spPr>
      </p:sp>
      <p:sp>
        <p:nvSpPr>
          <p:cNvPr id="17" name="Text 15"/>
          <p:cNvSpPr/>
          <p:nvPr/>
        </p:nvSpPr>
        <p:spPr>
          <a:xfrm>
            <a:off x="7242731" y="2829561"/>
            <a:ext cx="38105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a:t>
            </a:r>
            <a:endParaRPr lang="en-US" sz="1300" dirty="0"/>
          </a:p>
        </p:txBody>
      </p:sp>
      <p:sp>
        <p:nvSpPr>
          <p:cNvPr id="18" name="Text 16"/>
          <p:cNvSpPr/>
          <p:nvPr/>
        </p:nvSpPr>
        <p:spPr>
          <a:xfrm>
            <a:off x="7395131" y="3098800"/>
            <a:ext cx="36536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"scripts": {</a:t>
            </a:r>
            <a:endParaRPr lang="en-US" sz="1300" dirty="0"/>
          </a:p>
        </p:txBody>
      </p:sp>
      <p:sp>
        <p:nvSpPr>
          <p:cNvPr id="19" name="Text 17"/>
          <p:cNvSpPr/>
          <p:nvPr/>
        </p:nvSpPr>
        <p:spPr>
          <a:xfrm>
            <a:off x="7547531" y="3368041"/>
            <a:ext cx="349663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"start": "node index.js"</a:t>
            </a:r>
            <a:endParaRPr lang="en-US" sz="1300" dirty="0"/>
          </a:p>
        </p:txBody>
      </p:sp>
      <p:sp>
        <p:nvSpPr>
          <p:cNvPr id="20" name="Text 18"/>
          <p:cNvSpPr/>
          <p:nvPr/>
        </p:nvSpPr>
        <p:spPr>
          <a:xfrm>
            <a:off x="7395131" y="3637280"/>
            <a:ext cx="36536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a:t>
            </a:r>
            <a:endParaRPr lang="en-US" sz="1300" dirty="0"/>
          </a:p>
        </p:txBody>
      </p:sp>
      <p:sp>
        <p:nvSpPr>
          <p:cNvPr id="21" name="Text 19"/>
          <p:cNvSpPr/>
          <p:nvPr/>
        </p:nvSpPr>
        <p:spPr>
          <a:xfrm>
            <a:off x="7242731" y="3906520"/>
            <a:ext cx="38105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a:t>
            </a:r>
            <a:endParaRPr lang="en-US" sz="1300" dirty="0"/>
          </a:p>
        </p:txBody>
      </p:sp>
      <p:sp>
        <p:nvSpPr>
          <p:cNvPr id="22" name="Text 20"/>
          <p:cNvSpPr/>
          <p:nvPr/>
        </p:nvSpPr>
        <p:spPr>
          <a:xfrm>
            <a:off x="7064931" y="4467861"/>
            <a:ext cx="417684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DB5"/>
                </a:solidFill>
                <a:latin typeface="DM Sans" pitchFamily="34" charset="0"/>
                <a:ea typeface="DM Sans" pitchFamily="34" charset="-122"/>
                <a:cs typeface="DM Sans" pitchFamily="34" charset="-120"/>
              </a:rPr>
              <a:t>Render provides PORT, 10000 by default. Listening on 0.0.0.0 makes the service reachable.</a:t>
            </a:r>
            <a:endParaRPr lang="en-US" sz="1400" dirty="0"/>
          </a:p>
        </p:txBody>
      </p:sp>
      <p:sp>
        <p:nvSpPr>
          <p:cNvPr id="23" name="Text 2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DM Sans" pitchFamily="34" charset="0"/>
                <a:ea typeface="DM Sans" pitchFamily="34" charset="-122"/>
                <a:cs typeface="DM Sans" pitchFamily="34" charset="-120"/>
              </a:rPr>
              <a:t>04 · Deploying an Express App on Render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STEP 2 · DASHBOARD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Create the web service</a:t>
            </a:r>
            <a:endParaRPr lang="en-US" sz="3600" dirty="0"/>
          </a:p>
        </p:txBody>
      </p:sp>
      <p:sp>
        <p:nvSpPr>
          <p:cNvPr id="4" name="Shape 2"/>
          <p:cNvSpPr/>
          <p:nvPr/>
        </p:nvSpPr>
        <p:spPr>
          <a:xfrm>
            <a:off x="815975" y="1989457"/>
            <a:ext cx="2482850" cy="2462530"/>
          </a:xfrm>
          <a:prstGeom prst="roundRect">
            <a:avLst>
              <a:gd name="adj" fmla="val 5028"/>
            </a:avLst>
          </a:prstGeom>
          <a:solidFill>
            <a:srgbClr val="FBFAF8"/>
          </a:solidFill>
          <a:ln w="6350">
            <a:solidFill>
              <a:srgbClr val="DDDBD5"/>
            </a:solidFill>
            <a:prstDash val="solid"/>
          </a:ln>
        </p:spPr>
      </p:sp>
      <p:sp>
        <p:nvSpPr>
          <p:cNvPr id="5" name="Text 3"/>
          <p:cNvSpPr/>
          <p:nvPr/>
        </p:nvSpPr>
        <p:spPr>
          <a:xfrm>
            <a:off x="10464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33D6"/>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0464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71B"/>
                </a:solidFill>
                <a:latin typeface="DM Sans" pitchFamily="34" charset="0"/>
                <a:ea typeface="DM Sans" pitchFamily="34" charset="-122"/>
                <a:cs typeface="DM Sans" pitchFamily="34" charset="-120"/>
              </a:rPr>
              <a:t>New Web Service</a:t>
            </a:r>
            <a:endParaRPr lang="en-US" sz="1800" dirty="0"/>
          </a:p>
        </p:txBody>
      </p:sp>
      <p:sp>
        <p:nvSpPr>
          <p:cNvPr id="7" name="Text 5"/>
          <p:cNvSpPr/>
          <p:nvPr/>
        </p:nvSpPr>
        <p:spPr>
          <a:xfrm>
            <a:off x="10464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DM Sans" pitchFamily="34" charset="0"/>
                <a:ea typeface="DM Sans" pitchFamily="34" charset="-122"/>
                <a:cs typeface="DM Sans" pitchFamily="34" charset="-120"/>
              </a:rPr>
              <a:t>In the Render dashboard, click New, then Web Service.</a:t>
            </a:r>
            <a:endParaRPr lang="en-US" sz="1400" dirty="0"/>
          </a:p>
        </p:txBody>
      </p:sp>
      <p:sp>
        <p:nvSpPr>
          <p:cNvPr id="8" name="Shape 6"/>
          <p:cNvSpPr/>
          <p:nvPr/>
        </p:nvSpPr>
        <p:spPr>
          <a:xfrm>
            <a:off x="3508375" y="1989457"/>
            <a:ext cx="2482850" cy="2462530"/>
          </a:xfrm>
          <a:prstGeom prst="roundRect">
            <a:avLst>
              <a:gd name="adj" fmla="val 5028"/>
            </a:avLst>
          </a:prstGeom>
          <a:solidFill>
            <a:srgbClr val="FBFAF8"/>
          </a:solidFill>
          <a:ln w="6350">
            <a:solidFill>
              <a:srgbClr val="DDDBD5"/>
            </a:solidFill>
            <a:prstDash val="solid"/>
          </a:ln>
        </p:spPr>
      </p:sp>
      <p:sp>
        <p:nvSpPr>
          <p:cNvPr id="9" name="Text 7"/>
          <p:cNvSpPr/>
          <p:nvPr/>
        </p:nvSpPr>
        <p:spPr>
          <a:xfrm>
            <a:off x="37388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33D6"/>
                </a:solidFill>
                <a:latin typeface="DM Sans" pitchFamily="34" charset="0"/>
                <a:ea typeface="DM Sans" pitchFamily="34" charset="-122"/>
                <a:cs typeface="DM Sans" pitchFamily="34" charset="-120"/>
              </a:rPr>
              <a:t>2</a:t>
            </a:r>
            <a:endParaRPr lang="en-US" sz="3600" dirty="0"/>
          </a:p>
        </p:txBody>
      </p:sp>
      <p:sp>
        <p:nvSpPr>
          <p:cNvPr id="10" name="Text 8"/>
          <p:cNvSpPr/>
          <p:nvPr/>
        </p:nvSpPr>
        <p:spPr>
          <a:xfrm>
            <a:off x="3738880" y="2824482"/>
            <a:ext cx="2082495"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71B"/>
                </a:solidFill>
                <a:latin typeface="DM Sans" pitchFamily="34" charset="0"/>
                <a:ea typeface="DM Sans" pitchFamily="34" charset="-122"/>
                <a:cs typeface="DM Sans" pitchFamily="34" charset="-120"/>
              </a:rPr>
              <a:t>Connect repository</a:t>
            </a:r>
            <a:endParaRPr lang="en-US" sz="1800" dirty="0"/>
          </a:p>
        </p:txBody>
      </p:sp>
      <p:sp>
        <p:nvSpPr>
          <p:cNvPr id="11" name="Text 9"/>
          <p:cNvSpPr/>
          <p:nvPr/>
        </p:nvSpPr>
        <p:spPr>
          <a:xfrm>
            <a:off x="3738880" y="3474721"/>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DM Sans" pitchFamily="34" charset="0"/>
                <a:ea typeface="DM Sans" pitchFamily="34" charset="-122"/>
                <a:cs typeface="DM Sans" pitchFamily="34" charset="-120"/>
              </a:rPr>
              <a:t>Link your Git provider and select the Express repo.</a:t>
            </a:r>
            <a:endParaRPr lang="en-US" sz="1400" dirty="0"/>
          </a:p>
        </p:txBody>
      </p:sp>
      <p:sp>
        <p:nvSpPr>
          <p:cNvPr id="12" name="Shape 10"/>
          <p:cNvSpPr/>
          <p:nvPr/>
        </p:nvSpPr>
        <p:spPr>
          <a:xfrm>
            <a:off x="6200775" y="1989457"/>
            <a:ext cx="2482850" cy="2462530"/>
          </a:xfrm>
          <a:prstGeom prst="roundRect">
            <a:avLst>
              <a:gd name="adj" fmla="val 5028"/>
            </a:avLst>
          </a:prstGeom>
          <a:solidFill>
            <a:srgbClr val="FBFAF8"/>
          </a:solidFill>
          <a:ln w="6350">
            <a:solidFill>
              <a:srgbClr val="DDDBD5"/>
            </a:solidFill>
            <a:prstDash val="solid"/>
          </a:ln>
        </p:spPr>
      </p:sp>
      <p:sp>
        <p:nvSpPr>
          <p:cNvPr id="13" name="Text 11"/>
          <p:cNvSpPr/>
          <p:nvPr/>
        </p:nvSpPr>
        <p:spPr>
          <a:xfrm>
            <a:off x="64312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33D6"/>
                </a:solidFill>
                <a:latin typeface="DM Sans" pitchFamily="34" charset="0"/>
                <a:ea typeface="DM Sans" pitchFamily="34" charset="-122"/>
                <a:cs typeface="DM Sans" pitchFamily="34" charset="-120"/>
              </a:rPr>
              <a:t>3</a:t>
            </a:r>
            <a:endParaRPr lang="en-US" sz="3600" dirty="0"/>
          </a:p>
        </p:txBody>
      </p:sp>
      <p:sp>
        <p:nvSpPr>
          <p:cNvPr id="14" name="Text 12"/>
          <p:cNvSpPr/>
          <p:nvPr/>
        </p:nvSpPr>
        <p:spPr>
          <a:xfrm>
            <a:off x="64312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71B"/>
                </a:solidFill>
                <a:latin typeface="DM Sans" pitchFamily="34" charset="0"/>
                <a:ea typeface="DM Sans" pitchFamily="34" charset="-122"/>
                <a:cs typeface="DM Sans" pitchFamily="34" charset="-120"/>
              </a:rPr>
              <a:t>Fill in settings</a:t>
            </a:r>
            <a:endParaRPr lang="en-US" sz="1800" dirty="0"/>
          </a:p>
        </p:txBody>
      </p:sp>
      <p:sp>
        <p:nvSpPr>
          <p:cNvPr id="15" name="Text 13"/>
          <p:cNvSpPr/>
          <p:nvPr/>
        </p:nvSpPr>
        <p:spPr>
          <a:xfrm>
            <a:off x="64312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DM Sans" pitchFamily="34" charset="0"/>
                <a:ea typeface="DM Sans" pitchFamily="34" charset="-122"/>
                <a:cs typeface="DM Sans" pitchFamily="34" charset="-120"/>
              </a:rPr>
              <a:t>Set the name, region, branch, build command and start command.</a:t>
            </a:r>
            <a:endParaRPr lang="en-US" sz="1400" dirty="0"/>
          </a:p>
        </p:txBody>
      </p:sp>
      <p:sp>
        <p:nvSpPr>
          <p:cNvPr id="16" name="Shape 14"/>
          <p:cNvSpPr/>
          <p:nvPr/>
        </p:nvSpPr>
        <p:spPr>
          <a:xfrm>
            <a:off x="8893175" y="1989457"/>
            <a:ext cx="2482850" cy="2462530"/>
          </a:xfrm>
          <a:prstGeom prst="roundRect">
            <a:avLst>
              <a:gd name="adj" fmla="val 5028"/>
            </a:avLst>
          </a:prstGeom>
          <a:solidFill>
            <a:srgbClr val="FBFAF8"/>
          </a:solidFill>
          <a:ln w="6350">
            <a:solidFill>
              <a:srgbClr val="DDDBD5"/>
            </a:solidFill>
            <a:prstDash val="solid"/>
          </a:ln>
        </p:spPr>
      </p:sp>
      <p:sp>
        <p:nvSpPr>
          <p:cNvPr id="17" name="Text 15"/>
          <p:cNvSpPr/>
          <p:nvPr/>
        </p:nvSpPr>
        <p:spPr>
          <a:xfrm>
            <a:off x="91236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33D6"/>
                </a:solidFill>
                <a:latin typeface="DM Sans" pitchFamily="34" charset="0"/>
                <a:ea typeface="DM Sans" pitchFamily="34" charset="-122"/>
                <a:cs typeface="DM Sans" pitchFamily="34" charset="-120"/>
              </a:rPr>
              <a:t>4</a:t>
            </a:r>
            <a:endParaRPr lang="en-US" sz="3600" dirty="0"/>
          </a:p>
        </p:txBody>
      </p:sp>
      <p:sp>
        <p:nvSpPr>
          <p:cNvPr id="18" name="Text 16"/>
          <p:cNvSpPr/>
          <p:nvPr/>
        </p:nvSpPr>
        <p:spPr>
          <a:xfrm>
            <a:off x="91236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71B"/>
                </a:solidFill>
                <a:latin typeface="DM Sans" pitchFamily="34" charset="0"/>
                <a:ea typeface="DM Sans" pitchFamily="34" charset="-122"/>
                <a:cs typeface="DM Sans" pitchFamily="34" charset="-120"/>
              </a:rPr>
              <a:t>Create service</a:t>
            </a:r>
            <a:endParaRPr lang="en-US" sz="1800" dirty="0"/>
          </a:p>
        </p:txBody>
      </p:sp>
      <p:sp>
        <p:nvSpPr>
          <p:cNvPr id="19" name="Text 17"/>
          <p:cNvSpPr/>
          <p:nvPr/>
        </p:nvSpPr>
        <p:spPr>
          <a:xfrm>
            <a:off x="91236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DM Sans" pitchFamily="34" charset="0"/>
                <a:ea typeface="DM Sans" pitchFamily="34" charset="-122"/>
                <a:cs typeface="DM Sans" pitchFamily="34" charset="-120"/>
              </a:rPr>
              <a:t>Render builds the app, starts it and gives you a live URL.</a:t>
            </a:r>
            <a:endParaRPr lang="en-US" sz="1400" dirty="0"/>
          </a:p>
        </p:txBody>
      </p:sp>
      <p:sp>
        <p:nvSpPr>
          <p:cNvPr id="20" name="Text 18"/>
          <p:cNvSpPr/>
          <p:nvPr/>
        </p:nvSpPr>
        <p:spPr>
          <a:xfrm>
            <a:off x="812800" y="48107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058"/>
                </a:solidFill>
                <a:latin typeface="DM Sans" pitchFamily="34" charset="0"/>
                <a:ea typeface="DM Sans" pitchFamily="34" charset="-122"/>
                <a:cs typeface="DM Sans" pitchFamily="34" charset="-120"/>
              </a:rPr>
              <a:t>Every later push to the chosen branch redeploys automatically.</a:t>
            </a:r>
            <a:endParaRPr lang="en-US" sz="1600" dirty="0"/>
          </a:p>
        </p:txBody>
      </p:sp>
      <p:sp>
        <p:nvSpPr>
          <p:cNvPr id="21" name="Text 19"/>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05 · Deploying an Express App on Render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CONFIGURATION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Service settings that matter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6240" cy="1917700"/>
        </p:xfrm>
        <a:graphic>
          <a:graphicData uri="http://schemas.openxmlformats.org/drawingml/2006/table">
            <a:tbl>
              <a:tblPr/>
              <a:tblGrid>
                <a:gridCol w="2744622"/>
                <a:gridCol w="2744622"/>
                <a:gridCol w="5066995"/>
              </a:tblGrid>
              <a:tr h="383540">
                <a:tc>
                  <a:txBody>
                    <a:bodyPr/>
                    <a:lstStyle/>
                    <a:p>
                      <a:pPr indent="0" marL="0">
                        <a:lnSpc>
                          <a:spcPts val="1960"/>
                        </a:lnSpc>
                        <a:buNone/>
                      </a:pPr>
                      <a:r>
                        <a:rPr lang="en-US" sz="1400" b="1" dirty="0">
                          <a:solidFill>
                            <a:srgbClr val="15171B"/>
                          </a:solidFill>
                          <a:latin typeface="DM Sans" pitchFamily="34" charset="0"/>
                          <a:ea typeface="DM Sans" pitchFamily="34" charset="-122"/>
                          <a:cs typeface="DM Sans" pitchFamily="34" charset="-120"/>
                        </a:rPr>
                        <a:t>Setting</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B9B8B3"/>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8B3"/>
                      </a:solidFill>
                      <a:prstDash val="solid"/>
                      <a:round/>
                      <a:headEnd type="none" w="med" len="med"/>
                      <a:tailEnd type="none" w="med" len="med"/>
                    </a:lnB>
                    <a:solidFill>
                      <a:srgbClr val="E8E6E0"/>
                    </a:solidFill>
                  </a:tcPr>
                </a:tc>
                <a:tc>
                  <a:txBody>
                    <a:bodyPr/>
                    <a:lstStyle/>
                    <a:p>
                      <a:pPr indent="0" marL="0">
                        <a:lnSpc>
                          <a:spcPts val="1960"/>
                        </a:lnSpc>
                        <a:buNone/>
                      </a:pPr>
                      <a:r>
                        <a:rPr lang="en-US" sz="1400" b="1" dirty="0">
                          <a:solidFill>
                            <a:srgbClr val="15171B"/>
                          </a:solidFill>
                          <a:latin typeface="DM Sans" pitchFamily="34" charset="0"/>
                          <a:ea typeface="DM Sans" pitchFamily="34" charset="-122"/>
                          <a:cs typeface="DM Sans" pitchFamily="34" charset="-120"/>
                        </a:rPr>
                        <a:t>Typical value</a:t>
                      </a:r>
                      <a:endParaRPr lang="en-US" sz="1400" dirty="0">
                        <a:latin typeface="DM Sans" charset="0"/>
                        <a:ea typeface="DM Sans" charset="0"/>
                        <a:cs typeface="DM Sans" charset="0"/>
                      </a:endParaRPr>
                    </a:p>
                  </a:txBody>
                  <a:tcPr marL="62230" marR="62230" marT="62230" marB="62230" anchor="t">
                    <a:lnL w="12700" cap="flat" cmpd="sng" algn="ctr">
                      <a:solidFill>
                        <a:srgbClr val="B9B8B3"/>
                      </a:solidFill>
                      <a:prstDash val="solid"/>
                      <a:round/>
                      <a:headEnd type="none" w="med" len="med"/>
                      <a:tailEnd type="none" w="med" len="med"/>
                    </a:lnL>
                    <a:lnR w="12700" cap="flat" cmpd="sng" algn="ctr">
                      <a:solidFill>
                        <a:srgbClr val="B9B8B3"/>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8B3"/>
                      </a:solidFill>
                      <a:prstDash val="solid"/>
                      <a:round/>
                      <a:headEnd type="none" w="med" len="med"/>
                      <a:tailEnd type="none" w="med" len="med"/>
                    </a:lnB>
                    <a:solidFill>
                      <a:srgbClr val="E8E6E0"/>
                    </a:solidFill>
                  </a:tcPr>
                </a:tc>
                <a:tc>
                  <a:txBody>
                    <a:bodyPr/>
                    <a:lstStyle/>
                    <a:p>
                      <a:pPr indent="0" marL="0">
                        <a:lnSpc>
                          <a:spcPts val="1960"/>
                        </a:lnSpc>
                        <a:buNone/>
                      </a:pPr>
                      <a:r>
                        <a:rPr lang="en-US" sz="1400" b="1" dirty="0">
                          <a:solidFill>
                            <a:srgbClr val="15171B"/>
                          </a:solidFill>
                          <a:latin typeface="DM Sans" pitchFamily="34" charset="0"/>
                          <a:ea typeface="DM Sans" pitchFamily="34" charset="-122"/>
                          <a:cs typeface="DM Sans" pitchFamily="34" charset="-120"/>
                        </a:rPr>
                        <a:t>Notes</a:t>
                      </a:r>
                      <a:endParaRPr lang="en-US" sz="1400" dirty="0">
                        <a:latin typeface="DM Sans" charset="0"/>
                        <a:ea typeface="DM Sans" charset="0"/>
                        <a:cs typeface="DM Sans" charset="0"/>
                      </a:endParaRPr>
                    </a:p>
                  </a:txBody>
                  <a:tcPr marL="62230" marR="62230" marT="62230" marB="62230" anchor="t">
                    <a:lnL w="12700" cap="flat" cmpd="sng" algn="ctr">
                      <a:solidFill>
                        <a:srgbClr val="B9B8B3"/>
                      </a:solidFill>
                      <a:prstDash val="solid"/>
                      <a:round/>
                      <a:headEnd type="none" w="med" len="med"/>
                      <a:tailEnd type="none" w="med" len="med"/>
                    </a:lnL>
                    <a:lnR w="12700" cap="flat" cmpd="sng" algn="ctr">
                      <a:solidFill>
                        <a:srgbClr val="B9B8B3"/>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8B3"/>
                      </a:solidFill>
                      <a:prstDash val="solid"/>
                      <a:round/>
                      <a:headEnd type="none" w="med" len="med"/>
                      <a:tailEnd type="none" w="med" len="med"/>
                    </a:lnB>
                    <a:solidFill>
                      <a:srgbClr val="E8E6E0"/>
                    </a:solidFill>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Build Command</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8B3"/>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npm install</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8B3"/>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Use npm ci instead if you commit a lockfile</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8B3"/>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Start Command</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npm start</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Runs the start script from package.json</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Root Directory</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Leave blank</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Set it only if the app lives in a subfolder</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Instance Type</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Free</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Upgrade for an always-on service</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416813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Choose a region close to your users, and the branch you want to deploy from.</a:t>
            </a:r>
            <a:endParaRPr lang="en-US" sz="1500" dirty="0"/>
          </a:p>
        </p:txBody>
      </p:sp>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06 · Deploying an Express App on Render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78BFA"/>
                </a:solidFill>
                <a:latin typeface="DM Sans" pitchFamily="34" charset="0"/>
                <a:ea typeface="DM Sans" pitchFamily="34" charset="-122"/>
                <a:cs typeface="DM Sans" pitchFamily="34" charset="-120"/>
              </a:rPr>
              <a:t>CONFIGURATION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1EE"/>
                </a:solidFill>
                <a:latin typeface="DM Sans" pitchFamily="34" charset="0"/>
                <a:ea typeface="DM Sans" pitchFamily="34" charset="-122"/>
                <a:cs typeface="DM Sans" pitchFamily="34" charset="-120"/>
              </a:rPr>
              <a:t>Add environment variables</a:t>
            </a:r>
            <a:endParaRPr lang="en-US" sz="3600" dirty="0"/>
          </a:p>
        </p:txBody>
      </p:sp>
      <p:sp>
        <p:nvSpPr>
          <p:cNvPr id="4" name="Shape 2"/>
          <p:cNvSpPr/>
          <p:nvPr/>
        </p:nvSpPr>
        <p:spPr>
          <a:xfrm>
            <a:off x="815975" y="1938657"/>
            <a:ext cx="5175250" cy="3267710"/>
          </a:xfrm>
          <a:prstGeom prst="roundRect">
            <a:avLst>
              <a:gd name="adj" fmla="val 3789"/>
            </a:avLst>
          </a:prstGeom>
          <a:solidFill>
            <a:srgbClr val="181A1F"/>
          </a:solidFill>
          <a:ln w="6350">
            <a:solidFill>
              <a:srgbClr val="2A2D34"/>
            </a:solidFill>
            <a:prstDash val="solid"/>
          </a:ln>
        </p:spPr>
      </p:sp>
      <p:sp>
        <p:nvSpPr>
          <p:cNvPr id="5" name="Text 3"/>
          <p:cNvSpPr/>
          <p:nvPr/>
        </p:nvSpPr>
        <p:spPr>
          <a:xfrm>
            <a:off x="10718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1EE"/>
                </a:solidFill>
                <a:latin typeface="DM Sans" pitchFamily="34" charset="0"/>
                <a:ea typeface="DM Sans" pitchFamily="34" charset="-122"/>
                <a:cs typeface="DM Sans" pitchFamily="34" charset="-120"/>
              </a:rPr>
              <a:t>In the dashboard</a:t>
            </a:r>
            <a:endParaRPr lang="en-US" sz="1800" dirty="0"/>
          </a:p>
        </p:txBody>
      </p:sp>
      <p:sp>
        <p:nvSpPr>
          <p:cNvPr id="6" name="Text 4"/>
          <p:cNvSpPr/>
          <p:nvPr/>
        </p:nvSpPr>
        <p:spPr>
          <a:xfrm>
            <a:off x="1124823" y="2621282"/>
            <a:ext cx="4742780" cy="1168400"/>
          </a:xfrm>
          <a:prstGeom prst="rect">
            <a:avLst/>
          </a:prstGeom>
          <a:noFill/>
          <a:ln/>
        </p:spPr>
        <p:txBody>
          <a:bodyPr wrap="square" lIns="0" tIns="0" rIns="0" bIns="0" rtlCol="0" anchor="t">
            <a:normAutofit/>
          </a:bodyPr>
          <a:lstStyle/>
          <a:p>
            <a:pPr algn="l" marL="201057" indent="-201057">
              <a:lnSpc>
                <a:spcPts val="2250"/>
              </a:lnSpc>
              <a:buSzPct val="100000"/>
              <a:buFontTx/>
              <a:buAutoNum type="arabicPeriod" startAt="1"/>
            </a:pPr>
            <a:r>
              <a:rPr lang="en-US" sz="1500" dirty="0">
                <a:solidFill>
                  <a:srgbClr val="D7DAE0"/>
                </a:solidFill>
                <a:latin typeface="DM Sans" pitchFamily="34" charset="0"/>
                <a:ea typeface="DM Sans" pitchFamily="34" charset="-122"/>
                <a:cs typeface="DM Sans" pitchFamily="34" charset="-120"/>
              </a:rPr>
              <a:t>Open your service, then Environment.</a:t>
            </a:r>
            <a:endParaRPr lang="en-US" sz="1500" dirty="0"/>
          </a:p>
          <a:p>
            <a:pPr algn="l" marL="201057" indent="-201057">
              <a:lnSpc>
                <a:spcPts val="2250"/>
              </a:lnSpc>
              <a:buSzPct val="100000"/>
              <a:buFontTx/>
              <a:buAutoNum type="arabicPeriod" startAt="1"/>
            </a:pPr>
            <a:r>
              <a:rPr lang="en-US" sz="1500" dirty="0">
                <a:solidFill>
                  <a:srgbClr val="D7DAE0"/>
                </a:solidFill>
                <a:latin typeface="DM Sans" pitchFamily="34" charset="0"/>
                <a:ea typeface="DM Sans" pitchFamily="34" charset="-122"/>
                <a:cs typeface="DM Sans" pitchFamily="34" charset="-120"/>
              </a:rPr>
              <a:t>Add each key and value.</a:t>
            </a:r>
            <a:endParaRPr lang="en-US" sz="1500" dirty="0"/>
          </a:p>
          <a:p>
            <a:pPr algn="l" marL="201057" indent="-201057">
              <a:lnSpc>
                <a:spcPts val="2250"/>
              </a:lnSpc>
              <a:buSzPct val="100000"/>
              <a:buFontTx/>
              <a:buAutoNum type="arabicPeriod" startAt="1"/>
            </a:pPr>
            <a:r>
              <a:rPr lang="en-US" sz="1500" dirty="0">
                <a:solidFill>
                  <a:srgbClr val="D7DAE0"/>
                </a:solidFill>
                <a:latin typeface="DM Sans" pitchFamily="34" charset="0"/>
                <a:ea typeface="DM Sans" pitchFamily="34" charset="-122"/>
                <a:cs typeface="DM Sans" pitchFamily="34" charset="-120"/>
              </a:rPr>
              <a:t>Save and deploy. The service restarts with the new values.</a:t>
            </a:r>
            <a:endParaRPr lang="en-US" sz="1500" dirty="0"/>
          </a:p>
        </p:txBody>
      </p:sp>
      <p:sp>
        <p:nvSpPr>
          <p:cNvPr id="7" name="Shape 5"/>
          <p:cNvSpPr/>
          <p:nvPr/>
        </p:nvSpPr>
        <p:spPr>
          <a:xfrm>
            <a:off x="6200775" y="1938657"/>
            <a:ext cx="5175250" cy="3267710"/>
          </a:xfrm>
          <a:prstGeom prst="roundRect">
            <a:avLst>
              <a:gd name="adj" fmla="val 3789"/>
            </a:avLst>
          </a:prstGeom>
          <a:solidFill>
            <a:srgbClr val="181A1F"/>
          </a:solidFill>
          <a:ln w="6350">
            <a:solidFill>
              <a:srgbClr val="2A2D34"/>
            </a:solidFill>
            <a:prstDash val="solid"/>
          </a:ln>
        </p:spPr>
      </p:sp>
      <p:sp>
        <p:nvSpPr>
          <p:cNvPr id="8" name="Text 6"/>
          <p:cNvSpPr/>
          <p:nvPr/>
        </p:nvSpPr>
        <p:spPr>
          <a:xfrm>
            <a:off x="64566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1EE"/>
                </a:solidFill>
                <a:latin typeface="DM Sans" pitchFamily="34" charset="0"/>
                <a:ea typeface="DM Sans" pitchFamily="34" charset="-122"/>
                <a:cs typeface="DM Sans" pitchFamily="34" charset="-120"/>
              </a:rPr>
              <a:t>Common variables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66840" y="2631442"/>
          <a:ext cx="4653280" cy="1917700"/>
        </p:xfrm>
        <a:graphic>
          <a:graphicData uri="http://schemas.openxmlformats.org/drawingml/2006/table">
            <a:tbl>
              <a:tblPr/>
              <a:tblGrid>
                <a:gridCol w="2093976"/>
                <a:gridCol w="2559304"/>
              </a:tblGrid>
              <a:tr h="383540">
                <a:tc>
                  <a:txBody>
                    <a:bodyPr/>
                    <a:lstStyle/>
                    <a:p>
                      <a:pPr indent="0" marL="0">
                        <a:lnSpc>
                          <a:spcPts val="1960"/>
                        </a:lnSpc>
                        <a:buNone/>
                      </a:pPr>
                      <a:r>
                        <a:rPr lang="en-US" sz="1400" b="1" dirty="0">
                          <a:solidFill>
                            <a:srgbClr val="D7DAE0"/>
                          </a:solidFill>
                          <a:latin typeface="DM Sans" pitchFamily="34" charset="0"/>
                          <a:ea typeface="DM Sans" pitchFamily="34" charset="-122"/>
                          <a:cs typeface="DM Sans" pitchFamily="34" charset="-120"/>
                        </a:rPr>
                        <a:t>Variable</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525459"/>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525459"/>
                      </a:solidFill>
                      <a:prstDash val="solid"/>
                      <a:round/>
                      <a:headEnd type="none" w="med" len="med"/>
                      <a:tailEnd type="none" w="med" len="med"/>
                    </a:lnB>
                    <a:solidFill>
                      <a:srgbClr val="23262D"/>
                    </a:solidFill>
                  </a:tcPr>
                </a:tc>
                <a:tc>
                  <a:txBody>
                    <a:bodyPr/>
                    <a:lstStyle/>
                    <a:p>
                      <a:pPr indent="0" marL="0">
                        <a:lnSpc>
                          <a:spcPts val="1960"/>
                        </a:lnSpc>
                        <a:buNone/>
                      </a:pPr>
                      <a:r>
                        <a:rPr lang="en-US" sz="1400" b="1" dirty="0">
                          <a:solidFill>
                            <a:srgbClr val="D7DAE0"/>
                          </a:solidFill>
                          <a:latin typeface="DM Sans" pitchFamily="34" charset="0"/>
                          <a:ea typeface="DM Sans" pitchFamily="34" charset="-122"/>
                          <a:cs typeface="DM Sans" pitchFamily="34" charset="-120"/>
                        </a:rPr>
                        <a:t>Use</a:t>
                      </a:r>
                      <a:endParaRPr lang="en-US" sz="1400" dirty="0">
                        <a:latin typeface="DM Sans" charset="0"/>
                        <a:ea typeface="DM Sans" charset="0"/>
                        <a:cs typeface="DM Sans" charset="0"/>
                      </a:endParaRPr>
                    </a:p>
                  </a:txBody>
                  <a:tcPr marL="62230" marR="62230" marT="62230" marB="62230" anchor="t">
                    <a:lnL w="12700" cap="flat" cmpd="sng" algn="ctr">
                      <a:solidFill>
                        <a:srgbClr val="525459"/>
                      </a:solidFill>
                      <a:prstDash val="solid"/>
                      <a:round/>
                      <a:headEnd type="none" w="med" len="med"/>
                      <a:tailEnd type="none" w="med" len="med"/>
                    </a:lnL>
                    <a:lnR w="12700" cap="flat" cmpd="sng" algn="ctr">
                      <a:solidFill>
                        <a:srgbClr val="525459"/>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525459"/>
                      </a:solidFill>
                      <a:prstDash val="solid"/>
                      <a:round/>
                      <a:headEnd type="none" w="med" len="med"/>
                      <a:tailEnd type="none" w="med" len="med"/>
                    </a:lnB>
                    <a:solidFill>
                      <a:srgbClr val="23262D"/>
                    </a:solidFill>
                  </a:tcPr>
                </a:tc>
              </a:tr>
              <a:tr h="383540">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NODE_ENV</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525459"/>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Set to production</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525459"/>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NODE_VERSION</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Pin the Node release</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DATABASE_URL</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Database connection</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SESSION_SECRET</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c>
                  <a:txBody>
                    <a:bodyPr/>
                    <a:lstStyle/>
                    <a:p>
                      <a:pPr indent="0" marL="0">
                        <a:lnSpc>
                          <a:spcPts val="1960"/>
                        </a:lnSpc>
                        <a:buNone/>
                      </a:pPr>
                      <a:r>
                        <a:rPr lang="en-US" sz="1400" dirty="0">
                          <a:solidFill>
                            <a:srgbClr val="D7DAE0"/>
                          </a:solidFill>
                          <a:latin typeface="DM Sans" pitchFamily="34" charset="0"/>
                          <a:ea typeface="DM Sans" pitchFamily="34" charset="-122"/>
                          <a:cs typeface="DM Sans" pitchFamily="34" charset="-120"/>
                        </a:rPr>
                        <a:t>Signing secrets</a:t>
                      </a:r>
                      <a:endParaRPr lang="en-US" sz="1400" dirty="0">
                        <a:latin typeface="DM Sans" charset="0"/>
                        <a:ea typeface="DM Sans" charset="0"/>
                        <a:cs typeface="DM Sans" charset="0"/>
                      </a:endParaRPr>
                    </a:p>
                  </a:txBody>
                  <a:tcPr marL="62230" marR="62230" marT="62230" marB="62230" anchor="t">
                    <a:lnL w="12700" cap="flat" cmpd="sng" algn="ctr">
                      <a:solidFill>
                        <a:srgbClr val="4A4B4E"/>
                      </a:solidFill>
                      <a:prstDash val="solid"/>
                      <a:round/>
                      <a:headEnd type="none" w="med" len="med"/>
                      <a:tailEnd type="none" w="med" len="med"/>
                    </a:lnL>
                    <a:lnR w="12700" cap="flat" cmpd="sng" algn="ctr">
                      <a:solidFill>
                        <a:srgbClr val="4A4B4E"/>
                      </a:solidFill>
                      <a:prstDash val="solid"/>
                      <a:round/>
                      <a:headEnd type="none" w="med" len="med"/>
                      <a:tailEnd type="none" w="med" len="med"/>
                    </a:lnR>
                    <a:lnT w="12700" cap="flat" cmpd="sng" algn="ctr">
                      <a:solidFill>
                        <a:srgbClr val="4A4B4E"/>
                      </a:solidFill>
                      <a:prstDash val="solid"/>
                      <a:round/>
                      <a:headEnd type="none" w="med" len="med"/>
                      <a:tailEnd type="none" w="med" len="med"/>
                    </a:lnT>
                    <a:lnB w="12700" cap="flat" cmpd="sng" algn="ctr">
                      <a:solidFill>
                        <a:srgbClr val="4A4B4E"/>
                      </a:solidFill>
                      <a:prstDash val="solid"/>
                      <a:round/>
                      <a:headEnd type="none" w="med" len="med"/>
                      <a:tailEnd type="none" w="med" len="med"/>
                    </a:lnB>
                  </a:tcPr>
                </a:tc>
              </a:tr>
            </a:tbl>
          </a:graphicData>
        </a:graphic>
      </p:graphicFrame>
      <p:sp>
        <p:nvSpPr>
          <p:cNvPr id="10" name="Text 7"/>
          <p:cNvSpPr/>
          <p:nvPr/>
        </p:nvSpPr>
        <p:spPr>
          <a:xfrm>
            <a:off x="6456680" y="4701539"/>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DB5"/>
                </a:solidFill>
                <a:latin typeface="DM Sans" pitchFamily="34" charset="0"/>
                <a:ea typeface="DM Sans" pitchFamily="34" charset="-122"/>
                <a:cs typeface="DM Sans" pitchFamily="34" charset="-120"/>
              </a:rPr>
              <a:t>Keep secrets out of Git. Never commit your .env file.</a:t>
            </a:r>
            <a:endParaRPr lang="en-US" sz="1400" dirty="0"/>
          </a:p>
        </p:txBody>
      </p:sp>
      <p:sp>
        <p:nvSpPr>
          <p:cNvPr id="11" name="Text 8"/>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DM Sans" pitchFamily="34" charset="0"/>
                <a:ea typeface="DM Sans" pitchFamily="34" charset="-122"/>
                <a:cs typeface="DM Sans" pitchFamily="34" charset="-120"/>
              </a:rPr>
              <a:t>07 · Deploying an Express App on Render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78BFA"/>
                </a:solidFill>
                <a:latin typeface="DM Sans" pitchFamily="34" charset="0"/>
                <a:ea typeface="DM Sans" pitchFamily="34" charset="-122"/>
                <a:cs typeface="DM Sans" pitchFamily="34" charset="-120"/>
              </a:rPr>
              <a:t>INFRASTRUCTURE AS CODE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1EE"/>
                </a:solidFill>
                <a:latin typeface="DM Sans" pitchFamily="34" charset="0"/>
                <a:ea typeface="DM Sans" pitchFamily="34" charset="-122"/>
                <a:cs typeface="DM Sans" pitchFamily="34" charset="-120"/>
              </a:rPr>
              <a:t>Define it in render.yaml</a:t>
            </a:r>
            <a:endParaRPr lang="en-US" sz="3600" dirty="0"/>
          </a:p>
        </p:txBody>
      </p:sp>
      <p:sp>
        <p:nvSpPr>
          <p:cNvPr id="4" name="Text 2"/>
          <p:cNvSpPr/>
          <p:nvPr/>
        </p:nvSpPr>
        <p:spPr>
          <a:xfrm>
            <a:off x="812800" y="1935482"/>
            <a:ext cx="4481633"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D7DAE0"/>
                </a:solidFill>
                <a:latin typeface="DM Sans" pitchFamily="34" charset="0"/>
                <a:ea typeface="DM Sans" pitchFamily="34" charset="-122"/>
                <a:cs typeface="DM Sans" pitchFamily="34" charset="-120"/>
              </a:rPr>
              <a:t>A Blueprint file in the repository root describes the service, so the setup is repeatable and reviewable.</a:t>
            </a:r>
            <a:endParaRPr lang="en-US" sz="1700" dirty="0"/>
          </a:p>
        </p:txBody>
      </p:sp>
      <p:sp>
        <p:nvSpPr>
          <p:cNvPr id="5" name="Text 3"/>
          <p:cNvSpPr/>
          <p:nvPr/>
        </p:nvSpPr>
        <p:spPr>
          <a:xfrm>
            <a:off x="812800" y="3020061"/>
            <a:ext cx="4481633"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ADB5"/>
                </a:solidFill>
                <a:latin typeface="DM Sans" pitchFamily="34" charset="0"/>
                <a:ea typeface="DM Sans" pitchFamily="34" charset="-122"/>
                <a:cs typeface="DM Sans" pitchFamily="34" charset="-120"/>
              </a:rPr>
              <a:t>In the dashboard, choose New, then Blueprint, and select the repo.</a:t>
            </a:r>
            <a:endParaRPr lang="en-US" sz="1700" dirty="0"/>
          </a:p>
        </p:txBody>
      </p:sp>
      <p:sp>
        <p:nvSpPr>
          <p:cNvPr id="6" name="Shape 4"/>
          <p:cNvSpPr/>
          <p:nvPr/>
        </p:nvSpPr>
        <p:spPr>
          <a:xfrm>
            <a:off x="5367100" y="1935482"/>
            <a:ext cx="6012101" cy="2946400"/>
          </a:xfrm>
          <a:prstGeom prst="roundRect">
            <a:avLst>
              <a:gd name="adj" fmla="val 3448"/>
            </a:avLst>
          </a:prstGeom>
          <a:solidFill>
            <a:srgbClr val="07080A"/>
          </a:solidFill>
          <a:ln/>
        </p:spPr>
      </p:sp>
      <p:sp>
        <p:nvSpPr>
          <p:cNvPr id="7" name="Text 5"/>
          <p:cNvSpPr/>
          <p:nvPr/>
        </p:nvSpPr>
        <p:spPr>
          <a:xfrm>
            <a:off x="5544900" y="2138682"/>
            <a:ext cx="58261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services:</a:t>
            </a:r>
            <a:endParaRPr lang="en-US" sz="1300" dirty="0"/>
          </a:p>
        </p:txBody>
      </p:sp>
      <p:sp>
        <p:nvSpPr>
          <p:cNvPr id="8" name="Text 6"/>
          <p:cNvSpPr/>
          <p:nvPr/>
        </p:nvSpPr>
        <p:spPr>
          <a:xfrm>
            <a:off x="5697300" y="2395221"/>
            <a:ext cx="566922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 type: web</a:t>
            </a:r>
            <a:endParaRPr lang="en-US" sz="1300" dirty="0"/>
          </a:p>
        </p:txBody>
      </p:sp>
      <p:sp>
        <p:nvSpPr>
          <p:cNvPr id="9" name="Text 7"/>
          <p:cNvSpPr/>
          <p:nvPr/>
        </p:nvSpPr>
        <p:spPr>
          <a:xfrm>
            <a:off x="5900500" y="2651761"/>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name: express-app</a:t>
            </a:r>
            <a:endParaRPr lang="en-US" sz="1300" dirty="0"/>
          </a:p>
        </p:txBody>
      </p:sp>
      <p:sp>
        <p:nvSpPr>
          <p:cNvPr id="10" name="Text 8"/>
          <p:cNvSpPr/>
          <p:nvPr/>
        </p:nvSpPr>
        <p:spPr>
          <a:xfrm>
            <a:off x="5900500" y="2908300"/>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runtime: node</a:t>
            </a:r>
            <a:endParaRPr lang="en-US" sz="1300" dirty="0"/>
          </a:p>
        </p:txBody>
      </p:sp>
      <p:sp>
        <p:nvSpPr>
          <p:cNvPr id="11" name="Text 9"/>
          <p:cNvSpPr/>
          <p:nvPr/>
        </p:nvSpPr>
        <p:spPr>
          <a:xfrm>
            <a:off x="5900500" y="3164839"/>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buildCommand: npm install</a:t>
            </a:r>
            <a:endParaRPr lang="en-US" sz="1300" dirty="0"/>
          </a:p>
        </p:txBody>
      </p:sp>
      <p:sp>
        <p:nvSpPr>
          <p:cNvPr id="12" name="Text 10"/>
          <p:cNvSpPr/>
          <p:nvPr/>
        </p:nvSpPr>
        <p:spPr>
          <a:xfrm>
            <a:off x="5900500" y="3421382"/>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startCommand: npm start</a:t>
            </a:r>
            <a:endParaRPr lang="en-US" sz="1300" dirty="0"/>
          </a:p>
        </p:txBody>
      </p:sp>
      <p:sp>
        <p:nvSpPr>
          <p:cNvPr id="13" name="Text 11"/>
          <p:cNvSpPr/>
          <p:nvPr/>
        </p:nvSpPr>
        <p:spPr>
          <a:xfrm>
            <a:off x="5900500" y="3677921"/>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plan: free</a:t>
            </a:r>
            <a:endParaRPr lang="en-US" sz="1300" dirty="0"/>
          </a:p>
        </p:txBody>
      </p:sp>
      <p:sp>
        <p:nvSpPr>
          <p:cNvPr id="14" name="Text 12"/>
          <p:cNvSpPr/>
          <p:nvPr/>
        </p:nvSpPr>
        <p:spPr>
          <a:xfrm>
            <a:off x="5900500" y="3934461"/>
            <a:ext cx="5459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envVars:</a:t>
            </a:r>
            <a:endParaRPr lang="en-US" sz="1300" dirty="0"/>
          </a:p>
        </p:txBody>
      </p:sp>
      <p:sp>
        <p:nvSpPr>
          <p:cNvPr id="15" name="Text 13"/>
          <p:cNvSpPr/>
          <p:nvPr/>
        </p:nvSpPr>
        <p:spPr>
          <a:xfrm>
            <a:off x="6052900" y="4191000"/>
            <a:ext cx="530295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78BFA"/>
                </a:solidFill>
                <a:latin typeface="Fira Code" pitchFamily="49" charset="0"/>
                <a:ea typeface="Fira Code" pitchFamily="49" charset="-122"/>
                <a:cs typeface="Fira Code" pitchFamily="49" charset="-120"/>
              </a:rPr>
              <a:t>- key: NODE_ENV</a:t>
            </a:r>
            <a:endParaRPr lang="en-US" sz="1300" dirty="0"/>
          </a:p>
        </p:txBody>
      </p:sp>
      <p:sp>
        <p:nvSpPr>
          <p:cNvPr id="16" name="Text 14"/>
          <p:cNvSpPr/>
          <p:nvPr/>
        </p:nvSpPr>
        <p:spPr>
          <a:xfrm>
            <a:off x="6256100" y="4447542"/>
            <a:ext cx="50936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AE0"/>
                </a:solidFill>
                <a:latin typeface="Fira Code" pitchFamily="49" charset="0"/>
                <a:ea typeface="Fira Code" pitchFamily="49" charset="-122"/>
                <a:cs typeface="Fira Code" pitchFamily="49" charset="-120"/>
              </a:rPr>
              <a:t>value: production</a:t>
            </a:r>
            <a:endParaRPr lang="en-US" sz="1300" dirty="0"/>
          </a:p>
        </p:txBody>
      </p:sp>
      <p:sp>
        <p:nvSpPr>
          <p:cNvPr id="17"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DM Sans" pitchFamily="34" charset="0"/>
                <a:ea typeface="DM Sans" pitchFamily="34" charset="-122"/>
                <a:cs typeface="DM Sans" pitchFamily="34" charset="-120"/>
              </a:rPr>
              <a:t>08 · Deploying an Express App on Render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DAY-TO-DAY WORKFLOW</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Deploy and monitor</a:t>
            </a:r>
            <a:endParaRPr lang="en-US" sz="3600" dirty="0"/>
          </a:p>
        </p:txBody>
      </p:sp>
      <p:sp>
        <p:nvSpPr>
          <p:cNvPr id="4" name="Shape 2"/>
          <p:cNvSpPr/>
          <p:nvPr/>
        </p:nvSpPr>
        <p:spPr>
          <a:xfrm>
            <a:off x="815975" y="1989454"/>
            <a:ext cx="3380264" cy="2277110"/>
          </a:xfrm>
          <a:prstGeom prst="roundRect">
            <a:avLst>
              <a:gd name="adj" fmla="val 5438"/>
            </a:avLst>
          </a:prstGeom>
          <a:solidFill>
            <a:srgbClr val="FBFAF8"/>
          </a:solidFill>
          <a:ln w="6350">
            <a:solidFill>
              <a:srgbClr val="DDDBD5"/>
            </a:solidFill>
            <a:prstDash val="solid"/>
          </a:ln>
        </p:spPr>
      </p:sp>
      <p:pic>
        <p:nvPicPr>
          <p:cNvPr id="5" name="Image 0" descr="Lightning">    </p:cNvPr>
          <p:cNvPicPr>
            <a:picLocks noChangeAspect="1"/>
          </p:cNvPicPr>
          <p:nvPr/>
        </p:nvPicPr>
        <p:blipFill>
          <a:blip r:embed="rId1"/>
          <a:srcRect l="0" r="0" t="0" b="0"/>
          <a:stretch/>
        </p:blipFill>
        <p:spPr>
          <a:xfrm>
            <a:off x="1071880" y="2245364"/>
            <a:ext cx="406400" cy="406400"/>
          </a:xfrm>
          <a:prstGeom prst="rect">
            <a:avLst/>
          </a:prstGeom>
        </p:spPr>
      </p:pic>
      <p:sp>
        <p:nvSpPr>
          <p:cNvPr id="6" name="Text 3"/>
          <p:cNvSpPr/>
          <p:nvPr/>
        </p:nvSpPr>
        <p:spPr>
          <a:xfrm>
            <a:off x="1071880" y="2778764"/>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Auto-deploy</a:t>
            </a:r>
            <a:endParaRPr lang="en-US" sz="2000" dirty="0"/>
          </a:p>
        </p:txBody>
      </p:sp>
      <p:sp>
        <p:nvSpPr>
          <p:cNvPr id="7" name="Text 4"/>
          <p:cNvSpPr/>
          <p:nvPr/>
        </p:nvSpPr>
        <p:spPr>
          <a:xfrm>
            <a:off x="1071880" y="3210564"/>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A push to the connected branch triggers a new build and release. Switch it off for manual deploys.</a:t>
            </a:r>
            <a:endParaRPr lang="en-US" sz="1500" dirty="0"/>
          </a:p>
        </p:txBody>
      </p:sp>
      <p:sp>
        <p:nvSpPr>
          <p:cNvPr id="8" name="Shape 5"/>
          <p:cNvSpPr/>
          <p:nvPr/>
        </p:nvSpPr>
        <p:spPr>
          <a:xfrm>
            <a:off x="4405789" y="1989454"/>
            <a:ext cx="3380343" cy="2277110"/>
          </a:xfrm>
          <a:prstGeom prst="roundRect">
            <a:avLst>
              <a:gd name="adj" fmla="val 5438"/>
            </a:avLst>
          </a:prstGeom>
          <a:solidFill>
            <a:srgbClr val="FBFAF8"/>
          </a:solidFill>
          <a:ln w="6350">
            <a:solidFill>
              <a:srgbClr val="DDDBD5"/>
            </a:solidFill>
            <a:prstDash val="solid"/>
          </a:ln>
        </p:spPr>
      </p:sp>
      <p:pic>
        <p:nvPicPr>
          <p:cNvPr id="9" name="Image 1" descr="Activity">    </p:cNvPr>
          <p:cNvPicPr>
            <a:picLocks noChangeAspect="1"/>
          </p:cNvPicPr>
          <p:nvPr/>
        </p:nvPicPr>
        <p:blipFill>
          <a:blip r:embed="rId2"/>
          <a:srcRect l="0" r="0" t="0" b="0"/>
          <a:stretch/>
        </p:blipFill>
        <p:spPr>
          <a:xfrm>
            <a:off x="4661694" y="2245364"/>
            <a:ext cx="406400" cy="406400"/>
          </a:xfrm>
          <a:prstGeom prst="rect">
            <a:avLst/>
          </a:prstGeom>
        </p:spPr>
      </p:pic>
      <p:sp>
        <p:nvSpPr>
          <p:cNvPr id="10" name="Text 6"/>
          <p:cNvSpPr/>
          <p:nvPr/>
        </p:nvSpPr>
        <p:spPr>
          <a:xfrm>
            <a:off x="4661694"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Live logs</a:t>
            </a:r>
            <a:endParaRPr lang="en-US" sz="2000" dirty="0"/>
          </a:p>
        </p:txBody>
      </p:sp>
      <p:sp>
        <p:nvSpPr>
          <p:cNvPr id="11" name="Text 7"/>
          <p:cNvSpPr/>
          <p:nvPr/>
        </p:nvSpPr>
        <p:spPr>
          <a:xfrm>
            <a:off x="4661694" y="3210564"/>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Watch build and runtime output in the Logs tab to catch errors early.</a:t>
            </a:r>
            <a:endParaRPr lang="en-US" sz="1500" dirty="0"/>
          </a:p>
        </p:txBody>
      </p:sp>
      <p:sp>
        <p:nvSpPr>
          <p:cNvPr id="12" name="Shape 8"/>
          <p:cNvSpPr/>
          <p:nvPr/>
        </p:nvSpPr>
        <p:spPr>
          <a:xfrm>
            <a:off x="7995682" y="1989454"/>
            <a:ext cx="3380343" cy="2277110"/>
          </a:xfrm>
          <a:prstGeom prst="roundRect">
            <a:avLst>
              <a:gd name="adj" fmla="val 5438"/>
            </a:avLst>
          </a:prstGeom>
          <a:solidFill>
            <a:srgbClr val="FBFAF8"/>
          </a:solidFill>
          <a:ln w="6350">
            <a:solidFill>
              <a:srgbClr val="DDDBD5"/>
            </a:solidFill>
            <a:prstDash val="solid"/>
          </a:ln>
        </p:spPr>
      </p:sp>
      <p:pic>
        <p:nvPicPr>
          <p:cNvPr id="13" name="Image 2" descr="Verified">    </p:cNvPr>
          <p:cNvPicPr>
            <a:picLocks noChangeAspect="1"/>
          </p:cNvPicPr>
          <p:nvPr/>
        </p:nvPicPr>
        <p:blipFill>
          <a:blip r:embed="rId3"/>
          <a:srcRect l="0" r="0" t="0" b="0"/>
          <a:stretch/>
        </p:blipFill>
        <p:spPr>
          <a:xfrm>
            <a:off x="8251587" y="2245364"/>
            <a:ext cx="406400" cy="406400"/>
          </a:xfrm>
          <a:prstGeom prst="rect">
            <a:avLst/>
          </a:prstGeom>
        </p:spPr>
      </p:pic>
      <p:sp>
        <p:nvSpPr>
          <p:cNvPr id="14" name="Text 9"/>
          <p:cNvSpPr/>
          <p:nvPr/>
        </p:nvSpPr>
        <p:spPr>
          <a:xfrm>
            <a:off x="8251587"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71B"/>
                </a:solidFill>
                <a:latin typeface="DM Sans" pitchFamily="34" charset="0"/>
                <a:ea typeface="DM Sans" pitchFamily="34" charset="-122"/>
                <a:cs typeface="DM Sans" pitchFamily="34" charset="-120"/>
              </a:rPr>
              <a:t>Health checks</a:t>
            </a:r>
            <a:endParaRPr lang="en-US" sz="2000" dirty="0"/>
          </a:p>
        </p:txBody>
      </p:sp>
      <p:sp>
        <p:nvSpPr>
          <p:cNvPr id="15" name="Text 10"/>
          <p:cNvSpPr/>
          <p:nvPr/>
        </p:nvSpPr>
        <p:spPr>
          <a:xfrm>
            <a:off x="8251587" y="3210564"/>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DM Sans" pitchFamily="34" charset="0"/>
                <a:ea typeface="DM Sans" pitchFamily="34" charset="-122"/>
                <a:cs typeface="DM Sans" pitchFamily="34" charset="-120"/>
              </a:rPr>
              <a:t>Set a health check path such as /health so Render knows when the new version is ready.</a:t>
            </a:r>
            <a:endParaRPr lang="en-US" sz="1500" dirty="0"/>
          </a:p>
        </p:txBody>
      </p:sp>
      <p:sp>
        <p:nvSpPr>
          <p:cNvPr id="16" name="Text 11"/>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09 · Deploying an Express App on Render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78BFA"/>
                </a:solidFill>
                <a:latin typeface="DM Sans" pitchFamily="34" charset="0"/>
                <a:ea typeface="DM Sans" pitchFamily="34" charset="-122"/>
                <a:cs typeface="DM Sans" pitchFamily="34" charset="-120"/>
              </a:rPr>
              <a:t>KNOW THE LIMITS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1EE"/>
                </a:solidFill>
                <a:latin typeface="DM Sans" pitchFamily="34" charset="0"/>
                <a:ea typeface="DM Sans" pitchFamily="34" charset="-122"/>
                <a:cs typeface="DM Sans" pitchFamily="34" charset="-120"/>
              </a:rPr>
              <a:t>Free tier: what to expect</a:t>
            </a:r>
            <a:endParaRPr lang="en-US" sz="3600" dirty="0"/>
          </a:p>
        </p:txBody>
      </p:sp>
      <p:sp>
        <p:nvSpPr>
          <p:cNvPr id="4" name="Shape 2"/>
          <p:cNvSpPr/>
          <p:nvPr/>
        </p:nvSpPr>
        <p:spPr>
          <a:xfrm>
            <a:off x="815975" y="1989454"/>
            <a:ext cx="3380264" cy="2277110"/>
          </a:xfrm>
          <a:prstGeom prst="roundRect">
            <a:avLst>
              <a:gd name="adj" fmla="val 5438"/>
            </a:avLst>
          </a:prstGeom>
          <a:solidFill>
            <a:srgbClr val="181A1F"/>
          </a:solidFill>
          <a:ln w="6350">
            <a:solidFill>
              <a:srgbClr val="2A2D34"/>
            </a:solidFill>
            <a:prstDash val="solid"/>
          </a:ln>
        </p:spPr>
      </p:sp>
      <p:pic>
        <p:nvPicPr>
          <p:cNvPr id="5" name="Image 0" descr="Clock">    </p:cNvPr>
          <p:cNvPicPr>
            <a:picLocks noChangeAspect="1"/>
          </p:cNvPicPr>
          <p:nvPr/>
        </p:nvPicPr>
        <p:blipFill>
          <a:blip r:embed="rId1"/>
          <a:srcRect l="0" r="0" t="0" b="0"/>
          <a:stretch/>
        </p:blipFill>
        <p:spPr>
          <a:xfrm>
            <a:off x="1071880" y="2245364"/>
            <a:ext cx="406400" cy="406400"/>
          </a:xfrm>
          <a:prstGeom prst="rect">
            <a:avLst/>
          </a:prstGeom>
        </p:spPr>
      </p:pic>
      <p:sp>
        <p:nvSpPr>
          <p:cNvPr id="6" name="Text 3"/>
          <p:cNvSpPr/>
          <p:nvPr/>
        </p:nvSpPr>
        <p:spPr>
          <a:xfrm>
            <a:off x="1071880" y="2778764"/>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E"/>
                </a:solidFill>
                <a:latin typeface="DM Sans" pitchFamily="34" charset="0"/>
                <a:ea typeface="DM Sans" pitchFamily="34" charset="-122"/>
                <a:cs typeface="DM Sans" pitchFamily="34" charset="-120"/>
              </a:rPr>
              <a:t>Spins down when idle</a:t>
            </a:r>
            <a:endParaRPr lang="en-US" sz="2000" dirty="0"/>
          </a:p>
        </p:txBody>
      </p:sp>
      <p:sp>
        <p:nvSpPr>
          <p:cNvPr id="7" name="Text 4"/>
          <p:cNvSpPr/>
          <p:nvPr/>
        </p:nvSpPr>
        <p:spPr>
          <a:xfrm>
            <a:off x="1071880" y="3210564"/>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DB5"/>
                </a:solidFill>
                <a:latin typeface="DM Sans" pitchFamily="34" charset="0"/>
                <a:ea typeface="DM Sans" pitchFamily="34" charset="-122"/>
                <a:cs typeface="DM Sans" pitchFamily="34" charset="-120"/>
              </a:rPr>
              <a:t>A free service goes to sleep after about 15 minutes without traffic.</a:t>
            </a:r>
            <a:endParaRPr lang="en-US" sz="1500" dirty="0"/>
          </a:p>
        </p:txBody>
      </p:sp>
      <p:sp>
        <p:nvSpPr>
          <p:cNvPr id="8" name="Shape 5"/>
          <p:cNvSpPr/>
          <p:nvPr/>
        </p:nvSpPr>
        <p:spPr>
          <a:xfrm>
            <a:off x="4405789" y="1989454"/>
            <a:ext cx="3380343" cy="2277110"/>
          </a:xfrm>
          <a:prstGeom prst="roundRect">
            <a:avLst>
              <a:gd name="adj" fmla="val 5438"/>
            </a:avLst>
          </a:prstGeom>
          <a:solidFill>
            <a:srgbClr val="181A1F"/>
          </a:solidFill>
          <a:ln w="6350">
            <a:solidFill>
              <a:srgbClr val="2A2D34"/>
            </a:solidFill>
            <a:prstDash val="solid"/>
          </a:ln>
        </p:spPr>
      </p:sp>
      <p:pic>
        <p:nvPicPr>
          <p:cNvPr id="9" name="Image 1" descr="Warning">    </p:cNvPr>
          <p:cNvPicPr>
            <a:picLocks noChangeAspect="1"/>
          </p:cNvPicPr>
          <p:nvPr/>
        </p:nvPicPr>
        <p:blipFill>
          <a:blip r:embed="rId2"/>
          <a:srcRect l="0" r="0" t="0" b="0"/>
          <a:stretch/>
        </p:blipFill>
        <p:spPr>
          <a:xfrm>
            <a:off x="4661694" y="2245364"/>
            <a:ext cx="406400" cy="406400"/>
          </a:xfrm>
          <a:prstGeom prst="rect">
            <a:avLst/>
          </a:prstGeom>
        </p:spPr>
      </p:pic>
      <p:sp>
        <p:nvSpPr>
          <p:cNvPr id="10" name="Text 6"/>
          <p:cNvSpPr/>
          <p:nvPr/>
        </p:nvSpPr>
        <p:spPr>
          <a:xfrm>
            <a:off x="4661694"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E"/>
                </a:solidFill>
                <a:latin typeface="DM Sans" pitchFamily="34" charset="0"/>
                <a:ea typeface="DM Sans" pitchFamily="34" charset="-122"/>
                <a:cs typeface="DM Sans" pitchFamily="34" charset="-120"/>
              </a:rPr>
              <a:t>Slow first request</a:t>
            </a:r>
            <a:endParaRPr lang="en-US" sz="2000" dirty="0"/>
          </a:p>
        </p:txBody>
      </p:sp>
      <p:sp>
        <p:nvSpPr>
          <p:cNvPr id="11" name="Text 7"/>
          <p:cNvSpPr/>
          <p:nvPr/>
        </p:nvSpPr>
        <p:spPr>
          <a:xfrm>
            <a:off x="4661694" y="3210564"/>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DB5"/>
                </a:solidFill>
                <a:latin typeface="DM Sans" pitchFamily="34" charset="0"/>
                <a:ea typeface="DM Sans" pitchFamily="34" charset="-122"/>
                <a:cs typeface="DM Sans" pitchFamily="34" charset="-120"/>
              </a:rPr>
              <a:t>The next request wakes it up, which can take around a minute.</a:t>
            </a:r>
            <a:endParaRPr lang="en-US" sz="1500" dirty="0"/>
          </a:p>
        </p:txBody>
      </p:sp>
      <p:sp>
        <p:nvSpPr>
          <p:cNvPr id="12" name="Shape 8"/>
          <p:cNvSpPr/>
          <p:nvPr/>
        </p:nvSpPr>
        <p:spPr>
          <a:xfrm>
            <a:off x="7995682" y="1989454"/>
            <a:ext cx="3380343" cy="2277110"/>
          </a:xfrm>
          <a:prstGeom prst="roundRect">
            <a:avLst>
              <a:gd name="adj" fmla="val 5438"/>
            </a:avLst>
          </a:prstGeom>
          <a:solidFill>
            <a:srgbClr val="181A1F"/>
          </a:solidFill>
          <a:ln w="6350">
            <a:solidFill>
              <a:srgbClr val="2A2D34"/>
            </a:solidFill>
            <a:prstDash val="solid"/>
          </a:ln>
        </p:spPr>
      </p:sp>
      <p:pic>
        <p:nvPicPr>
          <p:cNvPr id="13" name="Image 2" descr="Database">    </p:cNvPr>
          <p:cNvPicPr>
            <a:picLocks noChangeAspect="1"/>
          </p:cNvPicPr>
          <p:nvPr/>
        </p:nvPicPr>
        <p:blipFill>
          <a:blip r:embed="rId3"/>
          <a:srcRect l="0" r="0" t="0" b="0"/>
          <a:stretch/>
        </p:blipFill>
        <p:spPr>
          <a:xfrm>
            <a:off x="8251587" y="2245364"/>
            <a:ext cx="406400" cy="406400"/>
          </a:xfrm>
          <a:prstGeom prst="rect">
            <a:avLst/>
          </a:prstGeom>
        </p:spPr>
      </p:pic>
      <p:sp>
        <p:nvSpPr>
          <p:cNvPr id="14" name="Text 9"/>
          <p:cNvSpPr/>
          <p:nvPr/>
        </p:nvSpPr>
        <p:spPr>
          <a:xfrm>
            <a:off x="8251587"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E"/>
                </a:solidFill>
                <a:latin typeface="DM Sans" pitchFamily="34" charset="0"/>
                <a:ea typeface="DM Sans" pitchFamily="34" charset="-122"/>
                <a:cs typeface="DM Sans" pitchFamily="34" charset="-120"/>
              </a:rPr>
              <a:t>Temporary disk</a:t>
            </a:r>
            <a:endParaRPr lang="en-US" sz="2000" dirty="0"/>
          </a:p>
        </p:txBody>
      </p:sp>
      <p:sp>
        <p:nvSpPr>
          <p:cNvPr id="15" name="Text 10"/>
          <p:cNvSpPr/>
          <p:nvPr/>
        </p:nvSpPr>
        <p:spPr>
          <a:xfrm>
            <a:off x="8251587" y="3210564"/>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DB5"/>
                </a:solidFill>
                <a:latin typeface="DM Sans" pitchFamily="34" charset="0"/>
                <a:ea typeface="DM Sans" pitchFamily="34" charset="-122"/>
                <a:cs typeface="DM Sans" pitchFamily="34" charset="-120"/>
              </a:rPr>
              <a:t>Files written at runtime are lost on redeploy. Store data in a database.</a:t>
            </a:r>
            <a:endParaRPr lang="en-US" sz="1500" dirty="0"/>
          </a:p>
        </p:txBody>
      </p:sp>
      <p:sp>
        <p:nvSpPr>
          <p:cNvPr id="16" name="Text 11"/>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DM Sans" pitchFamily="34" charset="0"/>
                <a:ea typeface="DM Sans" pitchFamily="34" charset="-122"/>
                <a:cs typeface="DM Sans" pitchFamily="34" charset="-120"/>
              </a:rPr>
              <a:t>10 · Deploying an Express App on Render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B33D6"/>
                </a:solidFill>
                <a:latin typeface="DM Sans" pitchFamily="34" charset="0"/>
                <a:ea typeface="DM Sans" pitchFamily="34" charset="-122"/>
                <a:cs typeface="DM Sans" pitchFamily="34" charset="-120"/>
              </a:rPr>
              <a:t>COMMON PROBLEMS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71B"/>
                </a:solidFill>
                <a:latin typeface="DM Sans" pitchFamily="34" charset="0"/>
                <a:ea typeface="DM Sans" pitchFamily="34" charset="-122"/>
                <a:cs typeface="DM Sans" pitchFamily="34" charset="-120"/>
              </a:rPr>
              <a:t>Troubleshooting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39"/>
          <a:ext cx="10556240" cy="1917700"/>
        </p:xfrm>
        <a:graphic>
          <a:graphicData uri="http://schemas.openxmlformats.org/drawingml/2006/table">
            <a:tbl>
              <a:tblPr/>
              <a:tblGrid>
                <a:gridCol w="3800246"/>
                <a:gridCol w="6755994"/>
              </a:tblGrid>
              <a:tr h="383540">
                <a:tc>
                  <a:txBody>
                    <a:bodyPr/>
                    <a:lstStyle/>
                    <a:p>
                      <a:pPr indent="0" marL="0">
                        <a:lnSpc>
                          <a:spcPts val="1960"/>
                        </a:lnSpc>
                        <a:buNone/>
                      </a:pPr>
                      <a:r>
                        <a:rPr lang="en-US" sz="1400" b="1" dirty="0">
                          <a:solidFill>
                            <a:srgbClr val="15171B"/>
                          </a:solidFill>
                          <a:latin typeface="DM Sans" pitchFamily="34" charset="0"/>
                          <a:ea typeface="DM Sans" pitchFamily="34" charset="-122"/>
                          <a:cs typeface="DM Sans" pitchFamily="34" charset="-120"/>
                        </a:rPr>
                        <a:t>Symptom</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B9B8B3"/>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8B3"/>
                      </a:solidFill>
                      <a:prstDash val="solid"/>
                      <a:round/>
                      <a:headEnd type="none" w="med" len="med"/>
                      <a:tailEnd type="none" w="med" len="med"/>
                    </a:lnB>
                    <a:solidFill>
                      <a:srgbClr val="E8E6E0"/>
                    </a:solidFill>
                  </a:tcPr>
                </a:tc>
                <a:tc>
                  <a:txBody>
                    <a:bodyPr/>
                    <a:lstStyle/>
                    <a:p>
                      <a:pPr indent="0" marL="0">
                        <a:lnSpc>
                          <a:spcPts val="1960"/>
                        </a:lnSpc>
                        <a:buNone/>
                      </a:pPr>
                      <a:r>
                        <a:rPr lang="en-US" sz="1400" b="1" dirty="0">
                          <a:solidFill>
                            <a:srgbClr val="15171B"/>
                          </a:solidFill>
                          <a:latin typeface="DM Sans" pitchFamily="34" charset="0"/>
                          <a:ea typeface="DM Sans" pitchFamily="34" charset="-122"/>
                          <a:cs typeface="DM Sans" pitchFamily="34" charset="-120"/>
                        </a:rPr>
                        <a:t>Fix</a:t>
                      </a:r>
                      <a:endParaRPr lang="en-US" sz="1400" dirty="0">
                        <a:latin typeface="DM Sans" charset="0"/>
                        <a:ea typeface="DM Sans" charset="0"/>
                        <a:cs typeface="DM Sans" charset="0"/>
                      </a:endParaRPr>
                    </a:p>
                  </a:txBody>
                  <a:tcPr marL="62230" marR="62230" marT="62230" marB="62230" anchor="t">
                    <a:lnL w="12700" cap="flat" cmpd="sng" algn="ctr">
                      <a:solidFill>
                        <a:srgbClr val="B9B8B3"/>
                      </a:solidFill>
                      <a:prstDash val="solid"/>
                      <a:round/>
                      <a:headEnd type="none" w="med" len="med"/>
                      <a:tailEnd type="none" w="med" len="med"/>
                    </a:lnL>
                    <a:lnR w="12700" cap="flat" cmpd="sng" algn="ctr">
                      <a:solidFill>
                        <a:srgbClr val="B9B8B3"/>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8B3"/>
                      </a:solidFill>
                      <a:prstDash val="solid"/>
                      <a:round/>
                      <a:headEnd type="none" w="med" len="med"/>
                      <a:tailEnd type="none" w="med" len="med"/>
                    </a:lnB>
                    <a:solidFill>
                      <a:srgbClr val="E8E6E0"/>
                    </a:solidFill>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No open ports detected</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8B3"/>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Listen on process.env.PORT and bind to 0.0.0.0</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8B3"/>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Cannot find module</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Move the package to dependencies and check file name casing</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First request is very slow</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The free instance was asleep; upgrade the instance type to avoid it</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CORS error from a frontend</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5171B"/>
                          </a:solidFill>
                          <a:latin typeface="DM Sans" pitchFamily="34" charset="0"/>
                          <a:ea typeface="DM Sans" pitchFamily="34" charset="-122"/>
                          <a:cs typeface="DM Sans" pitchFamily="34" charset="-120"/>
                        </a:rPr>
                        <a:t>Allow your frontend URL in the cors middleware settings</a:t>
                      </a:r>
                      <a:endParaRPr lang="en-US" sz="1400" dirty="0">
                        <a:latin typeface="DM Sans" charset="0"/>
                        <a:ea typeface="DM Sans" charset="0"/>
                        <a:cs typeface="DM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DM Sans" pitchFamily="34" charset="0"/>
                <a:ea typeface="DM Sans" pitchFamily="34" charset="-122"/>
                <a:cs typeface="DM Sans" pitchFamily="34" charset="-120"/>
              </a:rPr>
              <a:t>11 · Deploying an Express App on Render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B33D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6F5F2"/>
                </a:solidFill>
                <a:latin typeface="DM Sans" pitchFamily="34" charset="0"/>
                <a:ea typeface="DM Sans" pitchFamily="34" charset="-122"/>
                <a:cs typeface="DM Sans" pitchFamily="34" charset="-120"/>
              </a:rPr>
              <a:t>RECAP</a:t>
            </a:r>
            <a:endParaRPr lang="en-US" sz="1400" dirty="0"/>
          </a:p>
        </p:txBody>
      </p:sp>
      <p:sp>
        <p:nvSpPr>
          <p:cNvPr id="3" name="Text 1"/>
          <p:cNvSpPr/>
          <p:nvPr>
            <p:ph type="title"/>
          </p:nvPr>
        </p:nvSpPr>
        <p:spPr>
          <a:xfrm>
            <a:off x="812800" y="2487929"/>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5F2"/>
                </a:solidFill>
                <a:latin typeface="DM Sans" pitchFamily="34" charset="0"/>
                <a:ea typeface="DM Sans" pitchFamily="34" charset="-122"/>
                <a:cs typeface="DM Sans" pitchFamily="34" charset="-120"/>
              </a:rPr>
              <a:t>Prepare, push, create, deploy.</a:t>
            </a:r>
            <a:endParaRPr lang="en-US" sz="5200" dirty="0"/>
          </a:p>
        </p:txBody>
      </p:sp>
      <p:sp>
        <p:nvSpPr>
          <p:cNvPr id="4" name="Text 2"/>
          <p:cNvSpPr/>
          <p:nvPr/>
        </p:nvSpPr>
        <p:spPr>
          <a:xfrm>
            <a:off x="812800" y="33591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6F5F2"/>
                </a:solidFill>
                <a:latin typeface="DM Sans" pitchFamily="34" charset="0"/>
                <a:ea typeface="DM Sans" pitchFamily="34" charset="-122"/>
                <a:cs typeface="DM Sans" pitchFamily="34" charset="-120"/>
              </a:rPr>
              <a:t>After that, every push to your branch redeploys the service automatically.</a:t>
            </a:r>
            <a:endParaRPr lang="en-US" sz="2000" dirty="0"/>
          </a:p>
        </p:txBody>
      </p:sp>
      <p:sp>
        <p:nvSpPr>
          <p:cNvPr id="5" name="Text 3"/>
          <p:cNvSpPr/>
          <p:nvPr/>
        </p:nvSpPr>
        <p:spPr>
          <a:xfrm>
            <a:off x="819150" y="5147314"/>
            <a:ext cx="2514600" cy="891540"/>
          </a:xfrm>
          <a:prstGeom prst="roundRect">
            <a:avLst>
              <a:gd name="adj" fmla="val 10684"/>
            </a:avLst>
          </a:prstGeom>
          <a:noFill/>
          <a:ln w="12700">
            <a:solidFill>
              <a:srgbClr val="C9BBF5"/>
            </a:solidFill>
            <a:prstDash val="solid"/>
          </a:ln>
        </p:spPr>
        <p:txBody>
          <a:bodyPr wrap="square" lIns="153712" tIns="153712" rIns="89171" bIns="128312" rtlCol="0" anchor="t">
            <a:normAutofit/>
          </a:bodyPr>
          <a:lstStyle/>
          <a:p>
            <a:pPr algn="l" indent="0" marL="0">
              <a:lnSpc>
                <a:spcPts val="2080"/>
              </a:lnSpc>
              <a:buNone/>
            </a:pPr>
            <a:r>
              <a:rPr lang="en-US" sz="1600" b="1" dirty="0">
                <a:solidFill>
                  <a:srgbClr val="F6F5F2"/>
                </a:solidFill>
                <a:latin typeface="DM Sans" pitchFamily="34" charset="0"/>
                <a:ea typeface="DM Sans" pitchFamily="34" charset="-122"/>
                <a:cs typeface="DM Sans" pitchFamily="34" charset="-120"/>
              </a:rPr>
              <a:t>1. Use process.env.PORT</a:t>
            </a:r>
            <a:endParaRPr lang="en-US" sz="1600" dirty="0"/>
          </a:p>
        </p:txBody>
      </p:sp>
      <p:sp>
        <p:nvSpPr>
          <p:cNvPr id="6" name="Text 4"/>
          <p:cNvSpPr/>
          <p:nvPr/>
        </p:nvSpPr>
        <p:spPr>
          <a:xfrm>
            <a:off x="3498850" y="5147314"/>
            <a:ext cx="2514600" cy="891540"/>
          </a:xfrm>
          <a:prstGeom prst="roundRect">
            <a:avLst>
              <a:gd name="adj" fmla="val 10684"/>
            </a:avLst>
          </a:prstGeom>
          <a:noFill/>
          <a:ln w="12700">
            <a:solidFill>
              <a:srgbClr val="C9BBF5"/>
            </a:solidFill>
            <a:prstDash val="solid"/>
          </a:ln>
        </p:spPr>
        <p:txBody>
          <a:bodyPr wrap="square" lIns="153712" tIns="153712" rIns="89170" bIns="153712" rtlCol="0" anchor="t">
            <a:normAutofit/>
          </a:bodyPr>
          <a:lstStyle/>
          <a:p>
            <a:pPr algn="l" indent="0" marL="0">
              <a:lnSpc>
                <a:spcPts val="2080"/>
              </a:lnSpc>
              <a:buNone/>
            </a:pPr>
            <a:r>
              <a:rPr lang="en-US" sz="1600" b="1" dirty="0">
                <a:solidFill>
                  <a:srgbClr val="F6F5F2"/>
                </a:solidFill>
                <a:latin typeface="DM Sans" pitchFamily="34" charset="0"/>
                <a:ea typeface="DM Sans" pitchFamily="34" charset="-122"/>
                <a:cs typeface="DM Sans" pitchFamily="34" charset="-120"/>
              </a:rPr>
              <a:t>2. Push to Git</a:t>
            </a:r>
            <a:endParaRPr lang="en-US" sz="1600" dirty="0"/>
          </a:p>
        </p:txBody>
      </p:sp>
      <p:sp>
        <p:nvSpPr>
          <p:cNvPr id="7" name="Text 5"/>
          <p:cNvSpPr/>
          <p:nvPr/>
        </p:nvSpPr>
        <p:spPr>
          <a:xfrm>
            <a:off x="6178550" y="5147314"/>
            <a:ext cx="2514600" cy="891540"/>
          </a:xfrm>
          <a:prstGeom prst="roundRect">
            <a:avLst>
              <a:gd name="adj" fmla="val 10684"/>
            </a:avLst>
          </a:prstGeom>
          <a:noFill/>
          <a:ln w="12700">
            <a:solidFill>
              <a:srgbClr val="C9BBF5"/>
            </a:solidFill>
            <a:prstDash val="solid"/>
          </a:ln>
        </p:spPr>
        <p:txBody>
          <a:bodyPr wrap="square" lIns="153712" tIns="153712" rIns="89170" bIns="128312" rtlCol="0" anchor="t">
            <a:normAutofit/>
          </a:bodyPr>
          <a:lstStyle/>
          <a:p>
            <a:pPr algn="l" indent="0" marL="0">
              <a:lnSpc>
                <a:spcPts val="2080"/>
              </a:lnSpc>
              <a:buNone/>
            </a:pPr>
            <a:r>
              <a:rPr lang="en-US" sz="1600" b="1" dirty="0">
                <a:solidFill>
                  <a:srgbClr val="F6F5F2"/>
                </a:solidFill>
                <a:latin typeface="DM Sans" pitchFamily="34" charset="0"/>
                <a:ea typeface="DM Sans" pitchFamily="34" charset="-122"/>
                <a:cs typeface="DM Sans" pitchFamily="34" charset="-120"/>
              </a:rPr>
              <a:t>3. Create the web service</a:t>
            </a:r>
            <a:endParaRPr lang="en-US" sz="1600" dirty="0"/>
          </a:p>
        </p:txBody>
      </p:sp>
      <p:sp>
        <p:nvSpPr>
          <p:cNvPr id="8" name="Text 6"/>
          <p:cNvSpPr/>
          <p:nvPr/>
        </p:nvSpPr>
        <p:spPr>
          <a:xfrm>
            <a:off x="8858250" y="5147314"/>
            <a:ext cx="2514600" cy="891540"/>
          </a:xfrm>
          <a:prstGeom prst="roundRect">
            <a:avLst>
              <a:gd name="adj" fmla="val 10684"/>
            </a:avLst>
          </a:prstGeom>
          <a:noFill/>
          <a:ln w="12700">
            <a:solidFill>
              <a:srgbClr val="C9BBF5"/>
            </a:solidFill>
            <a:prstDash val="solid"/>
          </a:ln>
        </p:spPr>
        <p:txBody>
          <a:bodyPr wrap="square" lIns="153712" tIns="153712" rIns="89171" bIns="153712" rtlCol="0" anchor="t">
            <a:normAutofit/>
          </a:bodyPr>
          <a:lstStyle/>
          <a:p>
            <a:pPr algn="l" indent="0" marL="0">
              <a:lnSpc>
                <a:spcPts val="2080"/>
              </a:lnSpc>
              <a:buNone/>
            </a:pPr>
            <a:r>
              <a:rPr lang="en-US" sz="1600" b="1" dirty="0">
                <a:solidFill>
                  <a:srgbClr val="F6F5F2"/>
                </a:solidFill>
                <a:latin typeface="DM Sans" pitchFamily="34" charset="0"/>
                <a:ea typeface="DM Sans" pitchFamily="34" charset="-122"/>
                <a:cs typeface="DM Sans" pitchFamily="34" charset="-120"/>
              </a:rPr>
              <a:t>4. Set env variables</a:t>
            </a:r>
            <a:endParaRPr lang="en-US" sz="1600" dirty="0"/>
          </a:p>
        </p:txBody>
      </p:sp>
    </p:spTree>
  </p:cSld>
  <p:clrMapOvr>
    <a:masterClrMapping/>
  </p:clrMapOvr>
</p:sld>
</file>

<file path=ppt/theme/theme1.xml><?xml version="1.0" encoding="utf-8"?>
<a:theme xmlns:a="http://schemas.openxmlformats.org/drawingml/2006/main" name="Deploying an Express App on Render">
  <a:themeElements>
    <a:clrScheme name="Deploying an Express App on Render">
      <a:dk1>
        <a:srgbClr val="15171B"/>
      </a:dk1>
      <a:lt1>
        <a:srgbClr val="F6F5F2"/>
      </a:lt1>
      <a:dk2>
        <a:srgbClr val="4D4F51"/>
      </a:dk2>
      <a:lt2>
        <a:srgbClr val="E0DFDD"/>
      </a:lt2>
      <a:accent1>
        <a:srgbClr val="A78BFA"/>
      </a:accent1>
      <a:accent2>
        <a:srgbClr val="5B33D6"/>
      </a:accent2>
      <a:accent3>
        <a:srgbClr val="D7DAE0"/>
      </a:accent3>
      <a:accent4>
        <a:srgbClr val="4B5058"/>
      </a:accent4>
      <a:accent5>
        <a:srgbClr val="A9ADB5"/>
      </a:accent5>
      <a:accent6>
        <a:srgbClr val="6B7078"/>
      </a:accent6>
      <a:hlink>
        <a:srgbClr val="0563C1"/>
      </a:hlink>
      <a:folHlink>
        <a:srgbClr val="954F72"/>
      </a:folHlink>
    </a:clrScheme>
    <a:fontScheme name="Deploying an Express App on Render">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Deploying an Express App on Render</dc:title>
  <dc:subject/>
  <dc:creator/>
  <cp:lastModifiedBy/>
  <cp:revision>1</cp:revision>
  <dcterms:created xsi:type="dcterms:W3CDTF">2026-10-10T12:18:43Z</dcterms:created>
  <dcterms:modified xsi:type="dcterms:W3CDTF">2026-10-10T12:18:43Z</dcterms:modified>
</cp:coreProperties>
</file>