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068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00684A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Querying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documents, arrays, projection, sorting, pagination, regex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multi-condition queries in MongoDB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0B2E28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4348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</a:t>
            </a:r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buNone/>
            </a:pPr>
            <a:r>
              <a:rPr lang="en-US" sz="1500" dirty="0">
                <a:solidFill>
                  <a:srgbClr val="9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.find({ ... })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0876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Nested Documents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724912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32888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Arrays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3749040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57016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773168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581144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605272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579729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605272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26480" y="1508760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1700784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2784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508760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126480" y="2532888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2724912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7278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2532888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126480" y="3557016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3749040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7278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557016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126480" y="4581144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4773168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72784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4581144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distinct()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126480" y="5605272"/>
            <a:ext cx="52578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72784" y="579729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72784" y="5797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5605272"/>
            <a:ext cx="4343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 (AND)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NESTED DOCUMENTS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Into Embedded Objects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related data as embedded (nested) objects inside a single document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dot notation — a quoted "field.subfield" string — to reach into a nested field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required: related data lives together in one document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Dot-notation keys must be wrapped in quotes, e.g. "address.city".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2148840"/>
          </a:xfrm>
          <a:prstGeom prst="roundRect">
            <a:avLst>
              <a:gd name="adj" fmla="val 383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"address"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"Chennai"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"pincode"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600001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79476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9227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2519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"address.city"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"Chennai"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0749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student whose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address.city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equals "Chennai" — no matter how deeply the field is nested.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ARRAYS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Values Inside Arrays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fields store multiple values under one field name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plain value against an array field checks whether that value exists anywhere in the array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operator is needed for a simple "contains" check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"React" matches any document where "React" is one element of the skills array.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645920"/>
          </a:xfrm>
          <a:prstGeom prst="roundRect">
            <a:avLst>
              <a:gd name="adj" fmla="val 500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"MongoDB"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29184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4198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HAVING REACT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749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521208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E3F5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532180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require multiple skills at once, use the $all operator: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skills: { $all: ["Java","React"] } }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Which Fields Come Back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is the second argument to find() — it controls which fields are returned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includes a field, 0 excludes a field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_id field is returned by default unless explicitly excluded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mix 1s and 0s in one projection (except to exclude _id alongside an include list).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783080"/>
          </a:xfrm>
          <a:prstGeom prst="roundRect">
            <a:avLst>
              <a:gd name="adj" fmla="val 4615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FIELDS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{},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1,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429000"/>
            <a:ext cx="6675120" cy="1508760"/>
          </a:xfrm>
          <a:prstGeom prst="roundRect">
            <a:avLst>
              <a:gd name="adj" fmla="val 5455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5570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FIELD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{},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5166360"/>
            <a:ext cx="3200400" cy="1097280"/>
          </a:xfrm>
          <a:prstGeom prst="roundRect">
            <a:avLst>
              <a:gd name="adj" fmla="val 7500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458200" y="5166360"/>
            <a:ext cx="3200400" cy="1097280"/>
          </a:xfrm>
          <a:prstGeom prst="roundRect">
            <a:avLst>
              <a:gd name="adj" fmla="val 7500"/>
            </a:avLst>
          </a:prstGeom>
          <a:solidFill>
            <a:srgbClr val="0B2E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5257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the Result Set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orders returned documents by one or more fields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sorts ascending (low → high); -1 sorts descending (high → low)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fields can be listed for tie-breaking, in order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sort({ course: 1, age: -1 }) sorts by course A→Z, then by age high→low within each course.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 })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97180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0998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4290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-1 })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4526280"/>
            <a:ext cx="3200400" cy="1737360"/>
          </a:xfrm>
          <a:prstGeom prst="roundRect">
            <a:avLst>
              <a:gd name="adj" fmla="val 4737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4709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458200" y="4526280"/>
            <a:ext cx="3200400" cy="1737360"/>
          </a:xfrm>
          <a:prstGeom prst="roundRect">
            <a:avLst>
              <a:gd name="adj" fmla="val 4737"/>
            </a:avLst>
          </a:prstGeom>
          <a:solidFill>
            <a:srgbClr val="0B2E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4709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30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Capping the Result Size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limit() caps the number of documents a query returns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previews, "top-N" results, and keeping payloads small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chained directly after find() or sort()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limit(0) means "no limit" in MongoDB — it returns everything.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2880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06640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00684A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2880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limit(5)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738360" y="288036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38360" y="2880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0" y="3456432"/>
            <a:ext cx="411480" cy="219456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3456432"/>
            <a:ext cx="411480" cy="219456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4617720"/>
            <a:ext cx="6675120" cy="1280160"/>
          </a:xfrm>
          <a:prstGeom prst="roundRect">
            <a:avLst>
              <a:gd name="adj" fmla="val 6429"/>
            </a:avLst>
          </a:prstGeom>
          <a:solidFill>
            <a:srgbClr val="E3F5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47548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only what's needed — instead of an entire collection — keeps queries fast and reduces network load.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Omitting Leading Documents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skip() omits a specified number of documents from the start of the result set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paired with limit() to move through a collection in chunks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skip values can slow down big collections — pair with indexes in production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skip() and limit() together are the standard building blocks of pagination.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5 DOCUMENTS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788920"/>
            <a:ext cx="6675120" cy="1463040"/>
          </a:xfrm>
          <a:prstGeom prst="roundRect">
            <a:avLst>
              <a:gd name="adj" fmla="val 5625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9169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 — WITH PAGINATION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2461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4572000"/>
            <a:ext cx="6675120" cy="1325880"/>
          </a:xfrm>
          <a:prstGeom prst="roundRect">
            <a:avLst>
              <a:gd name="adj" fmla="val 6207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470916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skip(10)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jumps past the first 10 matching documents, then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limit(10)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the next 10 — i.e. "page 2".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skip() and limit()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 = 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skip(0).limit(10)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skip(10).limit(10)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1828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skip(20).limit(10)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006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11880"/>
            <a:ext cx="10927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= (page − 1) × limit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39512"/>
            <a:ext cx="10927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the page number shifts the skip value by one full page each time, while limit stays fixed at the page size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powers "Next / Previous" controls and numbered page links in almost every list-based UI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Pattern-Based Searching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(regex) match text by pattern instead of an exact value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 anchors the match to the start of the string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 flag makes the match case-insensitive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Unanchored regex queries can be slow at scale — anchor with ^ and use an index where possible.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STARTING WITH "A"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/^A/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971800"/>
            <a:ext cx="6675120" cy="1371600"/>
          </a:xfrm>
          <a:prstGeom prst="roundRect">
            <a:avLst>
              <a:gd name="adj" fmla="val 6000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09981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CONTAINING "AN" (CASE-INSENSITIVE)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4290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/an/i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4526280"/>
            <a:ext cx="6675120" cy="1737360"/>
          </a:xfrm>
          <a:prstGeom prst="roundRect">
            <a:avLst>
              <a:gd name="adj" fmla="val 4737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4681728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CHEAT SHEET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^text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starts with text      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text$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ends with text      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case-insensitive flag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Retrieving Unique Values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distinct() returns the set of unique values for a given field across all matching documents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building filter dropdowns and category lists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 optional query filter as a second argument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db.students.distinct("course", { age: { $gt: 20 } }) restricts the unique values to students older than 20.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("course")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2788920"/>
            <a:ext cx="6675120" cy="1097280"/>
          </a:xfrm>
          <a:prstGeom prst="roundRect">
            <a:avLst>
              <a:gd name="adj" fmla="val 7500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9169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RESULT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246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"MERN"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420624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E3F5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43434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Populating a "Filter by course" dropdown in a UI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Auditing how many distinct categories exist in a dataset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data-quality checks before building reports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AND Logic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multiple fields inside one find() combines them with AND by default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$gt (greater than) is a comparison operator — others include $lt, $gte, $lte, $ne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 logic across conditions, use the explicit $or operator instead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course: "MERN", age: { $gt: 20 } } reads as: course IS "MERN" AND age &gt; 20.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1645920"/>
          </a:xfrm>
          <a:prstGeom prst="roundRect">
            <a:avLst>
              <a:gd name="adj" fmla="val 500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MERN STUDENTS OLDER THAN 20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"MERN",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20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337560"/>
            <a:ext cx="6675120" cy="1417320"/>
          </a:xfrm>
          <a:prstGeom prst="roundRect">
            <a:avLst>
              <a:gd name="adj" fmla="val 5806"/>
            </a:avLst>
          </a:prstGeom>
          <a:solidFill>
            <a:srgbClr val="0B2E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4747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Comparison Operators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  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$lt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$gte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/ equal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$ne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4937760"/>
            <a:ext cx="6675120" cy="960120"/>
          </a:xfrm>
          <a:prstGeom prst="roundRect">
            <a:avLst>
              <a:gd name="adj" fmla="val 8571"/>
            </a:avLst>
          </a:prstGeom>
          <a:solidFill>
            <a:srgbClr val="E3F5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50749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$or: [ { course: "MERN" }, { age: { $gt: 20 } } ] }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Querying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"a.b": 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nested field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527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contains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41732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527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f: 1 }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 projection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529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f: 0 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10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from projection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28529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.sort({f:1/-1})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310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/ descending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74320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0" y="28529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.limit(n)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310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result count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178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.skip(n)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leading results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406908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34840" y="4178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skip=(p-1)*limit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formula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406908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41788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/^text/i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case-insensitive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504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.distinct("f")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961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field values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51960" y="539496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34840" y="5504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 $lt $gte $lte $ne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5961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5394960"/>
            <a:ext cx="352044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38160" y="5504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{a,b} / $or:[...]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138160" y="5961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(default) / OR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—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18488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716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find all students living in the city "Mumbai" (city is nested inside an address field).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6090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505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14016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find all students who know "Python" (skills is an array field).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03320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that returns only the name and course fields for every student, without the _id field.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98848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745736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49884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sort all students by age in descending order.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41264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88152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788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56327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+ SORT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41264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return only the 3 highest-scoring students, sorted by score.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—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18488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1463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716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fetch page 3 of results, using a page size of 20 (show skip and limit values).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6090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60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505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414016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find student names that end with the letter "n", case-insensitively.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03320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find all distinct values of the department field.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98848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745736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49884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query to find students in course "Java" with marks greater than or equal to 75.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41264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88152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788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56327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41264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concepts: find students with "MongoDB" in skills, sorted by name ascending, returning only name and skills, limited to 5 results.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2026-09-11T10:14:54Z</dcterms:created>
  <dcterms:modified xsi:type="dcterms:W3CDTF">2026-09-11T10:14:54Z</dcterms:modified>
</cp:coreProperties>
</file>