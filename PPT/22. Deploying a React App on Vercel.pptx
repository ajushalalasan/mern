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guide walks through taking a React app from your laptop to a live URL on Vercel: the dashboard route, the CLI route, and the settings that trip people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Vercel suits React single-page apps well: no servers to manage, deployments tied to Git, and a preview link for every change. The free Hobby plan covers personal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have ready. If you sign up for Vercel with your GitHub account, importing repositories later takes fewer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run the production build locally first. If it fails on your machine it will fail on Vercel. Then create an empty repository on GitHub and push the project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route most teams use. The first deploy usually takes a minute or two, and Vercel shows the build log live so you can spot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directory is the setting people get wrong most often. If the deployed site is blank or returns 404, check this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 is handy for quick deploys, scripts and CI. Running vercel on its own creates a preview deployment; adding --prod promotes it to the production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Anything prefixed is bundled into the client code and visible to every visitor. Keep real secrets on a server or in serverless functions instead. After changing a variable, trigger a new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common post-deploy problem for apps using React Router. Commit vercel.json, push, and the next deployment picks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project is linked, the workflow is just Git: open a pull request, review the preview URL, merge, and production updates. DNS changes can take a while to propagate after you add a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name casing matters on Vercel's Linux build machines, so an import that works on macOS or Windows can still fail there. The build log in the deployment page shows the exact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verify the build, push to Git, import the repo in Vercel, and share the live URL. Add vercel.json for routing and prefixed environment variables when you need them.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5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61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4161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61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4161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F1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6C9BFF"/>
                </a:solidFill>
                <a:latin typeface="IBM Plex Sans" pitchFamily="34" charset="0"/>
                <a:ea typeface="IBM Plex Sans" pitchFamily="34" charset="-122"/>
                <a:cs typeface="IBM Plex Sans" pitchFamily="34" charset="-120"/>
              </a:rPr>
              <a:t>DEPLOYMENT GUIDE</a:t>
            </a:r>
            <a:endParaRPr lang="en-US" sz="1400" dirty="0"/>
          </a:p>
        </p:txBody>
      </p:sp>
      <p:sp>
        <p:nvSpPr>
          <p:cNvPr id="3" name="Text 1"/>
          <p:cNvSpPr/>
          <p:nvPr>
            <p:ph type="title"/>
          </p:nvPr>
        </p:nvSpPr>
        <p:spPr>
          <a:xfrm>
            <a:off x="812800" y="202184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2F2EE"/>
                </a:solidFill>
                <a:latin typeface="IBM Plex Sans" pitchFamily="34" charset="0"/>
                <a:ea typeface="IBM Plex Sans" pitchFamily="34" charset="-122"/>
                <a:cs typeface="IBM Plex Sans" pitchFamily="34" charset="-120"/>
              </a:rPr>
              <a:t>Deploying a React App on Vercel</a:t>
            </a:r>
            <a:endParaRPr lang="en-US" sz="6000" dirty="0"/>
          </a:p>
        </p:txBody>
      </p:sp>
      <p:sp>
        <p:nvSpPr>
          <p:cNvPr id="4" name="Text 2"/>
          <p:cNvSpPr/>
          <p:nvPr/>
        </p:nvSpPr>
        <p:spPr>
          <a:xfrm>
            <a:off x="812800" y="3825240"/>
            <a:ext cx="784860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9ADB5"/>
                </a:solidFill>
                <a:latin typeface="IBM Plex Sans" pitchFamily="34" charset="0"/>
                <a:ea typeface="IBM Plex Sans" pitchFamily="34" charset="-122"/>
                <a:cs typeface="IBM Plex Sans" pitchFamily="34" charset="-120"/>
              </a:rPr>
              <a:t>From a local project to a live HTTPS URL, with automatic deployments on every push.</a:t>
            </a:r>
            <a:endParaRPr lang="en-US" sz="2000" dirty="0"/>
          </a:p>
        </p:txBody>
      </p:sp>
      <p:sp>
        <p:nvSpPr>
          <p:cNvPr id="5" name="Text 3"/>
          <p:cNvSpPr/>
          <p:nvPr/>
        </p:nvSpPr>
        <p:spPr>
          <a:xfrm>
            <a:off x="815975" y="5499735"/>
            <a:ext cx="2239010" cy="542290"/>
          </a:xfrm>
          <a:prstGeom prst="roundRect">
            <a:avLst>
              <a:gd name="adj" fmla="val 13466"/>
            </a:avLst>
          </a:prstGeom>
          <a:solidFill>
            <a:srgbClr val="181A1F"/>
          </a:solidFill>
          <a:ln w="6350">
            <a:solidFill>
              <a:srgbClr val="2A2D34"/>
            </a:solidFill>
            <a:prstDash val="solid"/>
          </a:ln>
        </p:spPr>
        <p:txBody>
          <a:bodyPr wrap="none" lIns="0" tIns="0" rIns="0" bIns="0" rtlCol="0" anchor="ctr">
            <a:normAutofit/>
          </a:bodyPr>
          <a:lstStyle/>
          <a:p>
            <a:pPr algn="ctr" indent="0" marL="0">
              <a:lnSpc>
                <a:spcPts val="2240"/>
              </a:lnSpc>
              <a:buNone/>
            </a:pPr>
            <a:r>
              <a:rPr lang="en-US" sz="1600" dirty="0">
                <a:solidFill>
                  <a:srgbClr val="6C9BFF"/>
                </a:solidFill>
                <a:latin typeface="JetBrains Mono" pitchFamily="49" charset="0"/>
                <a:ea typeface="JetBrains Mono" pitchFamily="49" charset="-122"/>
                <a:cs typeface="JetBrains Mono" pitchFamily="49" charset="-120"/>
              </a:rPr>
              <a:t>$ vercel --prod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450D6"/>
                </a:solidFill>
                <a:latin typeface="IBM Plex Sans" pitchFamily="34" charset="0"/>
                <a:ea typeface="IBM Plex Sans" pitchFamily="34" charset="-122"/>
                <a:cs typeface="IBM Plex Sans" pitchFamily="34" charset="-120"/>
              </a:rPr>
              <a:t>WHY VERCEL</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61A"/>
                </a:solidFill>
                <a:latin typeface="IBM Plex Sans" pitchFamily="34" charset="0"/>
                <a:ea typeface="IBM Plex Sans" pitchFamily="34" charset="-122"/>
                <a:cs typeface="IBM Plex Sans" pitchFamily="34" charset="-120"/>
              </a:rPr>
              <a:t>Ship React with zero server setup</a:t>
            </a:r>
            <a:endParaRPr lang="en-US" sz="3600" dirty="0"/>
          </a:p>
        </p:txBody>
      </p:sp>
      <p:sp>
        <p:nvSpPr>
          <p:cNvPr id="4" name="Shape 2"/>
          <p:cNvSpPr/>
          <p:nvPr/>
        </p:nvSpPr>
        <p:spPr>
          <a:xfrm>
            <a:off x="815975" y="1989455"/>
            <a:ext cx="3380264" cy="2277110"/>
          </a:xfrm>
          <a:prstGeom prst="roundRect">
            <a:avLst>
              <a:gd name="adj" fmla="val 5438"/>
            </a:avLst>
          </a:prstGeom>
          <a:solidFill>
            <a:srgbClr val="FBFBF9"/>
          </a:solidFill>
          <a:ln w="6350">
            <a:solidFill>
              <a:srgbClr val="DCDCD6"/>
            </a:solidFill>
            <a:prstDash val="solid"/>
          </a:ln>
        </p:spPr>
      </p:sp>
      <p:pic>
        <p:nvPicPr>
          <p:cNvPr id="5" name="Image 0" descr="Link">    </p:cNvPr>
          <p:cNvPicPr>
            <a:picLocks noChangeAspect="1"/>
          </p:cNvPicPr>
          <p:nvPr/>
        </p:nvPicPr>
        <p:blipFill>
          <a:blip r:embed="rId1"/>
          <a:srcRect l="0" r="0" t="0" b="0"/>
          <a:stretch/>
        </p:blipFill>
        <p:spPr>
          <a:xfrm>
            <a:off x="1071880" y="2245360"/>
            <a:ext cx="406400" cy="406400"/>
          </a:xfrm>
          <a:prstGeom prst="rect">
            <a:avLst/>
          </a:prstGeom>
        </p:spPr>
      </p:pic>
      <p:sp>
        <p:nvSpPr>
          <p:cNvPr id="6" name="Text 3"/>
          <p:cNvSpPr/>
          <p:nvPr/>
        </p:nvSpPr>
        <p:spPr>
          <a:xfrm>
            <a:off x="1071880" y="2778760"/>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61A"/>
                </a:solidFill>
                <a:latin typeface="IBM Plex Sans" pitchFamily="34" charset="0"/>
                <a:ea typeface="IBM Plex Sans" pitchFamily="34" charset="-122"/>
                <a:cs typeface="IBM Plex Sans" pitchFamily="34" charset="-120"/>
              </a:rPr>
              <a:t>Git-based deploys</a:t>
            </a:r>
            <a:endParaRPr lang="en-US" sz="2000" dirty="0"/>
          </a:p>
        </p:txBody>
      </p:sp>
      <p:sp>
        <p:nvSpPr>
          <p:cNvPr id="7" name="Text 4"/>
          <p:cNvSpPr/>
          <p:nvPr/>
        </p:nvSpPr>
        <p:spPr>
          <a:xfrm>
            <a:off x="1071880" y="3210560"/>
            <a:ext cx="295450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IBM Plex Sans" pitchFamily="34" charset="0"/>
                <a:ea typeface="IBM Plex Sans" pitchFamily="34" charset="-122"/>
                <a:cs typeface="IBM Plex Sans" pitchFamily="34" charset="-120"/>
              </a:rPr>
              <a:t>Connect a repository and every push builds and ships on its own.</a:t>
            </a:r>
            <a:endParaRPr lang="en-US" sz="1500" dirty="0"/>
          </a:p>
        </p:txBody>
      </p:sp>
      <p:sp>
        <p:nvSpPr>
          <p:cNvPr id="8" name="Shape 5"/>
          <p:cNvSpPr/>
          <p:nvPr/>
        </p:nvSpPr>
        <p:spPr>
          <a:xfrm>
            <a:off x="4405789" y="1989455"/>
            <a:ext cx="3380343" cy="2277110"/>
          </a:xfrm>
          <a:prstGeom prst="roundRect">
            <a:avLst>
              <a:gd name="adj" fmla="val 5438"/>
            </a:avLst>
          </a:prstGeom>
          <a:solidFill>
            <a:srgbClr val="FBFBF9"/>
          </a:solidFill>
          <a:ln w="6350">
            <a:solidFill>
              <a:srgbClr val="DCDCD6"/>
            </a:solidFill>
            <a:prstDash val="solid"/>
          </a:ln>
        </p:spPr>
      </p:sp>
      <p:pic>
        <p:nvPicPr>
          <p:cNvPr id="9" name="Image 1" descr="Users">    </p:cNvPr>
          <p:cNvPicPr>
            <a:picLocks noChangeAspect="1"/>
          </p:cNvPicPr>
          <p:nvPr/>
        </p:nvPicPr>
        <p:blipFill>
          <a:blip r:embed="rId2"/>
          <a:srcRect l="0" r="0" t="0" b="0"/>
          <a:stretch/>
        </p:blipFill>
        <p:spPr>
          <a:xfrm>
            <a:off x="4661694" y="2245360"/>
            <a:ext cx="406400" cy="406400"/>
          </a:xfrm>
          <a:prstGeom prst="rect">
            <a:avLst/>
          </a:prstGeom>
        </p:spPr>
      </p:pic>
      <p:sp>
        <p:nvSpPr>
          <p:cNvPr id="10" name="Text 6"/>
          <p:cNvSpPr/>
          <p:nvPr/>
        </p:nvSpPr>
        <p:spPr>
          <a:xfrm>
            <a:off x="4661694" y="2778760"/>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61A"/>
                </a:solidFill>
                <a:latin typeface="IBM Plex Sans" pitchFamily="34" charset="0"/>
                <a:ea typeface="IBM Plex Sans" pitchFamily="34" charset="-122"/>
                <a:cs typeface="IBM Plex Sans" pitchFamily="34" charset="-120"/>
              </a:rPr>
              <a:t>Preview URLs</a:t>
            </a:r>
            <a:endParaRPr lang="en-US" sz="2000" dirty="0"/>
          </a:p>
        </p:txBody>
      </p:sp>
      <p:sp>
        <p:nvSpPr>
          <p:cNvPr id="11" name="Text 7"/>
          <p:cNvSpPr/>
          <p:nvPr/>
        </p:nvSpPr>
        <p:spPr>
          <a:xfrm>
            <a:off x="4661694" y="3210560"/>
            <a:ext cx="295458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IBM Plex Sans" pitchFamily="34" charset="0"/>
                <a:ea typeface="IBM Plex Sans" pitchFamily="34" charset="-122"/>
                <a:cs typeface="IBM Plex Sans" pitchFamily="34" charset="-120"/>
              </a:rPr>
              <a:t>Each branch and pull request gets its own live link for review.</a:t>
            </a:r>
            <a:endParaRPr lang="en-US" sz="1500" dirty="0"/>
          </a:p>
        </p:txBody>
      </p:sp>
      <p:sp>
        <p:nvSpPr>
          <p:cNvPr id="12" name="Shape 8"/>
          <p:cNvSpPr/>
          <p:nvPr/>
        </p:nvSpPr>
        <p:spPr>
          <a:xfrm>
            <a:off x="7995682" y="1989455"/>
            <a:ext cx="3380343" cy="2277110"/>
          </a:xfrm>
          <a:prstGeom prst="roundRect">
            <a:avLst>
              <a:gd name="adj" fmla="val 5438"/>
            </a:avLst>
          </a:prstGeom>
          <a:solidFill>
            <a:srgbClr val="FBFBF9"/>
          </a:solidFill>
          <a:ln w="6350">
            <a:solidFill>
              <a:srgbClr val="DCDCD6"/>
            </a:solidFill>
            <a:prstDash val="solid"/>
          </a:ln>
        </p:spPr>
      </p:sp>
      <p:pic>
        <p:nvPicPr>
          <p:cNvPr id="13" name="Image 2" descr="Globe">    </p:cNvPr>
          <p:cNvPicPr>
            <a:picLocks noChangeAspect="1"/>
          </p:cNvPicPr>
          <p:nvPr/>
        </p:nvPicPr>
        <p:blipFill>
          <a:blip r:embed="rId3"/>
          <a:srcRect l="0" r="0" t="0" b="0"/>
          <a:stretch/>
        </p:blipFill>
        <p:spPr>
          <a:xfrm>
            <a:off x="8251587" y="2245360"/>
            <a:ext cx="406400" cy="406400"/>
          </a:xfrm>
          <a:prstGeom prst="rect">
            <a:avLst/>
          </a:prstGeom>
        </p:spPr>
      </p:pic>
      <p:sp>
        <p:nvSpPr>
          <p:cNvPr id="14" name="Text 9"/>
          <p:cNvSpPr/>
          <p:nvPr/>
        </p:nvSpPr>
        <p:spPr>
          <a:xfrm>
            <a:off x="8251587" y="2778760"/>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61A"/>
                </a:solidFill>
                <a:latin typeface="IBM Plex Sans" pitchFamily="34" charset="0"/>
                <a:ea typeface="IBM Plex Sans" pitchFamily="34" charset="-122"/>
                <a:cs typeface="IBM Plex Sans" pitchFamily="34" charset="-120"/>
              </a:rPr>
              <a:t>Global CDN</a:t>
            </a:r>
            <a:endParaRPr lang="en-US" sz="2000" dirty="0"/>
          </a:p>
        </p:txBody>
      </p:sp>
      <p:sp>
        <p:nvSpPr>
          <p:cNvPr id="15" name="Text 10"/>
          <p:cNvSpPr/>
          <p:nvPr/>
        </p:nvSpPr>
        <p:spPr>
          <a:xfrm>
            <a:off x="8251587" y="3210560"/>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IBM Plex Sans" pitchFamily="34" charset="0"/>
                <a:ea typeface="IBM Plex Sans" pitchFamily="34" charset="-122"/>
                <a:cs typeface="IBM Plex Sans" pitchFamily="34" charset="-120"/>
              </a:rPr>
              <a:t>Static files are served from an edge network with HTTPS included.</a:t>
            </a:r>
            <a:endParaRPr lang="en-US" sz="1500" dirty="0"/>
          </a:p>
        </p:txBody>
      </p:sp>
      <p:sp>
        <p:nvSpPr>
          <p:cNvPr id="16" name="Text 11"/>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02 · Deploying a React App on Vercel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450D6"/>
                </a:solidFill>
                <a:latin typeface="IBM Plex Sans" pitchFamily="34" charset="0"/>
                <a:ea typeface="IBM Plex Sans" pitchFamily="34" charset="-122"/>
                <a:cs typeface="IBM Plex Sans" pitchFamily="34" charset="-120"/>
              </a:rPr>
              <a:t>BEFORE YOU START</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61A"/>
                </a:solidFill>
                <a:latin typeface="IBM Plex Sans" pitchFamily="34" charset="0"/>
                <a:ea typeface="IBM Plex Sans" pitchFamily="34" charset="-122"/>
                <a:cs typeface="IBM Plex Sans" pitchFamily="34" charset="-120"/>
              </a:rPr>
              <a:t>Prerequisites</a:t>
            </a:r>
            <a:endParaRPr lang="en-US" sz="3600" dirty="0"/>
          </a:p>
        </p:txBody>
      </p:sp>
      <p:sp>
        <p:nvSpPr>
          <p:cNvPr id="4" name="Shape 2"/>
          <p:cNvSpPr/>
          <p:nvPr/>
        </p:nvSpPr>
        <p:spPr>
          <a:xfrm>
            <a:off x="815975" y="1989455"/>
            <a:ext cx="5175250" cy="1413510"/>
          </a:xfrm>
          <a:prstGeom prst="roundRect">
            <a:avLst>
              <a:gd name="adj" fmla="val 8760"/>
            </a:avLst>
          </a:prstGeom>
          <a:solidFill>
            <a:srgbClr val="FBFBF9"/>
          </a:solidFill>
          <a:ln w="6350">
            <a:solidFill>
              <a:srgbClr val="DCDCD6"/>
            </a:solidFill>
            <a:prstDash val="solid"/>
          </a:ln>
        </p:spPr>
      </p:sp>
      <p:pic>
        <p:nvPicPr>
          <p:cNvPr id="5" name="Image 0" descr="CheckCircle">    </p:cNvPr>
          <p:cNvPicPr>
            <a:picLocks noChangeAspect="1"/>
          </p:cNvPicPr>
          <p:nvPr/>
        </p:nvPicPr>
        <p:blipFill>
          <a:blip r:embed="rId1"/>
          <a:srcRect l="0" r="0" t="0" b="0"/>
          <a:stretch/>
        </p:blipFill>
        <p:spPr>
          <a:xfrm>
            <a:off x="1071880" y="2245361"/>
            <a:ext cx="355600" cy="355600"/>
          </a:xfrm>
          <a:prstGeom prst="rect">
            <a:avLst/>
          </a:prstGeom>
        </p:spPr>
      </p:pic>
      <p:sp>
        <p:nvSpPr>
          <p:cNvPr id="6" name="Text 3"/>
          <p:cNvSpPr/>
          <p:nvPr/>
        </p:nvSpPr>
        <p:spPr>
          <a:xfrm>
            <a:off x="1605280" y="2245361"/>
            <a:ext cx="42539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61A"/>
                </a:solidFill>
                <a:latin typeface="IBM Plex Sans" pitchFamily="34" charset="0"/>
                <a:ea typeface="IBM Plex Sans" pitchFamily="34" charset="-122"/>
                <a:cs typeface="IBM Plex Sans" pitchFamily="34" charset="-120"/>
              </a:rPr>
              <a:t>Node.js and npm</a:t>
            </a:r>
            <a:endParaRPr lang="en-US" sz="2000" dirty="0"/>
          </a:p>
        </p:txBody>
      </p:sp>
      <p:sp>
        <p:nvSpPr>
          <p:cNvPr id="7" name="Text 4"/>
          <p:cNvSpPr/>
          <p:nvPr/>
        </p:nvSpPr>
        <p:spPr>
          <a:xfrm>
            <a:off x="1605280" y="2613661"/>
            <a:ext cx="425394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IBM Plex Sans" pitchFamily="34" charset="0"/>
                <a:ea typeface="IBM Plex Sans" pitchFamily="34" charset="-122"/>
                <a:cs typeface="IBM Plex Sans" pitchFamily="34" charset="-120"/>
              </a:rPr>
              <a:t>A current LTS release, to build and test locally.</a:t>
            </a:r>
            <a:endParaRPr lang="en-US" sz="1500" dirty="0"/>
          </a:p>
        </p:txBody>
      </p:sp>
      <p:sp>
        <p:nvSpPr>
          <p:cNvPr id="8" name="Shape 5"/>
          <p:cNvSpPr/>
          <p:nvPr/>
        </p:nvSpPr>
        <p:spPr>
          <a:xfrm>
            <a:off x="6200775" y="1989455"/>
            <a:ext cx="5175250" cy="1413510"/>
          </a:xfrm>
          <a:prstGeom prst="roundRect">
            <a:avLst>
              <a:gd name="adj" fmla="val 8760"/>
            </a:avLst>
          </a:prstGeom>
          <a:solidFill>
            <a:srgbClr val="FBFBF9"/>
          </a:solidFill>
          <a:ln w="6350">
            <a:solidFill>
              <a:srgbClr val="DCDCD6"/>
            </a:solidFill>
            <a:prstDash val="solid"/>
          </a:ln>
        </p:spPr>
      </p:sp>
      <p:pic>
        <p:nvPicPr>
          <p:cNvPr id="9" name="Image 1" descr="CheckCircle">    </p:cNvPr>
          <p:cNvPicPr>
            <a:picLocks noChangeAspect="1"/>
          </p:cNvPicPr>
          <p:nvPr/>
        </p:nvPicPr>
        <p:blipFill>
          <a:blip r:embed="rId2"/>
          <a:srcRect l="0" r="0" t="0" b="0"/>
          <a:stretch/>
        </p:blipFill>
        <p:spPr>
          <a:xfrm>
            <a:off x="6456680" y="2245361"/>
            <a:ext cx="355600" cy="355600"/>
          </a:xfrm>
          <a:prstGeom prst="rect">
            <a:avLst/>
          </a:prstGeom>
        </p:spPr>
      </p:pic>
      <p:sp>
        <p:nvSpPr>
          <p:cNvPr id="10" name="Text 6"/>
          <p:cNvSpPr/>
          <p:nvPr/>
        </p:nvSpPr>
        <p:spPr>
          <a:xfrm>
            <a:off x="6990080" y="2245361"/>
            <a:ext cx="42539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61A"/>
                </a:solidFill>
                <a:latin typeface="IBM Plex Sans" pitchFamily="34" charset="0"/>
                <a:ea typeface="IBM Plex Sans" pitchFamily="34" charset="-122"/>
                <a:cs typeface="IBM Plex Sans" pitchFamily="34" charset="-120"/>
              </a:rPr>
              <a:t>A React project</a:t>
            </a:r>
            <a:endParaRPr lang="en-US" sz="2000" dirty="0"/>
          </a:p>
        </p:txBody>
      </p:sp>
      <p:sp>
        <p:nvSpPr>
          <p:cNvPr id="11" name="Text 7"/>
          <p:cNvSpPr/>
          <p:nvPr/>
        </p:nvSpPr>
        <p:spPr>
          <a:xfrm>
            <a:off x="6990080" y="2613661"/>
            <a:ext cx="425394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IBM Plex Sans" pitchFamily="34" charset="0"/>
                <a:ea typeface="IBM Plex Sans" pitchFamily="34" charset="-122"/>
                <a:cs typeface="IBM Plex Sans" pitchFamily="34" charset="-120"/>
              </a:rPr>
              <a:t>Created with Vite (recommended) or Create React App.</a:t>
            </a:r>
            <a:endParaRPr lang="en-US" sz="1500" dirty="0"/>
          </a:p>
        </p:txBody>
      </p:sp>
      <p:sp>
        <p:nvSpPr>
          <p:cNvPr id="12" name="Shape 8"/>
          <p:cNvSpPr/>
          <p:nvPr/>
        </p:nvSpPr>
        <p:spPr>
          <a:xfrm>
            <a:off x="815975" y="3612516"/>
            <a:ext cx="5175250" cy="1146810"/>
          </a:xfrm>
          <a:prstGeom prst="roundRect">
            <a:avLst>
              <a:gd name="adj" fmla="val 10797"/>
            </a:avLst>
          </a:prstGeom>
          <a:solidFill>
            <a:srgbClr val="FBFBF9"/>
          </a:solidFill>
          <a:ln w="6350">
            <a:solidFill>
              <a:srgbClr val="DCDCD6"/>
            </a:solidFill>
            <a:prstDash val="solid"/>
          </a:ln>
        </p:spPr>
      </p:sp>
      <p:pic>
        <p:nvPicPr>
          <p:cNvPr id="13" name="Image 2" descr="CheckCircle">    </p:cNvPr>
          <p:cNvPicPr>
            <a:picLocks noChangeAspect="1"/>
          </p:cNvPicPr>
          <p:nvPr/>
        </p:nvPicPr>
        <p:blipFill>
          <a:blip r:embed="rId3"/>
          <a:srcRect l="0" r="0" t="0" b="0"/>
          <a:stretch/>
        </p:blipFill>
        <p:spPr>
          <a:xfrm>
            <a:off x="1071880" y="3868420"/>
            <a:ext cx="355600" cy="355600"/>
          </a:xfrm>
          <a:prstGeom prst="rect">
            <a:avLst/>
          </a:prstGeom>
        </p:spPr>
      </p:pic>
      <p:sp>
        <p:nvSpPr>
          <p:cNvPr id="14" name="Text 9"/>
          <p:cNvSpPr/>
          <p:nvPr/>
        </p:nvSpPr>
        <p:spPr>
          <a:xfrm>
            <a:off x="1605280" y="3868420"/>
            <a:ext cx="42539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61A"/>
                </a:solidFill>
                <a:latin typeface="IBM Plex Sans" pitchFamily="34" charset="0"/>
                <a:ea typeface="IBM Plex Sans" pitchFamily="34" charset="-122"/>
                <a:cs typeface="IBM Plex Sans" pitchFamily="34" charset="-120"/>
              </a:rPr>
              <a:t>A Git repository</a:t>
            </a:r>
            <a:endParaRPr lang="en-US" sz="2000" dirty="0"/>
          </a:p>
        </p:txBody>
      </p:sp>
      <p:sp>
        <p:nvSpPr>
          <p:cNvPr id="15" name="Text 10"/>
          <p:cNvSpPr/>
          <p:nvPr/>
        </p:nvSpPr>
        <p:spPr>
          <a:xfrm>
            <a:off x="1605280" y="4236720"/>
            <a:ext cx="425394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IBM Plex Sans" pitchFamily="34" charset="0"/>
                <a:ea typeface="IBM Plex Sans" pitchFamily="34" charset="-122"/>
                <a:cs typeface="IBM Plex Sans" pitchFamily="34" charset="-120"/>
              </a:rPr>
              <a:t>Hosted on GitHub, GitLab or Bitbucket.</a:t>
            </a:r>
            <a:endParaRPr lang="en-US" sz="1500" dirty="0"/>
          </a:p>
        </p:txBody>
      </p:sp>
      <p:sp>
        <p:nvSpPr>
          <p:cNvPr id="16" name="Shape 11"/>
          <p:cNvSpPr/>
          <p:nvPr/>
        </p:nvSpPr>
        <p:spPr>
          <a:xfrm>
            <a:off x="6200775" y="3612516"/>
            <a:ext cx="5175250" cy="1146810"/>
          </a:xfrm>
          <a:prstGeom prst="roundRect">
            <a:avLst>
              <a:gd name="adj" fmla="val 10797"/>
            </a:avLst>
          </a:prstGeom>
          <a:solidFill>
            <a:srgbClr val="FBFBF9"/>
          </a:solidFill>
          <a:ln w="6350">
            <a:solidFill>
              <a:srgbClr val="DCDCD6"/>
            </a:solidFill>
            <a:prstDash val="solid"/>
          </a:ln>
        </p:spPr>
      </p:sp>
      <p:pic>
        <p:nvPicPr>
          <p:cNvPr id="17" name="Image 3" descr="CheckCircle">    </p:cNvPr>
          <p:cNvPicPr>
            <a:picLocks noChangeAspect="1"/>
          </p:cNvPicPr>
          <p:nvPr/>
        </p:nvPicPr>
        <p:blipFill>
          <a:blip r:embed="rId4"/>
          <a:srcRect l="0" r="0" t="0" b="0"/>
          <a:stretch/>
        </p:blipFill>
        <p:spPr>
          <a:xfrm>
            <a:off x="6456680" y="3868420"/>
            <a:ext cx="355600" cy="355600"/>
          </a:xfrm>
          <a:prstGeom prst="rect">
            <a:avLst/>
          </a:prstGeom>
        </p:spPr>
      </p:pic>
      <p:sp>
        <p:nvSpPr>
          <p:cNvPr id="18" name="Text 12"/>
          <p:cNvSpPr/>
          <p:nvPr/>
        </p:nvSpPr>
        <p:spPr>
          <a:xfrm>
            <a:off x="6990080" y="3868420"/>
            <a:ext cx="42539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61A"/>
                </a:solidFill>
                <a:latin typeface="IBM Plex Sans" pitchFamily="34" charset="0"/>
                <a:ea typeface="IBM Plex Sans" pitchFamily="34" charset="-122"/>
                <a:cs typeface="IBM Plex Sans" pitchFamily="34" charset="-120"/>
              </a:rPr>
              <a:t>A Vercel account</a:t>
            </a:r>
            <a:endParaRPr lang="en-US" sz="2000" dirty="0"/>
          </a:p>
        </p:txBody>
      </p:sp>
      <p:sp>
        <p:nvSpPr>
          <p:cNvPr id="19" name="Text 13"/>
          <p:cNvSpPr/>
          <p:nvPr/>
        </p:nvSpPr>
        <p:spPr>
          <a:xfrm>
            <a:off x="6990080" y="4236720"/>
            <a:ext cx="425394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IBM Plex Sans" pitchFamily="34" charset="0"/>
                <a:ea typeface="IBM Plex Sans" pitchFamily="34" charset="-122"/>
                <a:cs typeface="IBM Plex Sans" pitchFamily="34" charset="-120"/>
              </a:rPr>
              <a:t>The free Hobby plan is enough to get started.</a:t>
            </a:r>
            <a:endParaRPr lang="en-US" sz="1500" dirty="0"/>
          </a:p>
        </p:txBody>
      </p:sp>
      <p:sp>
        <p:nvSpPr>
          <p:cNvPr id="20" name="Text 14"/>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03 · Deploying a React App on Vercel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F1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6C9BFF"/>
                </a:solidFill>
                <a:latin typeface="IBM Plex Sans" pitchFamily="34" charset="0"/>
                <a:ea typeface="IBM Plex Sans" pitchFamily="34" charset="-122"/>
                <a:cs typeface="IBM Plex Sans" pitchFamily="34" charset="-120"/>
              </a:rPr>
              <a:t>STEP 1</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2EE"/>
                </a:solidFill>
                <a:latin typeface="IBM Plex Sans" pitchFamily="34" charset="0"/>
                <a:ea typeface="IBM Plex Sans" pitchFamily="34" charset="-122"/>
                <a:cs typeface="IBM Plex Sans" pitchFamily="34" charset="-120"/>
              </a:rPr>
              <a:t>Prepare the project</a:t>
            </a:r>
            <a:endParaRPr lang="en-US" sz="3600" dirty="0"/>
          </a:p>
        </p:txBody>
      </p:sp>
      <p:sp>
        <p:nvSpPr>
          <p:cNvPr id="4" name="Shape 2"/>
          <p:cNvSpPr/>
          <p:nvPr/>
        </p:nvSpPr>
        <p:spPr>
          <a:xfrm>
            <a:off x="815975" y="1938655"/>
            <a:ext cx="5175250" cy="3122930"/>
          </a:xfrm>
          <a:prstGeom prst="roundRect">
            <a:avLst>
              <a:gd name="adj" fmla="val 3965"/>
            </a:avLst>
          </a:prstGeom>
          <a:solidFill>
            <a:srgbClr val="181A1F"/>
          </a:solidFill>
          <a:ln w="6350">
            <a:solidFill>
              <a:srgbClr val="2A2D34"/>
            </a:solidFill>
            <a:prstDash val="solid"/>
          </a:ln>
        </p:spPr>
      </p:sp>
      <p:sp>
        <p:nvSpPr>
          <p:cNvPr id="5" name="Text 3"/>
          <p:cNvSpPr/>
          <p:nvPr/>
        </p:nvSpPr>
        <p:spPr>
          <a:xfrm>
            <a:off x="1071880" y="2194561"/>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2EE"/>
                </a:solidFill>
                <a:latin typeface="IBM Plex Sans" pitchFamily="34" charset="0"/>
                <a:ea typeface="IBM Plex Sans" pitchFamily="34" charset="-122"/>
                <a:cs typeface="IBM Plex Sans" pitchFamily="34" charset="-120"/>
              </a:rPr>
              <a:t>Verify the build locally</a:t>
            </a:r>
            <a:endParaRPr lang="en-US" sz="2000" dirty="0"/>
          </a:p>
        </p:txBody>
      </p:sp>
      <p:sp>
        <p:nvSpPr>
          <p:cNvPr id="6" name="Shape 4"/>
          <p:cNvSpPr/>
          <p:nvPr/>
        </p:nvSpPr>
        <p:spPr>
          <a:xfrm>
            <a:off x="1071880" y="2651761"/>
            <a:ext cx="4663440" cy="1254760"/>
          </a:xfrm>
          <a:prstGeom prst="roundRect">
            <a:avLst>
              <a:gd name="adj" fmla="val 7085"/>
            </a:avLst>
          </a:prstGeom>
          <a:solidFill>
            <a:srgbClr val="07080A"/>
          </a:solidFill>
          <a:ln/>
        </p:spPr>
      </p:sp>
      <p:sp>
        <p:nvSpPr>
          <p:cNvPr id="7" name="Text 5"/>
          <p:cNvSpPr/>
          <p:nvPr/>
        </p:nvSpPr>
        <p:spPr>
          <a:xfrm>
            <a:off x="1275080" y="2854961"/>
            <a:ext cx="43847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7DAE0"/>
                </a:solidFill>
                <a:latin typeface="JetBrains Mono" pitchFamily="49" charset="0"/>
                <a:ea typeface="JetBrains Mono" pitchFamily="49" charset="-122"/>
                <a:cs typeface="JetBrains Mono" pitchFamily="49" charset="-120"/>
              </a:rPr>
              <a:t>npm install</a:t>
            </a:r>
            <a:endParaRPr lang="en-US" sz="1400" dirty="0"/>
          </a:p>
        </p:txBody>
      </p:sp>
      <p:sp>
        <p:nvSpPr>
          <p:cNvPr id="8" name="Text 6"/>
          <p:cNvSpPr/>
          <p:nvPr/>
        </p:nvSpPr>
        <p:spPr>
          <a:xfrm>
            <a:off x="1275080" y="3154680"/>
            <a:ext cx="43847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7DAE0"/>
                </a:solidFill>
                <a:latin typeface="JetBrains Mono" pitchFamily="49" charset="0"/>
                <a:ea typeface="JetBrains Mono" pitchFamily="49" charset="-122"/>
                <a:cs typeface="JetBrains Mono" pitchFamily="49" charset="-120"/>
              </a:rPr>
              <a:t>npm run build</a:t>
            </a:r>
            <a:endParaRPr lang="en-US" sz="1400" dirty="0"/>
          </a:p>
        </p:txBody>
      </p:sp>
      <p:sp>
        <p:nvSpPr>
          <p:cNvPr id="9" name="Text 7"/>
          <p:cNvSpPr/>
          <p:nvPr/>
        </p:nvSpPr>
        <p:spPr>
          <a:xfrm>
            <a:off x="1275080" y="3454400"/>
            <a:ext cx="43847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7DAE0"/>
                </a:solidFill>
                <a:latin typeface="JetBrains Mono" pitchFamily="49" charset="0"/>
                <a:ea typeface="JetBrains Mono" pitchFamily="49" charset="-122"/>
                <a:cs typeface="JetBrains Mono" pitchFamily="49" charset="-120"/>
              </a:rPr>
              <a:t>npm run preview</a:t>
            </a:r>
            <a:endParaRPr lang="en-US" sz="1400" dirty="0"/>
          </a:p>
        </p:txBody>
      </p:sp>
      <p:sp>
        <p:nvSpPr>
          <p:cNvPr id="10" name="Text 8"/>
          <p:cNvSpPr/>
          <p:nvPr/>
        </p:nvSpPr>
        <p:spPr>
          <a:xfrm>
            <a:off x="1071880" y="4058920"/>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DB5"/>
                </a:solidFill>
                <a:latin typeface="IBM Plex Sans" pitchFamily="34" charset="0"/>
                <a:ea typeface="IBM Plex Sans" pitchFamily="34" charset="-122"/>
                <a:cs typeface="IBM Plex Sans" pitchFamily="34" charset="-120"/>
              </a:rPr>
              <a:t>Vite writes to dist/ and Create React App to build/. Note which one your project uses.</a:t>
            </a:r>
            <a:endParaRPr lang="en-US" sz="1400" dirty="0"/>
          </a:p>
        </p:txBody>
      </p:sp>
      <p:sp>
        <p:nvSpPr>
          <p:cNvPr id="11" name="Shape 9"/>
          <p:cNvSpPr/>
          <p:nvPr/>
        </p:nvSpPr>
        <p:spPr>
          <a:xfrm>
            <a:off x="6200775" y="1938655"/>
            <a:ext cx="5175250" cy="3122930"/>
          </a:xfrm>
          <a:prstGeom prst="roundRect">
            <a:avLst>
              <a:gd name="adj" fmla="val 3965"/>
            </a:avLst>
          </a:prstGeom>
          <a:solidFill>
            <a:srgbClr val="181A1F"/>
          </a:solidFill>
          <a:ln w="6350">
            <a:solidFill>
              <a:srgbClr val="2A2D34"/>
            </a:solidFill>
            <a:prstDash val="solid"/>
          </a:ln>
        </p:spPr>
      </p:sp>
      <p:sp>
        <p:nvSpPr>
          <p:cNvPr id="12" name="Text 10"/>
          <p:cNvSpPr/>
          <p:nvPr/>
        </p:nvSpPr>
        <p:spPr>
          <a:xfrm>
            <a:off x="6456680" y="2194561"/>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2EE"/>
                </a:solidFill>
                <a:latin typeface="IBM Plex Sans" pitchFamily="34" charset="0"/>
                <a:ea typeface="IBM Plex Sans" pitchFamily="34" charset="-122"/>
                <a:cs typeface="IBM Plex Sans" pitchFamily="34" charset="-120"/>
              </a:rPr>
              <a:t>Push the code to GitHub</a:t>
            </a:r>
            <a:endParaRPr lang="en-US" sz="2000" dirty="0"/>
          </a:p>
        </p:txBody>
      </p:sp>
      <p:sp>
        <p:nvSpPr>
          <p:cNvPr id="13" name="Shape 11"/>
          <p:cNvSpPr/>
          <p:nvPr/>
        </p:nvSpPr>
        <p:spPr>
          <a:xfrm>
            <a:off x="6456680" y="2651761"/>
            <a:ext cx="4663440" cy="2153920"/>
          </a:xfrm>
          <a:prstGeom prst="roundRect">
            <a:avLst>
              <a:gd name="adj" fmla="val 4127"/>
            </a:avLst>
          </a:prstGeom>
          <a:solidFill>
            <a:srgbClr val="07080A"/>
          </a:solidFill>
          <a:ln/>
        </p:spPr>
      </p:sp>
      <p:sp>
        <p:nvSpPr>
          <p:cNvPr id="14" name="Text 12"/>
          <p:cNvSpPr/>
          <p:nvPr/>
        </p:nvSpPr>
        <p:spPr>
          <a:xfrm>
            <a:off x="6659880" y="2854961"/>
            <a:ext cx="43847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7DAE0"/>
                </a:solidFill>
                <a:latin typeface="JetBrains Mono" pitchFamily="49" charset="0"/>
                <a:ea typeface="JetBrains Mono" pitchFamily="49" charset="-122"/>
                <a:cs typeface="JetBrains Mono" pitchFamily="49" charset="-120"/>
              </a:rPr>
              <a:t>git init</a:t>
            </a:r>
            <a:endParaRPr lang="en-US" sz="1400" dirty="0"/>
          </a:p>
        </p:txBody>
      </p:sp>
      <p:sp>
        <p:nvSpPr>
          <p:cNvPr id="15" name="Text 13"/>
          <p:cNvSpPr/>
          <p:nvPr/>
        </p:nvSpPr>
        <p:spPr>
          <a:xfrm>
            <a:off x="6659880" y="3154680"/>
            <a:ext cx="43847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7DAE0"/>
                </a:solidFill>
                <a:latin typeface="JetBrains Mono" pitchFamily="49" charset="0"/>
                <a:ea typeface="JetBrains Mono" pitchFamily="49" charset="-122"/>
                <a:cs typeface="JetBrains Mono" pitchFamily="49" charset="-120"/>
              </a:rPr>
              <a:t>git add .</a:t>
            </a:r>
            <a:endParaRPr lang="en-US" sz="1400" dirty="0"/>
          </a:p>
        </p:txBody>
      </p:sp>
      <p:sp>
        <p:nvSpPr>
          <p:cNvPr id="16" name="Text 14"/>
          <p:cNvSpPr/>
          <p:nvPr/>
        </p:nvSpPr>
        <p:spPr>
          <a:xfrm>
            <a:off x="6659880" y="3454400"/>
            <a:ext cx="43847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7DAE0"/>
                </a:solidFill>
                <a:latin typeface="JetBrains Mono" pitchFamily="49" charset="0"/>
                <a:ea typeface="JetBrains Mono" pitchFamily="49" charset="-122"/>
                <a:cs typeface="JetBrains Mono" pitchFamily="49" charset="-120"/>
              </a:rPr>
              <a:t>git commit -m "Initial commit"</a:t>
            </a:r>
            <a:endParaRPr lang="en-US" sz="1400" dirty="0"/>
          </a:p>
        </p:txBody>
      </p:sp>
      <p:sp>
        <p:nvSpPr>
          <p:cNvPr id="17" name="Text 15"/>
          <p:cNvSpPr/>
          <p:nvPr/>
        </p:nvSpPr>
        <p:spPr>
          <a:xfrm>
            <a:off x="6659880" y="3754120"/>
            <a:ext cx="43847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7DAE0"/>
                </a:solidFill>
                <a:latin typeface="JetBrains Mono" pitchFamily="49" charset="0"/>
                <a:ea typeface="JetBrains Mono" pitchFamily="49" charset="-122"/>
                <a:cs typeface="JetBrains Mono" pitchFamily="49" charset="-120"/>
              </a:rPr>
              <a:t>git branch -M main</a:t>
            </a:r>
            <a:endParaRPr lang="en-US" sz="1400" dirty="0"/>
          </a:p>
        </p:txBody>
      </p:sp>
      <p:sp>
        <p:nvSpPr>
          <p:cNvPr id="18" name="Text 16"/>
          <p:cNvSpPr/>
          <p:nvPr/>
        </p:nvSpPr>
        <p:spPr>
          <a:xfrm>
            <a:off x="6659880" y="4053841"/>
            <a:ext cx="43847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7DAE0"/>
                </a:solidFill>
                <a:latin typeface="JetBrains Mono" pitchFamily="49" charset="0"/>
                <a:ea typeface="JetBrains Mono" pitchFamily="49" charset="-122"/>
                <a:cs typeface="JetBrains Mono" pitchFamily="49" charset="-120"/>
              </a:rPr>
              <a:t>git remote add origin &lt;repo-url&gt;</a:t>
            </a:r>
            <a:endParaRPr lang="en-US" sz="1400" dirty="0"/>
          </a:p>
        </p:txBody>
      </p:sp>
      <p:sp>
        <p:nvSpPr>
          <p:cNvPr id="19" name="Text 17"/>
          <p:cNvSpPr/>
          <p:nvPr/>
        </p:nvSpPr>
        <p:spPr>
          <a:xfrm>
            <a:off x="6659880" y="4353561"/>
            <a:ext cx="43847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7DAE0"/>
                </a:solidFill>
                <a:latin typeface="JetBrains Mono" pitchFamily="49" charset="0"/>
                <a:ea typeface="JetBrains Mono" pitchFamily="49" charset="-122"/>
                <a:cs typeface="JetBrains Mono" pitchFamily="49" charset="-120"/>
              </a:rPr>
              <a:t>git push -u origin main</a:t>
            </a:r>
            <a:endParaRPr lang="en-US" sz="1400" dirty="0"/>
          </a:p>
        </p:txBody>
      </p:sp>
      <p:sp>
        <p:nvSpPr>
          <p:cNvPr id="20" name="Text 18"/>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Sans" pitchFamily="34" charset="0"/>
                <a:ea typeface="IBM Plex Sans" pitchFamily="34" charset="-122"/>
                <a:cs typeface="IBM Plex Sans" pitchFamily="34" charset="-120"/>
              </a:rPr>
              <a:t>04 · Deploying a React App on Vercel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450D6"/>
                </a:solidFill>
                <a:latin typeface="IBM Plex Sans" pitchFamily="34" charset="0"/>
                <a:ea typeface="IBM Plex Sans" pitchFamily="34" charset="-122"/>
                <a:cs typeface="IBM Plex Sans" pitchFamily="34" charset="-120"/>
              </a:rPr>
              <a:t>METHOD 1 · GIT IMPORT</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61A"/>
                </a:solidFill>
                <a:latin typeface="IBM Plex Sans" pitchFamily="34" charset="0"/>
                <a:ea typeface="IBM Plex Sans" pitchFamily="34" charset="-122"/>
                <a:cs typeface="IBM Plex Sans" pitchFamily="34" charset="-120"/>
              </a:rPr>
              <a:t>Import from the dashboard</a:t>
            </a:r>
            <a:endParaRPr lang="en-US" sz="3600" dirty="0"/>
          </a:p>
        </p:txBody>
      </p:sp>
      <p:sp>
        <p:nvSpPr>
          <p:cNvPr id="4" name="Shape 2"/>
          <p:cNvSpPr/>
          <p:nvPr/>
        </p:nvSpPr>
        <p:spPr>
          <a:xfrm>
            <a:off x="815975" y="1989457"/>
            <a:ext cx="2482850" cy="2188210"/>
          </a:xfrm>
          <a:prstGeom prst="roundRect">
            <a:avLst>
              <a:gd name="adj" fmla="val 5659"/>
            </a:avLst>
          </a:prstGeom>
          <a:solidFill>
            <a:srgbClr val="FBFBF9"/>
          </a:solidFill>
          <a:ln w="6350">
            <a:solidFill>
              <a:srgbClr val="DCDCD6"/>
            </a:solidFill>
            <a:prstDash val="solid"/>
          </a:ln>
        </p:spPr>
      </p:sp>
      <p:sp>
        <p:nvSpPr>
          <p:cNvPr id="5" name="Text 3"/>
          <p:cNvSpPr/>
          <p:nvPr/>
        </p:nvSpPr>
        <p:spPr>
          <a:xfrm>
            <a:off x="1046480" y="2219961"/>
            <a:ext cx="2082495"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450D6"/>
                </a:solidFill>
                <a:latin typeface="IBM Plex Sans" pitchFamily="34" charset="0"/>
                <a:ea typeface="IBM Plex Sans" pitchFamily="34" charset="-122"/>
                <a:cs typeface="IBM Plex Sans" pitchFamily="34" charset="-120"/>
              </a:rPr>
              <a:t>1</a:t>
            </a:r>
            <a:endParaRPr lang="en-US" sz="3600" dirty="0"/>
          </a:p>
        </p:txBody>
      </p:sp>
      <p:sp>
        <p:nvSpPr>
          <p:cNvPr id="6" name="Text 4"/>
          <p:cNvSpPr/>
          <p:nvPr/>
        </p:nvSpPr>
        <p:spPr>
          <a:xfrm>
            <a:off x="1046480" y="2824482"/>
            <a:ext cx="208249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61A"/>
                </a:solidFill>
                <a:latin typeface="IBM Plex Sans" pitchFamily="34" charset="0"/>
                <a:ea typeface="IBM Plex Sans" pitchFamily="34" charset="-122"/>
                <a:cs typeface="IBM Plex Sans" pitchFamily="34" charset="-120"/>
              </a:rPr>
              <a:t>Add New Project</a:t>
            </a:r>
            <a:endParaRPr lang="en-US" sz="1800" dirty="0"/>
          </a:p>
        </p:txBody>
      </p:sp>
      <p:sp>
        <p:nvSpPr>
          <p:cNvPr id="7" name="Text 5"/>
          <p:cNvSpPr/>
          <p:nvPr/>
        </p:nvSpPr>
        <p:spPr>
          <a:xfrm>
            <a:off x="1046480" y="3200400"/>
            <a:ext cx="208249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058"/>
                </a:solidFill>
                <a:latin typeface="IBM Plex Sans" pitchFamily="34" charset="0"/>
                <a:ea typeface="IBM Plex Sans" pitchFamily="34" charset="-122"/>
                <a:cs typeface="IBM Plex Sans" pitchFamily="34" charset="-120"/>
              </a:rPr>
              <a:t>In the Vercel dashboard, click Add New, then Project.</a:t>
            </a:r>
            <a:endParaRPr lang="en-US" sz="1400" dirty="0"/>
          </a:p>
        </p:txBody>
      </p:sp>
      <p:sp>
        <p:nvSpPr>
          <p:cNvPr id="8" name="Shape 6"/>
          <p:cNvSpPr/>
          <p:nvPr/>
        </p:nvSpPr>
        <p:spPr>
          <a:xfrm>
            <a:off x="3508375" y="1989457"/>
            <a:ext cx="2482850" cy="2188210"/>
          </a:xfrm>
          <a:prstGeom prst="roundRect">
            <a:avLst>
              <a:gd name="adj" fmla="val 5659"/>
            </a:avLst>
          </a:prstGeom>
          <a:solidFill>
            <a:srgbClr val="FBFBF9"/>
          </a:solidFill>
          <a:ln w="6350">
            <a:solidFill>
              <a:srgbClr val="DCDCD6"/>
            </a:solidFill>
            <a:prstDash val="solid"/>
          </a:ln>
        </p:spPr>
      </p:sp>
      <p:sp>
        <p:nvSpPr>
          <p:cNvPr id="9" name="Text 7"/>
          <p:cNvSpPr/>
          <p:nvPr/>
        </p:nvSpPr>
        <p:spPr>
          <a:xfrm>
            <a:off x="3738880" y="2219961"/>
            <a:ext cx="2082495"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450D6"/>
                </a:solidFill>
                <a:latin typeface="IBM Plex Sans" pitchFamily="34" charset="0"/>
                <a:ea typeface="IBM Plex Sans" pitchFamily="34" charset="-122"/>
                <a:cs typeface="IBM Plex Sans" pitchFamily="34" charset="-120"/>
              </a:rPr>
              <a:t>2</a:t>
            </a:r>
            <a:endParaRPr lang="en-US" sz="3600" dirty="0"/>
          </a:p>
        </p:txBody>
      </p:sp>
      <p:sp>
        <p:nvSpPr>
          <p:cNvPr id="10" name="Text 8"/>
          <p:cNvSpPr/>
          <p:nvPr/>
        </p:nvSpPr>
        <p:spPr>
          <a:xfrm>
            <a:off x="3738880" y="2824482"/>
            <a:ext cx="208249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61A"/>
                </a:solidFill>
                <a:latin typeface="IBM Plex Sans" pitchFamily="34" charset="0"/>
                <a:ea typeface="IBM Plex Sans" pitchFamily="34" charset="-122"/>
                <a:cs typeface="IBM Plex Sans" pitchFamily="34" charset="-120"/>
              </a:rPr>
              <a:t>Import repository</a:t>
            </a:r>
            <a:endParaRPr lang="en-US" sz="1800" dirty="0"/>
          </a:p>
        </p:txBody>
      </p:sp>
      <p:sp>
        <p:nvSpPr>
          <p:cNvPr id="11" name="Text 9"/>
          <p:cNvSpPr/>
          <p:nvPr/>
        </p:nvSpPr>
        <p:spPr>
          <a:xfrm>
            <a:off x="3738880" y="3200400"/>
            <a:ext cx="208249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058"/>
                </a:solidFill>
                <a:latin typeface="IBM Plex Sans" pitchFamily="34" charset="0"/>
                <a:ea typeface="IBM Plex Sans" pitchFamily="34" charset="-122"/>
                <a:cs typeface="IBM Plex Sans" pitchFamily="34" charset="-120"/>
              </a:rPr>
              <a:t>Connect your Git provider and pick the React repo.</a:t>
            </a:r>
            <a:endParaRPr lang="en-US" sz="1400" dirty="0"/>
          </a:p>
        </p:txBody>
      </p:sp>
      <p:sp>
        <p:nvSpPr>
          <p:cNvPr id="12" name="Shape 10"/>
          <p:cNvSpPr/>
          <p:nvPr/>
        </p:nvSpPr>
        <p:spPr>
          <a:xfrm>
            <a:off x="6200775" y="1989457"/>
            <a:ext cx="2482850" cy="2188210"/>
          </a:xfrm>
          <a:prstGeom prst="roundRect">
            <a:avLst>
              <a:gd name="adj" fmla="val 5659"/>
            </a:avLst>
          </a:prstGeom>
          <a:solidFill>
            <a:srgbClr val="FBFBF9"/>
          </a:solidFill>
          <a:ln w="6350">
            <a:solidFill>
              <a:srgbClr val="DCDCD6"/>
            </a:solidFill>
            <a:prstDash val="solid"/>
          </a:ln>
        </p:spPr>
      </p:sp>
      <p:sp>
        <p:nvSpPr>
          <p:cNvPr id="13" name="Text 11"/>
          <p:cNvSpPr/>
          <p:nvPr/>
        </p:nvSpPr>
        <p:spPr>
          <a:xfrm>
            <a:off x="6431280" y="2219961"/>
            <a:ext cx="2082495"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450D6"/>
                </a:solidFill>
                <a:latin typeface="IBM Plex Sans" pitchFamily="34" charset="0"/>
                <a:ea typeface="IBM Plex Sans" pitchFamily="34" charset="-122"/>
                <a:cs typeface="IBM Plex Sans" pitchFamily="34" charset="-120"/>
              </a:rPr>
              <a:t>3</a:t>
            </a:r>
            <a:endParaRPr lang="en-US" sz="3600" dirty="0"/>
          </a:p>
        </p:txBody>
      </p:sp>
      <p:sp>
        <p:nvSpPr>
          <p:cNvPr id="14" name="Text 12"/>
          <p:cNvSpPr/>
          <p:nvPr/>
        </p:nvSpPr>
        <p:spPr>
          <a:xfrm>
            <a:off x="6431280" y="2824482"/>
            <a:ext cx="208249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61A"/>
                </a:solidFill>
                <a:latin typeface="IBM Plex Sans" pitchFamily="34" charset="0"/>
                <a:ea typeface="IBM Plex Sans" pitchFamily="34" charset="-122"/>
                <a:cs typeface="IBM Plex Sans" pitchFamily="34" charset="-120"/>
              </a:rPr>
              <a:t>Review settings</a:t>
            </a:r>
            <a:endParaRPr lang="en-US" sz="1800" dirty="0"/>
          </a:p>
        </p:txBody>
      </p:sp>
      <p:sp>
        <p:nvSpPr>
          <p:cNvPr id="15" name="Text 13"/>
          <p:cNvSpPr/>
          <p:nvPr/>
        </p:nvSpPr>
        <p:spPr>
          <a:xfrm>
            <a:off x="6431280" y="3200400"/>
            <a:ext cx="208249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058"/>
                </a:solidFill>
                <a:latin typeface="IBM Plex Sans" pitchFamily="34" charset="0"/>
                <a:ea typeface="IBM Plex Sans" pitchFamily="34" charset="-122"/>
                <a:cs typeface="IBM Plex Sans" pitchFamily="34" charset="-120"/>
              </a:rPr>
              <a:t>Vercel detects the framework and fills in the build settings.</a:t>
            </a:r>
            <a:endParaRPr lang="en-US" sz="1400" dirty="0"/>
          </a:p>
        </p:txBody>
      </p:sp>
      <p:sp>
        <p:nvSpPr>
          <p:cNvPr id="16" name="Shape 14"/>
          <p:cNvSpPr/>
          <p:nvPr/>
        </p:nvSpPr>
        <p:spPr>
          <a:xfrm>
            <a:off x="8893175" y="1989457"/>
            <a:ext cx="2482850" cy="2188210"/>
          </a:xfrm>
          <a:prstGeom prst="roundRect">
            <a:avLst>
              <a:gd name="adj" fmla="val 5659"/>
            </a:avLst>
          </a:prstGeom>
          <a:solidFill>
            <a:srgbClr val="FBFBF9"/>
          </a:solidFill>
          <a:ln w="6350">
            <a:solidFill>
              <a:srgbClr val="DCDCD6"/>
            </a:solidFill>
            <a:prstDash val="solid"/>
          </a:ln>
        </p:spPr>
      </p:sp>
      <p:sp>
        <p:nvSpPr>
          <p:cNvPr id="17" name="Text 15"/>
          <p:cNvSpPr/>
          <p:nvPr/>
        </p:nvSpPr>
        <p:spPr>
          <a:xfrm>
            <a:off x="9123680" y="2219961"/>
            <a:ext cx="2082495"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450D6"/>
                </a:solidFill>
                <a:latin typeface="IBM Plex Sans" pitchFamily="34" charset="0"/>
                <a:ea typeface="IBM Plex Sans" pitchFamily="34" charset="-122"/>
                <a:cs typeface="IBM Plex Sans" pitchFamily="34" charset="-120"/>
              </a:rPr>
              <a:t>4</a:t>
            </a:r>
            <a:endParaRPr lang="en-US" sz="3600" dirty="0"/>
          </a:p>
        </p:txBody>
      </p:sp>
      <p:sp>
        <p:nvSpPr>
          <p:cNvPr id="18" name="Text 16"/>
          <p:cNvSpPr/>
          <p:nvPr/>
        </p:nvSpPr>
        <p:spPr>
          <a:xfrm>
            <a:off x="9123680" y="2824482"/>
            <a:ext cx="208249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61A"/>
                </a:solidFill>
                <a:latin typeface="IBM Plex Sans" pitchFamily="34" charset="0"/>
                <a:ea typeface="IBM Plex Sans" pitchFamily="34" charset="-122"/>
                <a:cs typeface="IBM Plex Sans" pitchFamily="34" charset="-120"/>
              </a:rPr>
              <a:t>Click Deploy</a:t>
            </a:r>
            <a:endParaRPr lang="en-US" sz="1800" dirty="0"/>
          </a:p>
        </p:txBody>
      </p:sp>
      <p:sp>
        <p:nvSpPr>
          <p:cNvPr id="19" name="Text 17"/>
          <p:cNvSpPr/>
          <p:nvPr/>
        </p:nvSpPr>
        <p:spPr>
          <a:xfrm>
            <a:off x="9123680" y="3200400"/>
            <a:ext cx="208249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058"/>
                </a:solidFill>
                <a:latin typeface="IBM Plex Sans" pitchFamily="34" charset="0"/>
                <a:ea typeface="IBM Plex Sans" pitchFamily="34" charset="-122"/>
                <a:cs typeface="IBM Plex Sans" pitchFamily="34" charset="-120"/>
              </a:rPr>
              <a:t>Wait for the build to finish, then open your live URL.</a:t>
            </a:r>
            <a:endParaRPr lang="en-US" sz="1400" dirty="0"/>
          </a:p>
        </p:txBody>
      </p:sp>
      <p:sp>
        <p:nvSpPr>
          <p:cNvPr id="20" name="Text 18"/>
          <p:cNvSpPr/>
          <p:nvPr/>
        </p:nvSpPr>
        <p:spPr>
          <a:xfrm>
            <a:off x="812800" y="4536439"/>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5058"/>
                </a:solidFill>
                <a:latin typeface="IBM Plex Sans" pitchFamily="34" charset="0"/>
                <a:ea typeface="IBM Plex Sans" pitchFamily="34" charset="-122"/>
                <a:cs typeface="IBM Plex Sans" pitchFamily="34" charset="-120"/>
              </a:rPr>
              <a:t>Recommended for most projects: every later push redeploys automatically.</a:t>
            </a:r>
            <a:endParaRPr lang="en-US" sz="1600" dirty="0"/>
          </a:p>
        </p:txBody>
      </p:sp>
      <p:sp>
        <p:nvSpPr>
          <p:cNvPr id="21" name="Text 19"/>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05 · Deploying a React App on Vercel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450D6"/>
                </a:solidFill>
                <a:latin typeface="IBM Plex Sans" pitchFamily="34" charset="0"/>
                <a:ea typeface="IBM Plex Sans" pitchFamily="34" charset="-122"/>
                <a:cs typeface="IBM Plex Sans" pitchFamily="34" charset="-120"/>
              </a:rPr>
              <a:t>CONFIGURATION</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61A"/>
                </a:solidFill>
                <a:latin typeface="IBM Plex Sans" pitchFamily="34" charset="0"/>
                <a:ea typeface="IBM Plex Sans" pitchFamily="34" charset="-122"/>
                <a:cs typeface="IBM Plex Sans" pitchFamily="34" charset="-120"/>
              </a:rPr>
              <a:t>Build settings Vercel needs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5642"/>
          <a:ext cx="10556240" cy="2184400"/>
        </p:xfrm>
        <a:graphic>
          <a:graphicData uri="http://schemas.openxmlformats.org/drawingml/2006/table">
            <a:tbl>
              <a:tblPr/>
              <a:tblGrid>
                <a:gridCol w="3589122"/>
                <a:gridCol w="3483559"/>
                <a:gridCol w="3483559"/>
              </a:tblGrid>
              <a:tr h="436880">
                <a:tc>
                  <a:txBody>
                    <a:bodyPr/>
                    <a:lstStyle/>
                    <a:p>
                      <a:pPr indent="0" marL="0">
                        <a:lnSpc>
                          <a:spcPts val="2240"/>
                        </a:lnSpc>
                        <a:buNone/>
                      </a:pPr>
                      <a:r>
                        <a:rPr lang="en-US" sz="1600" b="1" dirty="0">
                          <a:solidFill>
                            <a:srgbClr val="14161A"/>
                          </a:solidFill>
                          <a:latin typeface="IBM Plex Sans" pitchFamily="34" charset="0"/>
                          <a:ea typeface="IBM Plex Sans" pitchFamily="34" charset="-122"/>
                          <a:cs typeface="IBM Plex Sans" pitchFamily="34" charset="-120"/>
                        </a:rPr>
                        <a:t>Setting</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B9B9B4"/>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9B9B4"/>
                      </a:solidFill>
                      <a:prstDash val="solid"/>
                      <a:round/>
                      <a:headEnd type="none" w="med" len="med"/>
                      <a:tailEnd type="none" w="med" len="med"/>
                    </a:lnB>
                    <a:solidFill>
                      <a:srgbClr val="E7E7E1"/>
                    </a:solidFill>
                  </a:tcPr>
                </a:tc>
                <a:tc>
                  <a:txBody>
                    <a:bodyPr/>
                    <a:lstStyle/>
                    <a:p>
                      <a:pPr indent="0" marL="0">
                        <a:lnSpc>
                          <a:spcPts val="2240"/>
                        </a:lnSpc>
                        <a:buNone/>
                      </a:pPr>
                      <a:r>
                        <a:rPr lang="en-US" sz="1600" b="1" dirty="0">
                          <a:solidFill>
                            <a:srgbClr val="14161A"/>
                          </a:solidFill>
                          <a:latin typeface="IBM Plex Sans" pitchFamily="34" charset="0"/>
                          <a:ea typeface="IBM Plex Sans" pitchFamily="34" charset="-122"/>
                          <a:cs typeface="IBM Plex Sans" pitchFamily="34" charset="-120"/>
                        </a:rPr>
                        <a:t>Vite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9B9B4"/>
                      </a:solidFill>
                      <a:prstDash val="solid"/>
                      <a:round/>
                      <a:headEnd type="none" w="med" len="med"/>
                      <a:tailEnd type="none" w="med" len="med"/>
                    </a:lnL>
                    <a:lnR w="12700" cap="flat" cmpd="sng" algn="ctr">
                      <a:solidFill>
                        <a:srgbClr val="B9B9B4"/>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9B9B4"/>
                      </a:solidFill>
                      <a:prstDash val="solid"/>
                      <a:round/>
                      <a:headEnd type="none" w="med" len="med"/>
                      <a:tailEnd type="none" w="med" len="med"/>
                    </a:lnB>
                    <a:solidFill>
                      <a:srgbClr val="E7E7E1"/>
                    </a:solidFill>
                  </a:tcPr>
                </a:tc>
                <a:tc>
                  <a:txBody>
                    <a:bodyPr/>
                    <a:lstStyle/>
                    <a:p>
                      <a:pPr indent="0" marL="0">
                        <a:lnSpc>
                          <a:spcPts val="2240"/>
                        </a:lnSpc>
                        <a:buNone/>
                      </a:pPr>
                      <a:r>
                        <a:rPr lang="en-US" sz="1600" b="1" dirty="0">
                          <a:solidFill>
                            <a:srgbClr val="14161A"/>
                          </a:solidFill>
                          <a:latin typeface="IBM Plex Sans" pitchFamily="34" charset="0"/>
                          <a:ea typeface="IBM Plex Sans" pitchFamily="34" charset="-122"/>
                          <a:cs typeface="IBM Plex Sans" pitchFamily="34" charset="-120"/>
                        </a:rPr>
                        <a:t>Create React App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9B9B4"/>
                      </a:solidFill>
                      <a:prstDash val="solid"/>
                      <a:round/>
                      <a:headEnd type="none" w="med" len="med"/>
                      <a:tailEnd type="none" w="med" len="med"/>
                    </a:lnL>
                    <a:lnR w="12700" cap="flat" cmpd="sng" algn="ctr">
                      <a:solidFill>
                        <a:srgbClr val="B9B9B4"/>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9B9B4"/>
                      </a:solidFill>
                      <a:prstDash val="solid"/>
                      <a:round/>
                      <a:headEnd type="none" w="med" len="med"/>
                      <a:tailEnd type="none" w="med" len="med"/>
                    </a:lnB>
                    <a:solidFill>
                      <a:srgbClr val="E7E7E1"/>
                    </a:solidFill>
                  </a:tcPr>
                </a:tc>
              </a:tr>
              <a:tr h="436880">
                <a:tc>
                  <a:txBody>
                    <a:bodyPr/>
                    <a:lstStyle/>
                    <a:p>
                      <a:pPr indent="0" marL="0">
                        <a:lnSpc>
                          <a:spcPts val="2240"/>
                        </a:lnSpc>
                        <a:buNone/>
                      </a:pPr>
                      <a:r>
                        <a:rPr lang="en-US" sz="1600" dirty="0">
                          <a:solidFill>
                            <a:srgbClr val="14161A"/>
                          </a:solidFill>
                          <a:latin typeface="IBM Plex Sans" pitchFamily="34" charset="0"/>
                          <a:ea typeface="IBM Plex Sans" pitchFamily="34" charset="-122"/>
                          <a:cs typeface="IBM Plex Sans" pitchFamily="34" charset="-120"/>
                        </a:rPr>
                        <a:t>Framework Preset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9B9B4"/>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2240"/>
                        </a:lnSpc>
                        <a:buNone/>
                      </a:pPr>
                      <a:r>
                        <a:rPr lang="en-US" sz="1600" dirty="0">
                          <a:solidFill>
                            <a:srgbClr val="14161A"/>
                          </a:solidFill>
                          <a:latin typeface="IBM Plex Sans" pitchFamily="34" charset="0"/>
                          <a:ea typeface="IBM Plex Sans" pitchFamily="34" charset="-122"/>
                          <a:cs typeface="IBM Plex Sans" pitchFamily="34" charset="-120"/>
                        </a:rPr>
                        <a:t>Vite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9B9B4"/>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2240"/>
                        </a:lnSpc>
                        <a:buNone/>
                      </a:pPr>
                      <a:r>
                        <a:rPr lang="en-US" sz="1600" dirty="0">
                          <a:solidFill>
                            <a:srgbClr val="14161A"/>
                          </a:solidFill>
                          <a:latin typeface="IBM Plex Sans" pitchFamily="34" charset="0"/>
                          <a:ea typeface="IBM Plex Sans" pitchFamily="34" charset="-122"/>
                          <a:cs typeface="IBM Plex Sans" pitchFamily="34" charset="-120"/>
                        </a:rPr>
                        <a:t>Create React App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9B9B4"/>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161A"/>
                          </a:solidFill>
                          <a:latin typeface="IBM Plex Sans" pitchFamily="34" charset="0"/>
                          <a:ea typeface="IBM Plex Sans" pitchFamily="34" charset="-122"/>
                          <a:cs typeface="IBM Plex Sans" pitchFamily="34" charset="-120"/>
                        </a:rPr>
                        <a:t>Install Command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2240"/>
                        </a:lnSpc>
                        <a:buNone/>
                      </a:pPr>
                      <a:r>
                        <a:rPr lang="en-US" sz="1600" dirty="0">
                          <a:solidFill>
                            <a:srgbClr val="14161A"/>
                          </a:solidFill>
                          <a:latin typeface="IBM Plex Sans" pitchFamily="34" charset="0"/>
                          <a:ea typeface="IBM Plex Sans" pitchFamily="34" charset="-122"/>
                          <a:cs typeface="IBM Plex Sans" pitchFamily="34" charset="-120"/>
                        </a:rPr>
                        <a:t>npm install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2240"/>
                        </a:lnSpc>
                        <a:buNone/>
                      </a:pPr>
                      <a:r>
                        <a:rPr lang="en-US" sz="1600" dirty="0">
                          <a:solidFill>
                            <a:srgbClr val="14161A"/>
                          </a:solidFill>
                          <a:latin typeface="IBM Plex Sans" pitchFamily="34" charset="0"/>
                          <a:ea typeface="IBM Plex Sans" pitchFamily="34" charset="-122"/>
                          <a:cs typeface="IBM Plex Sans" pitchFamily="34" charset="-120"/>
                        </a:rPr>
                        <a:t>npm install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161A"/>
                          </a:solidFill>
                          <a:latin typeface="IBM Plex Sans" pitchFamily="34" charset="0"/>
                          <a:ea typeface="IBM Plex Sans" pitchFamily="34" charset="-122"/>
                          <a:cs typeface="IBM Plex Sans" pitchFamily="34" charset="-120"/>
                        </a:rPr>
                        <a:t>Build Command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2240"/>
                        </a:lnSpc>
                        <a:buNone/>
                      </a:pPr>
                      <a:r>
                        <a:rPr lang="en-US" sz="1600" dirty="0">
                          <a:solidFill>
                            <a:srgbClr val="14161A"/>
                          </a:solidFill>
                          <a:latin typeface="IBM Plex Sans" pitchFamily="34" charset="0"/>
                          <a:ea typeface="IBM Plex Sans" pitchFamily="34" charset="-122"/>
                          <a:cs typeface="IBM Plex Sans" pitchFamily="34" charset="-120"/>
                        </a:rPr>
                        <a:t>npm run build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2240"/>
                        </a:lnSpc>
                        <a:buNone/>
                      </a:pPr>
                      <a:r>
                        <a:rPr lang="en-US" sz="1600" dirty="0">
                          <a:solidFill>
                            <a:srgbClr val="14161A"/>
                          </a:solidFill>
                          <a:latin typeface="IBM Plex Sans" pitchFamily="34" charset="0"/>
                          <a:ea typeface="IBM Plex Sans" pitchFamily="34" charset="-122"/>
                          <a:cs typeface="IBM Plex Sans" pitchFamily="34" charset="-120"/>
                        </a:rPr>
                        <a:t>npm run build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161A"/>
                          </a:solidFill>
                          <a:latin typeface="IBM Plex Sans" pitchFamily="34" charset="0"/>
                          <a:ea typeface="IBM Plex Sans" pitchFamily="34" charset="-122"/>
                          <a:cs typeface="IBM Plex Sans" pitchFamily="34" charset="-120"/>
                        </a:rPr>
                        <a:t>Output Directory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2240"/>
                        </a:lnSpc>
                        <a:buNone/>
                      </a:pPr>
                      <a:r>
                        <a:rPr lang="en-US" sz="1600" dirty="0">
                          <a:solidFill>
                            <a:srgbClr val="14161A"/>
                          </a:solidFill>
                          <a:latin typeface="IBM Plex Sans" pitchFamily="34" charset="0"/>
                          <a:ea typeface="IBM Plex Sans" pitchFamily="34" charset="-122"/>
                          <a:cs typeface="IBM Plex Sans" pitchFamily="34" charset="-120"/>
                        </a:rPr>
                        <a:t>dist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2240"/>
                        </a:lnSpc>
                        <a:buNone/>
                      </a:pPr>
                      <a:r>
                        <a:rPr lang="en-US" sz="1600" dirty="0">
                          <a:solidFill>
                            <a:srgbClr val="14161A"/>
                          </a:solidFill>
                          <a:latin typeface="IBM Plex Sans" pitchFamily="34" charset="0"/>
                          <a:ea typeface="IBM Plex Sans" pitchFamily="34" charset="-122"/>
                          <a:cs typeface="IBM Plex Sans" pitchFamily="34" charset="-120"/>
                        </a:rPr>
                        <a:t>build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bl>
          </a:graphicData>
        </a:graphic>
      </p:graphicFrame>
      <p:sp>
        <p:nvSpPr>
          <p:cNvPr id="5" name="Text 2"/>
          <p:cNvSpPr/>
          <p:nvPr/>
        </p:nvSpPr>
        <p:spPr>
          <a:xfrm>
            <a:off x="812800" y="443483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IBM Plex Sans" pitchFamily="34" charset="0"/>
                <a:ea typeface="IBM Plex Sans" pitchFamily="34" charset="-122"/>
                <a:cs typeface="IBM Plex Sans" pitchFamily="34" charset="-120"/>
              </a:rPr>
              <a:t>Vercel detects both frameworks, so the defaults are usually correct. Override them only for a custom setup.</a:t>
            </a:r>
            <a:endParaRPr lang="en-US" sz="1500" dirty="0"/>
          </a:p>
        </p:txBody>
      </p:sp>
      <p:sp>
        <p:nvSpPr>
          <p:cNvPr id="6" name="Text 3"/>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06 · Deploying a React App on Vercel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F1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6C9BFF"/>
                </a:solidFill>
                <a:latin typeface="IBM Plex Sans" pitchFamily="34" charset="0"/>
                <a:ea typeface="IBM Plex Sans" pitchFamily="34" charset="-122"/>
                <a:cs typeface="IBM Plex Sans" pitchFamily="34" charset="-120"/>
              </a:rPr>
              <a:t>METHOD 2 · COMMAND LINE</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2EE"/>
                </a:solidFill>
                <a:latin typeface="IBM Plex Sans" pitchFamily="34" charset="0"/>
                <a:ea typeface="IBM Plex Sans" pitchFamily="34" charset="-122"/>
                <a:cs typeface="IBM Plex Sans" pitchFamily="34" charset="-120"/>
              </a:rPr>
              <a:t>Deploy with the Vercel CLI</a:t>
            </a:r>
            <a:endParaRPr lang="en-US" sz="3600" dirty="0"/>
          </a:p>
        </p:txBody>
      </p:sp>
      <p:sp>
        <p:nvSpPr>
          <p:cNvPr id="4" name="Shape 2"/>
          <p:cNvSpPr/>
          <p:nvPr/>
        </p:nvSpPr>
        <p:spPr>
          <a:xfrm>
            <a:off x="812800" y="1935482"/>
            <a:ext cx="10566400" cy="2908300"/>
          </a:xfrm>
          <a:prstGeom prst="roundRect">
            <a:avLst>
              <a:gd name="adj" fmla="val 3493"/>
            </a:avLst>
          </a:prstGeom>
          <a:solidFill>
            <a:srgbClr val="07080A"/>
          </a:solidFill>
          <a:ln/>
        </p:spPr>
      </p:sp>
      <p:sp>
        <p:nvSpPr>
          <p:cNvPr id="5" name="Text 3"/>
          <p:cNvSpPr/>
          <p:nvPr/>
        </p:nvSpPr>
        <p:spPr>
          <a:xfrm>
            <a:off x="1066800" y="2189482"/>
            <a:ext cx="103601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8A8F98"/>
                </a:solidFill>
                <a:latin typeface="JetBrains Mono" pitchFamily="49" charset="0"/>
                <a:ea typeface="JetBrains Mono" pitchFamily="49" charset="-122"/>
                <a:cs typeface="JetBrains Mono" pitchFamily="49" charset="-120"/>
              </a:rPr>
              <a:t># Install the CLI</a:t>
            </a:r>
            <a:endParaRPr lang="en-US" sz="1500" dirty="0"/>
          </a:p>
        </p:txBody>
      </p:sp>
      <p:sp>
        <p:nvSpPr>
          <p:cNvPr id="6" name="Text 4"/>
          <p:cNvSpPr/>
          <p:nvPr/>
        </p:nvSpPr>
        <p:spPr>
          <a:xfrm>
            <a:off x="1066800" y="2494282"/>
            <a:ext cx="103601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7DAE0"/>
                </a:solidFill>
                <a:latin typeface="JetBrains Mono" pitchFamily="49" charset="0"/>
                <a:ea typeface="JetBrains Mono" pitchFamily="49" charset="-122"/>
                <a:cs typeface="JetBrains Mono" pitchFamily="49" charset="-120"/>
              </a:rPr>
              <a:t>npm install -g vercel</a:t>
            </a:r>
            <a:endParaRPr lang="en-US" sz="1500" dirty="0"/>
          </a:p>
        </p:txBody>
      </p:sp>
      <p:sp>
        <p:nvSpPr>
          <p:cNvPr id="7" name="Text 5"/>
          <p:cNvSpPr/>
          <p:nvPr/>
        </p:nvSpPr>
        <p:spPr>
          <a:xfrm>
            <a:off x="1066800" y="2799082"/>
            <a:ext cx="103601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8A8F98"/>
                </a:solidFill>
                <a:latin typeface="JetBrains Mono" pitchFamily="49" charset="0"/>
                <a:ea typeface="JetBrains Mono" pitchFamily="49" charset="-122"/>
                <a:cs typeface="JetBrains Mono" pitchFamily="49" charset="-120"/>
              </a:rPr>
              <a:t># Log in to your account</a:t>
            </a:r>
            <a:endParaRPr lang="en-US" sz="1500" dirty="0"/>
          </a:p>
        </p:txBody>
      </p:sp>
      <p:sp>
        <p:nvSpPr>
          <p:cNvPr id="8" name="Text 6"/>
          <p:cNvSpPr/>
          <p:nvPr/>
        </p:nvSpPr>
        <p:spPr>
          <a:xfrm>
            <a:off x="1066800" y="3103882"/>
            <a:ext cx="103601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7DAE0"/>
                </a:solidFill>
                <a:latin typeface="JetBrains Mono" pitchFamily="49" charset="0"/>
                <a:ea typeface="JetBrains Mono" pitchFamily="49" charset="-122"/>
                <a:cs typeface="JetBrains Mono" pitchFamily="49" charset="-120"/>
              </a:rPr>
              <a:t>vercel login</a:t>
            </a:r>
            <a:endParaRPr lang="en-US" sz="1500" dirty="0"/>
          </a:p>
        </p:txBody>
      </p:sp>
      <p:sp>
        <p:nvSpPr>
          <p:cNvPr id="9" name="Text 7"/>
          <p:cNvSpPr/>
          <p:nvPr/>
        </p:nvSpPr>
        <p:spPr>
          <a:xfrm>
            <a:off x="1066800" y="3408682"/>
            <a:ext cx="103601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8A8F98"/>
                </a:solidFill>
                <a:latin typeface="JetBrains Mono" pitchFamily="49" charset="0"/>
                <a:ea typeface="JetBrains Mono" pitchFamily="49" charset="-122"/>
                <a:cs typeface="JetBrains Mono" pitchFamily="49" charset="-120"/>
              </a:rPr>
              <a:t># Deploy a preview from the project folder</a:t>
            </a:r>
            <a:endParaRPr lang="en-US" sz="1500" dirty="0"/>
          </a:p>
        </p:txBody>
      </p:sp>
      <p:sp>
        <p:nvSpPr>
          <p:cNvPr id="10" name="Text 8"/>
          <p:cNvSpPr/>
          <p:nvPr/>
        </p:nvSpPr>
        <p:spPr>
          <a:xfrm>
            <a:off x="1066800" y="3713482"/>
            <a:ext cx="103601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7DAE0"/>
                </a:solidFill>
                <a:latin typeface="JetBrains Mono" pitchFamily="49" charset="0"/>
                <a:ea typeface="JetBrains Mono" pitchFamily="49" charset="-122"/>
                <a:cs typeface="JetBrains Mono" pitchFamily="49" charset="-120"/>
              </a:rPr>
              <a:t>vercel</a:t>
            </a:r>
            <a:endParaRPr lang="en-US" sz="1500" dirty="0"/>
          </a:p>
        </p:txBody>
      </p:sp>
      <p:sp>
        <p:nvSpPr>
          <p:cNvPr id="11" name="Text 9"/>
          <p:cNvSpPr/>
          <p:nvPr/>
        </p:nvSpPr>
        <p:spPr>
          <a:xfrm>
            <a:off x="1066800" y="4018282"/>
            <a:ext cx="103601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8A8F98"/>
                </a:solidFill>
                <a:latin typeface="JetBrains Mono" pitchFamily="49" charset="0"/>
                <a:ea typeface="JetBrains Mono" pitchFamily="49" charset="-122"/>
                <a:cs typeface="JetBrains Mono" pitchFamily="49" charset="-120"/>
              </a:rPr>
              <a:t># Promote to production</a:t>
            </a:r>
            <a:endParaRPr lang="en-US" sz="1500" dirty="0"/>
          </a:p>
        </p:txBody>
      </p:sp>
      <p:sp>
        <p:nvSpPr>
          <p:cNvPr id="12" name="Text 10"/>
          <p:cNvSpPr/>
          <p:nvPr/>
        </p:nvSpPr>
        <p:spPr>
          <a:xfrm>
            <a:off x="1066800" y="4323082"/>
            <a:ext cx="103601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C9BFF"/>
                </a:solidFill>
                <a:latin typeface="JetBrains Mono" pitchFamily="49" charset="0"/>
                <a:ea typeface="JetBrains Mono" pitchFamily="49" charset="-122"/>
                <a:cs typeface="JetBrains Mono" pitchFamily="49" charset="-120"/>
              </a:rPr>
              <a:t>vercel --prod</a:t>
            </a:r>
            <a:endParaRPr lang="en-US" sz="1500" dirty="0"/>
          </a:p>
        </p:txBody>
      </p:sp>
      <p:sp>
        <p:nvSpPr>
          <p:cNvPr id="13" name="Text 11"/>
          <p:cNvSpPr/>
          <p:nvPr/>
        </p:nvSpPr>
        <p:spPr>
          <a:xfrm>
            <a:off x="812800" y="514858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ADB5"/>
                </a:solidFill>
                <a:latin typeface="IBM Plex Sans" pitchFamily="34" charset="0"/>
                <a:ea typeface="IBM Plex Sans" pitchFamily="34" charset="-122"/>
                <a:cs typeface="IBM Plex Sans" pitchFamily="34" charset="-120"/>
              </a:rPr>
              <a:t>The first run asks you to link the project. Later runs reuse that link.</a:t>
            </a:r>
            <a:endParaRPr lang="en-US" sz="1500" dirty="0"/>
          </a:p>
        </p:txBody>
      </p:sp>
      <p:sp>
        <p:nvSpPr>
          <p:cNvPr id="14" name="Text 12"/>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Sans" pitchFamily="34" charset="0"/>
                <a:ea typeface="IBM Plex Sans" pitchFamily="34" charset="-122"/>
                <a:cs typeface="IBM Plex Sans" pitchFamily="34" charset="-120"/>
              </a:rPr>
              <a:t>07 · Deploying a React App on Vercel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450D6"/>
                </a:solidFill>
                <a:latin typeface="IBM Plex Sans" pitchFamily="34" charset="0"/>
                <a:ea typeface="IBM Plex Sans" pitchFamily="34" charset="-122"/>
                <a:cs typeface="IBM Plex Sans" pitchFamily="34" charset="-120"/>
              </a:rPr>
              <a:t>CONFIGURATION</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61A"/>
                </a:solidFill>
                <a:latin typeface="IBM Plex Sans" pitchFamily="34" charset="0"/>
                <a:ea typeface="IBM Plex Sans" pitchFamily="34" charset="-122"/>
                <a:cs typeface="IBM Plex Sans" pitchFamily="34" charset="-120"/>
              </a:rPr>
              <a:t>Add environment variables</a:t>
            </a:r>
            <a:endParaRPr lang="en-US" sz="3600" dirty="0"/>
          </a:p>
        </p:txBody>
      </p:sp>
      <p:sp>
        <p:nvSpPr>
          <p:cNvPr id="4" name="Shape 2"/>
          <p:cNvSpPr/>
          <p:nvPr/>
        </p:nvSpPr>
        <p:spPr>
          <a:xfrm>
            <a:off x="815975" y="1938657"/>
            <a:ext cx="5175250" cy="2749550"/>
          </a:xfrm>
          <a:prstGeom prst="roundRect">
            <a:avLst>
              <a:gd name="adj" fmla="val 4503"/>
            </a:avLst>
          </a:prstGeom>
          <a:solidFill>
            <a:srgbClr val="FBFBF9"/>
          </a:solidFill>
          <a:ln w="6350">
            <a:solidFill>
              <a:srgbClr val="DCDCD6"/>
            </a:solidFill>
            <a:prstDash val="solid"/>
          </a:ln>
        </p:spPr>
      </p:sp>
      <p:sp>
        <p:nvSpPr>
          <p:cNvPr id="5" name="Text 3"/>
          <p:cNvSpPr/>
          <p:nvPr/>
        </p:nvSpPr>
        <p:spPr>
          <a:xfrm>
            <a:off x="1071880" y="219456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61A"/>
                </a:solidFill>
                <a:latin typeface="IBM Plex Sans" pitchFamily="34" charset="0"/>
                <a:ea typeface="IBM Plex Sans" pitchFamily="34" charset="-122"/>
                <a:cs typeface="IBM Plex Sans" pitchFamily="34" charset="-120"/>
              </a:rPr>
              <a:t>In the Vercel dashboard</a:t>
            </a:r>
            <a:endParaRPr lang="en-US" sz="1800" dirty="0"/>
          </a:p>
        </p:txBody>
      </p:sp>
      <p:sp>
        <p:nvSpPr>
          <p:cNvPr id="6" name="Text 4"/>
          <p:cNvSpPr/>
          <p:nvPr/>
        </p:nvSpPr>
        <p:spPr>
          <a:xfrm>
            <a:off x="1114743" y="2621282"/>
            <a:ext cx="4752861" cy="1168400"/>
          </a:xfrm>
          <a:prstGeom prst="rect">
            <a:avLst/>
          </a:prstGeom>
          <a:noFill/>
          <a:ln/>
        </p:spPr>
        <p:txBody>
          <a:bodyPr wrap="square" lIns="0" tIns="0" rIns="0" bIns="0" rtlCol="0" anchor="t">
            <a:normAutofit/>
          </a:bodyPr>
          <a:lstStyle/>
          <a:p>
            <a:pPr algn="l" marL="211138" indent="-211138">
              <a:lnSpc>
                <a:spcPts val="2250"/>
              </a:lnSpc>
              <a:buSzPct val="100000"/>
              <a:buFontTx/>
              <a:buAutoNum type="arabicPeriod" startAt="1"/>
            </a:pPr>
            <a:r>
              <a:rPr lang="en-US" sz="1500" dirty="0">
                <a:solidFill>
                  <a:srgbClr val="14161A"/>
                </a:solidFill>
                <a:latin typeface="IBM Plex Sans" pitchFamily="34" charset="0"/>
                <a:ea typeface="IBM Plex Sans" pitchFamily="34" charset="-122"/>
                <a:cs typeface="IBM Plex Sans" pitchFamily="34" charset="-120"/>
              </a:rPr>
              <a:t>Open Project Settings, then Environment Variables.</a:t>
            </a:r>
            <a:endParaRPr lang="en-US" sz="1500" dirty="0"/>
          </a:p>
          <a:p>
            <a:pPr algn="l" marL="211138" indent="-211138">
              <a:lnSpc>
                <a:spcPts val="2250"/>
              </a:lnSpc>
              <a:buSzPct val="100000"/>
              <a:buFontTx/>
              <a:buAutoNum type="arabicPeriod" startAt="1"/>
            </a:pPr>
            <a:r>
              <a:rPr lang="en-US" sz="1500" dirty="0">
                <a:solidFill>
                  <a:srgbClr val="14161A"/>
                </a:solidFill>
                <a:latin typeface="IBM Plex Sans" pitchFamily="34" charset="0"/>
                <a:ea typeface="IBM Plex Sans" pitchFamily="34" charset="-122"/>
                <a:cs typeface="IBM Plex Sans" pitchFamily="34" charset="-120"/>
              </a:rPr>
              <a:t>Add the key and value, and choose Production, Preview or Development.</a:t>
            </a:r>
            <a:endParaRPr lang="en-US" sz="1500" dirty="0"/>
          </a:p>
          <a:p>
            <a:pPr algn="l" marL="211138" indent="-211138">
              <a:lnSpc>
                <a:spcPts val="2250"/>
              </a:lnSpc>
              <a:buSzPct val="100000"/>
              <a:buFontTx/>
              <a:buAutoNum type="arabicPeriod" startAt="1"/>
            </a:pPr>
            <a:r>
              <a:rPr lang="en-US" sz="1500" dirty="0">
                <a:solidFill>
                  <a:srgbClr val="14161A"/>
                </a:solidFill>
                <a:latin typeface="IBM Plex Sans" pitchFamily="34" charset="0"/>
                <a:ea typeface="IBM Plex Sans" pitchFamily="34" charset="-122"/>
                <a:cs typeface="IBM Plex Sans" pitchFamily="34" charset="-120"/>
              </a:rPr>
              <a:t>Redeploy, because variables are read at build time.</a:t>
            </a:r>
            <a:endParaRPr lang="en-US" sz="1500" dirty="0"/>
          </a:p>
        </p:txBody>
      </p:sp>
      <p:sp>
        <p:nvSpPr>
          <p:cNvPr id="7" name="Shape 5"/>
          <p:cNvSpPr/>
          <p:nvPr/>
        </p:nvSpPr>
        <p:spPr>
          <a:xfrm>
            <a:off x="6200775" y="1938657"/>
            <a:ext cx="5175250" cy="2749550"/>
          </a:xfrm>
          <a:prstGeom prst="roundRect">
            <a:avLst>
              <a:gd name="adj" fmla="val 4503"/>
            </a:avLst>
          </a:prstGeom>
          <a:solidFill>
            <a:srgbClr val="FBFBF9"/>
          </a:solidFill>
          <a:ln w="6350">
            <a:solidFill>
              <a:srgbClr val="DCDCD6"/>
            </a:solidFill>
            <a:prstDash val="solid"/>
          </a:ln>
        </p:spPr>
      </p:sp>
      <p:sp>
        <p:nvSpPr>
          <p:cNvPr id="8" name="Text 6"/>
          <p:cNvSpPr/>
          <p:nvPr/>
        </p:nvSpPr>
        <p:spPr>
          <a:xfrm>
            <a:off x="6456680" y="219456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61A"/>
                </a:solidFill>
                <a:latin typeface="IBM Plex Sans" pitchFamily="34" charset="0"/>
                <a:ea typeface="IBM Plex Sans" pitchFamily="34" charset="-122"/>
                <a:cs typeface="IBM Plex Sans" pitchFamily="34" charset="-120"/>
              </a:rPr>
              <a:t>Prefix by tool</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66840" y="2631442"/>
          <a:ext cx="4653280" cy="1150620"/>
        </p:xfrm>
        <a:graphic>
          <a:graphicData uri="http://schemas.openxmlformats.org/drawingml/2006/table">
            <a:tbl>
              <a:tblPr/>
              <a:tblGrid>
                <a:gridCol w="1023722"/>
                <a:gridCol w="1395984"/>
                <a:gridCol w="2233574"/>
              </a:tblGrid>
              <a:tr h="383540">
                <a:tc>
                  <a:txBody>
                    <a:bodyPr/>
                    <a:lstStyle/>
                    <a:p>
                      <a:pPr indent="0" marL="0">
                        <a:lnSpc>
                          <a:spcPts val="1960"/>
                        </a:lnSpc>
                        <a:buNone/>
                      </a:pPr>
                      <a:r>
                        <a:rPr lang="en-US" sz="1400" b="1" dirty="0">
                          <a:solidFill>
                            <a:srgbClr val="14161A"/>
                          </a:solidFill>
                          <a:latin typeface="IBM Plex Sans" pitchFamily="34" charset="0"/>
                          <a:ea typeface="IBM Plex Sans" pitchFamily="34" charset="-122"/>
                          <a:cs typeface="IBM Plex Sans" pitchFamily="34" charset="-120"/>
                        </a:rPr>
                        <a:t>Tool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B9B9B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9B9B4"/>
                      </a:solidFill>
                      <a:prstDash val="solid"/>
                      <a:round/>
                      <a:headEnd type="none" w="med" len="med"/>
                      <a:tailEnd type="none" w="med" len="med"/>
                    </a:lnB>
                    <a:solidFill>
                      <a:srgbClr val="E7E7E1"/>
                    </a:solidFill>
                  </a:tcPr>
                </a:tc>
                <a:tc>
                  <a:txBody>
                    <a:bodyPr/>
                    <a:lstStyle/>
                    <a:p>
                      <a:pPr indent="0" marL="0">
                        <a:lnSpc>
                          <a:spcPts val="1960"/>
                        </a:lnSpc>
                        <a:buNone/>
                      </a:pPr>
                      <a:r>
                        <a:rPr lang="en-US" sz="1400" b="1" dirty="0">
                          <a:solidFill>
                            <a:srgbClr val="14161A"/>
                          </a:solidFill>
                          <a:latin typeface="IBM Plex Sans" pitchFamily="34" charset="0"/>
                          <a:ea typeface="IBM Plex Sans" pitchFamily="34" charset="-122"/>
                          <a:cs typeface="IBM Plex Sans" pitchFamily="34" charset="-120"/>
                        </a:rPr>
                        <a:t>Prefix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9B4"/>
                      </a:solidFill>
                      <a:prstDash val="solid"/>
                      <a:round/>
                      <a:headEnd type="none" w="med" len="med"/>
                      <a:tailEnd type="none" w="med" len="med"/>
                    </a:lnL>
                    <a:lnR w="12700" cap="flat" cmpd="sng" algn="ctr">
                      <a:solidFill>
                        <a:srgbClr val="B9B9B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9B9B4"/>
                      </a:solidFill>
                      <a:prstDash val="solid"/>
                      <a:round/>
                      <a:headEnd type="none" w="med" len="med"/>
                      <a:tailEnd type="none" w="med" len="med"/>
                    </a:lnB>
                    <a:solidFill>
                      <a:srgbClr val="E7E7E1"/>
                    </a:solidFill>
                  </a:tcPr>
                </a:tc>
                <a:tc>
                  <a:txBody>
                    <a:bodyPr/>
                    <a:lstStyle/>
                    <a:p>
                      <a:pPr indent="0" marL="0">
                        <a:lnSpc>
                          <a:spcPts val="1960"/>
                        </a:lnSpc>
                        <a:buNone/>
                      </a:pPr>
                      <a:r>
                        <a:rPr lang="en-US" sz="1400" b="1" dirty="0">
                          <a:solidFill>
                            <a:srgbClr val="14161A"/>
                          </a:solidFill>
                          <a:latin typeface="IBM Plex Sans" pitchFamily="34" charset="0"/>
                          <a:ea typeface="IBM Plex Sans" pitchFamily="34" charset="-122"/>
                          <a:cs typeface="IBM Plex Sans" pitchFamily="34" charset="-120"/>
                        </a:rPr>
                        <a:t>Example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9B4"/>
                      </a:solidFill>
                      <a:prstDash val="solid"/>
                      <a:round/>
                      <a:headEnd type="none" w="med" len="med"/>
                      <a:tailEnd type="none" w="med" len="med"/>
                    </a:lnL>
                    <a:lnR w="12700" cap="flat" cmpd="sng" algn="ctr">
                      <a:solidFill>
                        <a:srgbClr val="B9B9B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9B9B4"/>
                      </a:solidFill>
                      <a:prstDash val="solid"/>
                      <a:round/>
                      <a:headEnd type="none" w="med" len="med"/>
                      <a:tailEnd type="none" w="med" len="med"/>
                    </a:lnB>
                    <a:solidFill>
                      <a:srgbClr val="E7E7E1"/>
                    </a:solidFill>
                  </a:tcPr>
                </a:tc>
              </a:tr>
              <a:tr h="383540">
                <a:tc>
                  <a:txBody>
                    <a:bodyPr/>
                    <a:lstStyle/>
                    <a:p>
                      <a:pPr indent="0" marL="0">
                        <a:lnSpc>
                          <a:spcPts val="1960"/>
                        </a:lnSpc>
                        <a:buNone/>
                      </a:pPr>
                      <a:r>
                        <a:rPr lang="en-US" sz="1400" dirty="0">
                          <a:solidFill>
                            <a:srgbClr val="14161A"/>
                          </a:solidFill>
                          <a:latin typeface="IBM Plex Sans" pitchFamily="34" charset="0"/>
                          <a:ea typeface="IBM Plex Sans" pitchFamily="34" charset="-122"/>
                          <a:cs typeface="IBM Plex Sans" pitchFamily="34" charset="-120"/>
                        </a:rPr>
                        <a:t>Vite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9B9B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161A"/>
                          </a:solidFill>
                          <a:latin typeface="IBM Plex Sans" pitchFamily="34" charset="0"/>
                          <a:ea typeface="IBM Plex Sans" pitchFamily="34" charset="-122"/>
                          <a:cs typeface="IBM Plex Sans" pitchFamily="34" charset="-120"/>
                        </a:rPr>
                        <a:t>VITE_</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9B9B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161A"/>
                          </a:solidFill>
                          <a:latin typeface="IBM Plex Sans" pitchFamily="34" charset="0"/>
                          <a:ea typeface="IBM Plex Sans" pitchFamily="34" charset="-122"/>
                          <a:cs typeface="IBM Plex Sans" pitchFamily="34" charset="-120"/>
                        </a:rPr>
                        <a:t>VITE_API_URL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9B9B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161A"/>
                          </a:solidFill>
                          <a:latin typeface="IBM Plex Sans" pitchFamily="34" charset="0"/>
                          <a:ea typeface="IBM Plex Sans" pitchFamily="34" charset="-122"/>
                          <a:cs typeface="IBM Plex Sans" pitchFamily="34" charset="-120"/>
                        </a:rPr>
                        <a:t>CRA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161A"/>
                          </a:solidFill>
                          <a:latin typeface="IBM Plex Sans" pitchFamily="34" charset="0"/>
                          <a:ea typeface="IBM Plex Sans" pitchFamily="34" charset="-122"/>
                          <a:cs typeface="IBM Plex Sans" pitchFamily="34" charset="-120"/>
                        </a:rPr>
                        <a:t>REACT_APP_</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161A"/>
                          </a:solidFill>
                          <a:latin typeface="IBM Plex Sans" pitchFamily="34" charset="0"/>
                          <a:ea typeface="IBM Plex Sans" pitchFamily="34" charset="-122"/>
                          <a:cs typeface="IBM Plex Sans" pitchFamily="34" charset="-120"/>
                        </a:rPr>
                        <a:t>REACT_APP_API_URL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10" name="Text 7"/>
          <p:cNvSpPr/>
          <p:nvPr/>
        </p:nvSpPr>
        <p:spPr>
          <a:xfrm>
            <a:off x="6456680" y="3934461"/>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058"/>
                </a:solidFill>
                <a:latin typeface="IBM Plex Sans" pitchFamily="34" charset="0"/>
                <a:ea typeface="IBM Plex Sans" pitchFamily="34" charset="-122"/>
                <a:cs typeface="IBM Plex Sans" pitchFamily="34" charset="-120"/>
              </a:rPr>
              <a:t>Only prefixed variables reach the browser, so never put secrets in them.</a:t>
            </a:r>
            <a:endParaRPr lang="en-US" sz="1400" dirty="0"/>
          </a:p>
        </p:txBody>
      </p:sp>
      <p:sp>
        <p:nvSpPr>
          <p:cNvPr id="11" name="Text 8"/>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08 · Deploying a React App on Vercel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F1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6C9BFF"/>
                </a:solidFill>
                <a:latin typeface="IBM Plex Sans" pitchFamily="34" charset="0"/>
                <a:ea typeface="IBM Plex Sans" pitchFamily="34" charset="-122"/>
                <a:cs typeface="IBM Plex Sans" pitchFamily="34" charset="-120"/>
              </a:rPr>
              <a:t>SINGLE-PAGE APP ROUTING</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2EE"/>
                </a:solidFill>
                <a:latin typeface="IBM Plex Sans" pitchFamily="34" charset="0"/>
                <a:ea typeface="IBM Plex Sans" pitchFamily="34" charset="-122"/>
                <a:cs typeface="IBM Plex Sans" pitchFamily="34" charset="-120"/>
              </a:rPr>
              <a:t>Fix 404s on page refresh</a:t>
            </a:r>
            <a:endParaRPr lang="en-US" sz="3600" dirty="0"/>
          </a:p>
        </p:txBody>
      </p:sp>
      <p:sp>
        <p:nvSpPr>
          <p:cNvPr id="4" name="Text 2"/>
          <p:cNvSpPr/>
          <p:nvPr/>
        </p:nvSpPr>
        <p:spPr>
          <a:xfrm>
            <a:off x="812800" y="1935479"/>
            <a:ext cx="4294901" cy="93218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D7DAE0"/>
                </a:solidFill>
                <a:latin typeface="IBM Plex Sans" pitchFamily="34" charset="0"/>
                <a:ea typeface="IBM Plex Sans" pitchFamily="34" charset="-122"/>
                <a:cs typeface="IBM Plex Sans" pitchFamily="34" charset="-120"/>
              </a:rPr>
              <a:t>React Router changes the URL in the browser. A refresh on /about asks the server for a file that does not exist.</a:t>
            </a:r>
            <a:endParaRPr lang="en-US" sz="1700" dirty="0"/>
          </a:p>
        </p:txBody>
      </p:sp>
      <p:sp>
        <p:nvSpPr>
          <p:cNvPr id="5" name="Text 3"/>
          <p:cNvSpPr/>
          <p:nvPr/>
        </p:nvSpPr>
        <p:spPr>
          <a:xfrm>
            <a:off x="812800" y="3020064"/>
            <a:ext cx="4294901" cy="93218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A9ADB5"/>
                </a:solidFill>
                <a:latin typeface="IBM Plex Sans" pitchFamily="34" charset="0"/>
                <a:ea typeface="IBM Plex Sans" pitchFamily="34" charset="-122"/>
                <a:cs typeface="IBM Plex Sans" pitchFamily="34" charset="-120"/>
              </a:rPr>
              <a:t>Add a vercel.json at the project root so every route falls back to index.html. Real files are still served as usual.</a:t>
            </a:r>
            <a:endParaRPr lang="en-US" sz="1700" dirty="0"/>
          </a:p>
        </p:txBody>
      </p:sp>
      <p:sp>
        <p:nvSpPr>
          <p:cNvPr id="6" name="Shape 4"/>
          <p:cNvSpPr/>
          <p:nvPr/>
        </p:nvSpPr>
        <p:spPr>
          <a:xfrm>
            <a:off x="5185807" y="1935479"/>
            <a:ext cx="6193393" cy="2082800"/>
          </a:xfrm>
          <a:prstGeom prst="roundRect">
            <a:avLst>
              <a:gd name="adj" fmla="val 4878"/>
            </a:avLst>
          </a:prstGeom>
          <a:solidFill>
            <a:srgbClr val="07080A"/>
          </a:solidFill>
          <a:ln/>
        </p:spPr>
      </p:sp>
      <p:sp>
        <p:nvSpPr>
          <p:cNvPr id="7" name="Text 5"/>
          <p:cNvSpPr/>
          <p:nvPr/>
        </p:nvSpPr>
        <p:spPr>
          <a:xfrm>
            <a:off x="5363607" y="2138679"/>
            <a:ext cx="601292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8A8F98"/>
                </a:solidFill>
                <a:latin typeface="JetBrains Mono" pitchFamily="49" charset="0"/>
                <a:ea typeface="JetBrains Mono" pitchFamily="49" charset="-122"/>
                <a:cs typeface="JetBrains Mono" pitchFamily="49" charset="-120"/>
              </a:rPr>
              <a:t># vercel.json</a:t>
            </a:r>
            <a:endParaRPr lang="en-US" sz="1300" dirty="0"/>
          </a:p>
        </p:txBody>
      </p:sp>
      <p:sp>
        <p:nvSpPr>
          <p:cNvPr id="8" name="Text 6"/>
          <p:cNvSpPr/>
          <p:nvPr/>
        </p:nvSpPr>
        <p:spPr>
          <a:xfrm>
            <a:off x="5363607" y="2424429"/>
            <a:ext cx="601292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D7DAE0"/>
                </a:solidFill>
                <a:latin typeface="JetBrains Mono" pitchFamily="49" charset="0"/>
                <a:ea typeface="JetBrains Mono" pitchFamily="49" charset="-122"/>
                <a:cs typeface="JetBrains Mono" pitchFamily="49" charset="-120"/>
              </a:rPr>
              <a:t>{</a:t>
            </a:r>
            <a:endParaRPr lang="en-US" sz="1300" dirty="0"/>
          </a:p>
        </p:txBody>
      </p:sp>
      <p:sp>
        <p:nvSpPr>
          <p:cNvPr id="9" name="Text 7"/>
          <p:cNvSpPr/>
          <p:nvPr/>
        </p:nvSpPr>
        <p:spPr>
          <a:xfrm>
            <a:off x="5516007" y="2710179"/>
            <a:ext cx="5855955"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D7DAE0"/>
                </a:solidFill>
                <a:latin typeface="JetBrains Mono" pitchFamily="49" charset="0"/>
                <a:ea typeface="JetBrains Mono" pitchFamily="49" charset="-122"/>
                <a:cs typeface="JetBrains Mono" pitchFamily="49" charset="-120"/>
              </a:rPr>
              <a:t>"rewrites": [</a:t>
            </a:r>
            <a:endParaRPr lang="en-US" sz="1300" dirty="0"/>
          </a:p>
        </p:txBody>
      </p:sp>
      <p:sp>
        <p:nvSpPr>
          <p:cNvPr id="10" name="Text 8"/>
          <p:cNvSpPr/>
          <p:nvPr/>
        </p:nvSpPr>
        <p:spPr>
          <a:xfrm>
            <a:off x="5668407" y="2995929"/>
            <a:ext cx="5698983"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6C9BFF"/>
                </a:solidFill>
                <a:latin typeface="JetBrains Mono" pitchFamily="49" charset="0"/>
                <a:ea typeface="JetBrains Mono" pitchFamily="49" charset="-122"/>
                <a:cs typeface="JetBrains Mono" pitchFamily="49" charset="-120"/>
              </a:rPr>
              <a:t>{ "source": "/(.*)", "destination": "/index.html" }</a:t>
            </a:r>
            <a:endParaRPr lang="en-US" sz="1300" dirty="0"/>
          </a:p>
        </p:txBody>
      </p:sp>
      <p:sp>
        <p:nvSpPr>
          <p:cNvPr id="11" name="Text 9"/>
          <p:cNvSpPr/>
          <p:nvPr/>
        </p:nvSpPr>
        <p:spPr>
          <a:xfrm>
            <a:off x="5516007" y="3281679"/>
            <a:ext cx="5855955"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D7DAE0"/>
                </a:solidFill>
                <a:latin typeface="JetBrains Mono" pitchFamily="49" charset="0"/>
                <a:ea typeface="JetBrains Mono" pitchFamily="49" charset="-122"/>
                <a:cs typeface="JetBrains Mono" pitchFamily="49" charset="-120"/>
              </a:rPr>
              <a:t>]</a:t>
            </a:r>
            <a:endParaRPr lang="en-US" sz="1300" dirty="0"/>
          </a:p>
        </p:txBody>
      </p:sp>
      <p:sp>
        <p:nvSpPr>
          <p:cNvPr id="12" name="Text 10"/>
          <p:cNvSpPr/>
          <p:nvPr/>
        </p:nvSpPr>
        <p:spPr>
          <a:xfrm>
            <a:off x="5363607" y="3567429"/>
            <a:ext cx="601292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D7DAE0"/>
                </a:solidFill>
                <a:latin typeface="JetBrains Mono" pitchFamily="49" charset="0"/>
                <a:ea typeface="JetBrains Mono" pitchFamily="49" charset="-122"/>
                <a:cs typeface="JetBrains Mono" pitchFamily="49" charset="-120"/>
              </a:rPr>
              <a:t>}</a:t>
            </a:r>
            <a:endParaRPr lang="en-US" sz="1300" dirty="0"/>
          </a:p>
        </p:txBody>
      </p:sp>
      <p:sp>
        <p:nvSpPr>
          <p:cNvPr id="13" name="Text 11"/>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Sans" pitchFamily="34" charset="0"/>
                <a:ea typeface="IBM Plex Sans" pitchFamily="34" charset="-122"/>
                <a:cs typeface="IBM Plex Sans" pitchFamily="34" charset="-120"/>
              </a:rPr>
              <a:t>09 · Deploying a React App on Vercel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450D6"/>
                </a:solidFill>
                <a:latin typeface="IBM Plex Sans" pitchFamily="34" charset="0"/>
                <a:ea typeface="IBM Plex Sans" pitchFamily="34" charset="-122"/>
                <a:cs typeface="IBM Plex Sans" pitchFamily="34" charset="-120"/>
              </a:rPr>
              <a:t>DAY-TO-DAY WORKFLOW</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61A"/>
                </a:solidFill>
                <a:latin typeface="IBM Plex Sans" pitchFamily="34" charset="0"/>
                <a:ea typeface="IBM Plex Sans" pitchFamily="34" charset="-122"/>
                <a:cs typeface="IBM Plex Sans" pitchFamily="34" charset="-120"/>
              </a:rPr>
              <a:t>After the first deploy</a:t>
            </a:r>
            <a:endParaRPr lang="en-US" sz="3600" dirty="0"/>
          </a:p>
        </p:txBody>
      </p:sp>
      <p:sp>
        <p:nvSpPr>
          <p:cNvPr id="4" name="Shape 2"/>
          <p:cNvSpPr/>
          <p:nvPr/>
        </p:nvSpPr>
        <p:spPr>
          <a:xfrm>
            <a:off x="815975" y="1989454"/>
            <a:ext cx="3380264" cy="2543810"/>
          </a:xfrm>
          <a:prstGeom prst="roundRect">
            <a:avLst>
              <a:gd name="adj" fmla="val 4868"/>
            </a:avLst>
          </a:prstGeom>
          <a:solidFill>
            <a:srgbClr val="FBFBF9"/>
          </a:solidFill>
          <a:ln w="6350">
            <a:solidFill>
              <a:srgbClr val="DCDCD6"/>
            </a:solidFill>
            <a:prstDash val="solid"/>
          </a:ln>
        </p:spPr>
      </p:sp>
      <p:pic>
        <p:nvPicPr>
          <p:cNvPr id="5" name="Image 0" descr="Lightning">    </p:cNvPr>
          <p:cNvPicPr>
            <a:picLocks noChangeAspect="1"/>
          </p:cNvPicPr>
          <p:nvPr/>
        </p:nvPicPr>
        <p:blipFill>
          <a:blip r:embed="rId1"/>
          <a:srcRect l="0" r="0" t="0" b="0"/>
          <a:stretch/>
        </p:blipFill>
        <p:spPr>
          <a:xfrm>
            <a:off x="1071880" y="2245364"/>
            <a:ext cx="406400" cy="406400"/>
          </a:xfrm>
          <a:prstGeom prst="rect">
            <a:avLst/>
          </a:prstGeom>
        </p:spPr>
      </p:pic>
      <p:sp>
        <p:nvSpPr>
          <p:cNvPr id="6" name="Text 3"/>
          <p:cNvSpPr/>
          <p:nvPr/>
        </p:nvSpPr>
        <p:spPr>
          <a:xfrm>
            <a:off x="1071880" y="2778764"/>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61A"/>
                </a:solidFill>
                <a:latin typeface="IBM Plex Sans" pitchFamily="34" charset="0"/>
                <a:ea typeface="IBM Plex Sans" pitchFamily="34" charset="-122"/>
                <a:cs typeface="IBM Plex Sans" pitchFamily="34" charset="-120"/>
              </a:rPr>
              <a:t>Automatic deploys</a:t>
            </a:r>
            <a:endParaRPr lang="en-US" sz="2000" dirty="0"/>
          </a:p>
        </p:txBody>
      </p:sp>
      <p:sp>
        <p:nvSpPr>
          <p:cNvPr id="7" name="Text 4"/>
          <p:cNvSpPr/>
          <p:nvPr/>
        </p:nvSpPr>
        <p:spPr>
          <a:xfrm>
            <a:off x="1071880" y="3210564"/>
            <a:ext cx="2954507"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IBM Plex Sans" pitchFamily="34" charset="0"/>
                <a:ea typeface="IBM Plex Sans" pitchFamily="34" charset="-122"/>
                <a:cs typeface="IBM Plex Sans" pitchFamily="34" charset="-120"/>
              </a:rPr>
              <a:t>Pushes to your production branch, usually main, go live. Other branches and pull requests get preview URLs.</a:t>
            </a:r>
            <a:endParaRPr lang="en-US" sz="1500" dirty="0"/>
          </a:p>
        </p:txBody>
      </p:sp>
      <p:sp>
        <p:nvSpPr>
          <p:cNvPr id="8" name="Shape 5"/>
          <p:cNvSpPr/>
          <p:nvPr/>
        </p:nvSpPr>
        <p:spPr>
          <a:xfrm>
            <a:off x="4405789" y="1989454"/>
            <a:ext cx="3380343" cy="2543810"/>
          </a:xfrm>
          <a:prstGeom prst="roundRect">
            <a:avLst>
              <a:gd name="adj" fmla="val 4868"/>
            </a:avLst>
          </a:prstGeom>
          <a:solidFill>
            <a:srgbClr val="FBFBF9"/>
          </a:solidFill>
          <a:ln w="6350">
            <a:solidFill>
              <a:srgbClr val="DCDCD6"/>
            </a:solidFill>
            <a:prstDash val="solid"/>
          </a:ln>
        </p:spPr>
      </p:sp>
      <p:pic>
        <p:nvPicPr>
          <p:cNvPr id="9" name="Image 1" descr="Clock">    </p:cNvPr>
          <p:cNvPicPr>
            <a:picLocks noChangeAspect="1"/>
          </p:cNvPicPr>
          <p:nvPr/>
        </p:nvPicPr>
        <p:blipFill>
          <a:blip r:embed="rId2"/>
          <a:srcRect l="0" r="0" t="0" b="0"/>
          <a:stretch/>
        </p:blipFill>
        <p:spPr>
          <a:xfrm>
            <a:off x="4661694" y="2245364"/>
            <a:ext cx="406400" cy="406400"/>
          </a:xfrm>
          <a:prstGeom prst="rect">
            <a:avLst/>
          </a:prstGeom>
        </p:spPr>
      </p:pic>
      <p:sp>
        <p:nvSpPr>
          <p:cNvPr id="10" name="Text 6"/>
          <p:cNvSpPr/>
          <p:nvPr/>
        </p:nvSpPr>
        <p:spPr>
          <a:xfrm>
            <a:off x="4661694" y="2778764"/>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61A"/>
                </a:solidFill>
                <a:latin typeface="IBM Plex Sans" pitchFamily="34" charset="0"/>
                <a:ea typeface="IBM Plex Sans" pitchFamily="34" charset="-122"/>
                <a:cs typeface="IBM Plex Sans" pitchFamily="34" charset="-120"/>
              </a:rPr>
              <a:t>Instant rollback</a:t>
            </a:r>
            <a:endParaRPr lang="en-US" sz="2000" dirty="0"/>
          </a:p>
        </p:txBody>
      </p:sp>
      <p:sp>
        <p:nvSpPr>
          <p:cNvPr id="11" name="Text 7"/>
          <p:cNvSpPr/>
          <p:nvPr/>
        </p:nvSpPr>
        <p:spPr>
          <a:xfrm>
            <a:off x="4661694" y="3210564"/>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IBM Plex Sans" pitchFamily="34" charset="0"/>
                <a:ea typeface="IBM Plex Sans" pitchFamily="34" charset="-122"/>
                <a:cs typeface="IBM Plex Sans" pitchFamily="34" charset="-120"/>
              </a:rPr>
              <a:t>If a release goes wrong, open the Deployments tab and roll back to an earlier deployment.</a:t>
            </a:r>
            <a:endParaRPr lang="en-US" sz="1500" dirty="0"/>
          </a:p>
        </p:txBody>
      </p:sp>
      <p:sp>
        <p:nvSpPr>
          <p:cNvPr id="12" name="Shape 8"/>
          <p:cNvSpPr/>
          <p:nvPr/>
        </p:nvSpPr>
        <p:spPr>
          <a:xfrm>
            <a:off x="7995682" y="1989454"/>
            <a:ext cx="3380343" cy="2543810"/>
          </a:xfrm>
          <a:prstGeom prst="roundRect">
            <a:avLst>
              <a:gd name="adj" fmla="val 4868"/>
            </a:avLst>
          </a:prstGeom>
          <a:solidFill>
            <a:srgbClr val="FBFBF9"/>
          </a:solidFill>
          <a:ln w="6350">
            <a:solidFill>
              <a:srgbClr val="DCDCD6"/>
            </a:solidFill>
            <a:prstDash val="solid"/>
          </a:ln>
        </p:spPr>
      </p:sp>
      <p:pic>
        <p:nvPicPr>
          <p:cNvPr id="13" name="Image 2" descr="Globe">    </p:cNvPr>
          <p:cNvPicPr>
            <a:picLocks noChangeAspect="1"/>
          </p:cNvPicPr>
          <p:nvPr/>
        </p:nvPicPr>
        <p:blipFill>
          <a:blip r:embed="rId3"/>
          <a:srcRect l="0" r="0" t="0" b="0"/>
          <a:stretch/>
        </p:blipFill>
        <p:spPr>
          <a:xfrm>
            <a:off x="8251587" y="2245364"/>
            <a:ext cx="406400" cy="406400"/>
          </a:xfrm>
          <a:prstGeom prst="rect">
            <a:avLst/>
          </a:prstGeom>
        </p:spPr>
      </p:pic>
      <p:sp>
        <p:nvSpPr>
          <p:cNvPr id="14" name="Text 9"/>
          <p:cNvSpPr/>
          <p:nvPr/>
        </p:nvSpPr>
        <p:spPr>
          <a:xfrm>
            <a:off x="8251587" y="2778764"/>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61A"/>
                </a:solidFill>
                <a:latin typeface="IBM Plex Sans" pitchFamily="34" charset="0"/>
                <a:ea typeface="IBM Plex Sans" pitchFamily="34" charset="-122"/>
                <a:cs typeface="IBM Plex Sans" pitchFamily="34" charset="-120"/>
              </a:rPr>
              <a:t>Custom domains</a:t>
            </a:r>
            <a:endParaRPr lang="en-US" sz="2000" dirty="0"/>
          </a:p>
        </p:txBody>
      </p:sp>
      <p:sp>
        <p:nvSpPr>
          <p:cNvPr id="15" name="Text 10"/>
          <p:cNvSpPr/>
          <p:nvPr/>
        </p:nvSpPr>
        <p:spPr>
          <a:xfrm>
            <a:off x="8251587" y="3210564"/>
            <a:ext cx="2954589"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058"/>
                </a:solidFill>
                <a:latin typeface="IBM Plex Sans" pitchFamily="34" charset="0"/>
                <a:ea typeface="IBM Plex Sans" pitchFamily="34" charset="-122"/>
                <a:cs typeface="IBM Plex Sans" pitchFamily="34" charset="-120"/>
              </a:rPr>
              <a:t>Add a domain in Project Settings, then update DNS as shown. HTTPS certificates are issued automatically.</a:t>
            </a:r>
            <a:endParaRPr lang="en-US" sz="1500" dirty="0"/>
          </a:p>
        </p:txBody>
      </p:sp>
      <p:sp>
        <p:nvSpPr>
          <p:cNvPr id="16" name="Text 11"/>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10 · Deploying a React App on Vercel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450D6"/>
                </a:solidFill>
                <a:latin typeface="IBM Plex Sans" pitchFamily="34" charset="0"/>
                <a:ea typeface="IBM Plex Sans" pitchFamily="34" charset="-122"/>
                <a:cs typeface="IBM Plex Sans" pitchFamily="34" charset="-120"/>
              </a:rPr>
              <a:t>COMMON PROBLEMS</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61A"/>
                </a:solidFill>
                <a:latin typeface="IBM Plex Sans" pitchFamily="34" charset="0"/>
                <a:ea typeface="IBM Plex Sans" pitchFamily="34" charset="-122"/>
                <a:cs typeface="IBM Plex Sans" pitchFamily="34" charset="-120"/>
              </a:rPr>
              <a:t>Troubleshooting</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5639"/>
          <a:ext cx="10556240" cy="1917700"/>
        </p:xfrm>
        <a:graphic>
          <a:graphicData uri="http://schemas.openxmlformats.org/drawingml/2006/table">
            <a:tbl>
              <a:tblPr/>
              <a:tblGrid>
                <a:gridCol w="3800246"/>
                <a:gridCol w="6755994"/>
              </a:tblGrid>
              <a:tr h="383540">
                <a:tc>
                  <a:txBody>
                    <a:bodyPr/>
                    <a:lstStyle/>
                    <a:p>
                      <a:pPr indent="0" marL="0">
                        <a:lnSpc>
                          <a:spcPts val="1960"/>
                        </a:lnSpc>
                        <a:buNone/>
                      </a:pPr>
                      <a:r>
                        <a:rPr lang="en-US" sz="1400" b="1" dirty="0">
                          <a:solidFill>
                            <a:srgbClr val="14161A"/>
                          </a:solidFill>
                          <a:latin typeface="IBM Plex Sans" pitchFamily="34" charset="0"/>
                          <a:ea typeface="IBM Plex Sans" pitchFamily="34" charset="-122"/>
                          <a:cs typeface="IBM Plex Sans" pitchFamily="34" charset="-120"/>
                        </a:rPr>
                        <a:t>Symptom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B9B9B4"/>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9B9B4"/>
                      </a:solidFill>
                      <a:prstDash val="solid"/>
                      <a:round/>
                      <a:headEnd type="none" w="med" len="med"/>
                      <a:tailEnd type="none" w="med" len="med"/>
                    </a:lnB>
                    <a:solidFill>
                      <a:srgbClr val="E7E7E1"/>
                    </a:solidFill>
                  </a:tcPr>
                </a:tc>
                <a:tc>
                  <a:txBody>
                    <a:bodyPr/>
                    <a:lstStyle/>
                    <a:p>
                      <a:pPr indent="0" marL="0">
                        <a:lnSpc>
                          <a:spcPts val="1960"/>
                        </a:lnSpc>
                        <a:buNone/>
                      </a:pPr>
                      <a:r>
                        <a:rPr lang="en-US" sz="1400" b="1" dirty="0">
                          <a:solidFill>
                            <a:srgbClr val="14161A"/>
                          </a:solidFill>
                          <a:latin typeface="IBM Plex Sans" pitchFamily="34" charset="0"/>
                          <a:ea typeface="IBM Plex Sans" pitchFamily="34" charset="-122"/>
                          <a:cs typeface="IBM Plex Sans" pitchFamily="34" charset="-120"/>
                        </a:rPr>
                        <a:t>Fix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9B4"/>
                      </a:solidFill>
                      <a:prstDash val="solid"/>
                      <a:round/>
                      <a:headEnd type="none" w="med" len="med"/>
                      <a:tailEnd type="none" w="med" len="med"/>
                    </a:lnL>
                    <a:lnR w="12700" cap="flat" cmpd="sng" algn="ctr">
                      <a:solidFill>
                        <a:srgbClr val="B9B9B4"/>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9B9B4"/>
                      </a:solidFill>
                      <a:prstDash val="solid"/>
                      <a:round/>
                      <a:headEnd type="none" w="med" len="med"/>
                      <a:tailEnd type="none" w="med" len="med"/>
                    </a:lnB>
                    <a:solidFill>
                      <a:srgbClr val="E7E7E1"/>
                    </a:solidFill>
                  </a:tcPr>
                </a:tc>
              </a:tr>
              <a:tr h="383540">
                <a:tc>
                  <a:txBody>
                    <a:bodyPr/>
                    <a:lstStyle/>
                    <a:p>
                      <a:pPr indent="0" marL="0">
                        <a:lnSpc>
                          <a:spcPts val="1960"/>
                        </a:lnSpc>
                        <a:buNone/>
                      </a:pPr>
                      <a:r>
                        <a:rPr lang="en-US" sz="1400" dirty="0">
                          <a:solidFill>
                            <a:srgbClr val="14161A"/>
                          </a:solidFill>
                          <a:latin typeface="IBM Plex Sans" pitchFamily="34" charset="0"/>
                          <a:ea typeface="IBM Plex Sans" pitchFamily="34" charset="-122"/>
                          <a:cs typeface="IBM Plex Sans" pitchFamily="34" charset="-120"/>
                        </a:rPr>
                        <a:t>404 when refreshing a page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9B9B4"/>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4161A"/>
                          </a:solidFill>
                          <a:latin typeface="IBM Plex Sans" pitchFamily="34" charset="0"/>
                          <a:ea typeface="IBM Plex Sans" pitchFamily="34" charset="-122"/>
                          <a:cs typeface="IBM Plex Sans" pitchFamily="34" charset="-120"/>
                        </a:rPr>
                        <a:t>Add a rewrite to index.html in vercel.json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9B9B4"/>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161A"/>
                          </a:solidFill>
                          <a:latin typeface="IBM Plex Sans" pitchFamily="34" charset="0"/>
                          <a:ea typeface="IBM Plex Sans" pitchFamily="34" charset="-122"/>
                          <a:cs typeface="IBM Plex Sans" pitchFamily="34" charset="-120"/>
                        </a:rPr>
                        <a:t>Build fails on Vercel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4161A"/>
                          </a:solidFill>
                          <a:latin typeface="IBM Plex Sans" pitchFamily="34" charset="0"/>
                          <a:ea typeface="IBM Plex Sans" pitchFamily="34" charset="-122"/>
                          <a:cs typeface="IBM Plex Sans" pitchFamily="34" charset="-120"/>
                        </a:rPr>
                        <a:t>Run a clean npm install and npm run build locally; check file name casing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161A"/>
                          </a:solidFill>
                          <a:latin typeface="IBM Plex Sans" pitchFamily="34" charset="0"/>
                          <a:ea typeface="IBM Plex Sans" pitchFamily="34" charset="-122"/>
                          <a:cs typeface="IBM Plex Sans" pitchFamily="34" charset="-120"/>
                        </a:rPr>
                        <a:t>Blank page after deploy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4161A"/>
                          </a:solidFill>
                          <a:latin typeface="IBM Plex Sans" pitchFamily="34" charset="0"/>
                          <a:ea typeface="IBM Plex Sans" pitchFamily="34" charset="-122"/>
                          <a:cs typeface="IBM Plex Sans" pitchFamily="34" charset="-120"/>
                        </a:rPr>
                        <a:t>Check the Output Directory (dist or build) and your base path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161A"/>
                          </a:solidFill>
                          <a:latin typeface="IBM Plex Sans" pitchFamily="34" charset="0"/>
                          <a:ea typeface="IBM Plex Sans" pitchFamily="34" charset="-122"/>
                          <a:cs typeface="IBM Plex Sans" pitchFamily="34" charset="-120"/>
                        </a:rPr>
                        <a:t>Environment variable is undefined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4161A"/>
                          </a:solidFill>
                          <a:latin typeface="IBM Plex Sans" pitchFamily="34" charset="0"/>
                          <a:ea typeface="IBM Plex Sans" pitchFamily="34" charset="-122"/>
                          <a:cs typeface="IBM Plex Sans" pitchFamily="34" charset="-120"/>
                        </a:rPr>
                        <a:t>Use the VITE_ or REACT_APP_ prefix, then redeploy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bl>
          </a:graphicData>
        </a:graphic>
      </p:graphicFrame>
      <p:sp>
        <p:nvSpPr>
          <p:cNvPr id="5" name="Text 2"/>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BM Plex Sans" pitchFamily="34" charset="0"/>
                <a:ea typeface="IBM Plex Sans" pitchFamily="34" charset="-122"/>
                <a:cs typeface="IBM Plex Sans" pitchFamily="34" charset="-120"/>
              </a:rPr>
              <a:t>11 · Deploying a React App on Vercel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450D6"/>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5F5F2"/>
                </a:solidFill>
                <a:latin typeface="IBM Plex Sans" pitchFamily="34" charset="0"/>
                <a:ea typeface="IBM Plex Sans" pitchFamily="34" charset="-122"/>
                <a:cs typeface="IBM Plex Sans" pitchFamily="34" charset="-120"/>
              </a:rPr>
              <a:t>RECAP</a:t>
            </a:r>
            <a:endParaRPr lang="en-US" sz="1400" dirty="0"/>
          </a:p>
        </p:txBody>
      </p:sp>
      <p:sp>
        <p:nvSpPr>
          <p:cNvPr id="3" name="Text 1"/>
          <p:cNvSpPr/>
          <p:nvPr>
            <p:ph type="title"/>
          </p:nvPr>
        </p:nvSpPr>
        <p:spPr>
          <a:xfrm>
            <a:off x="812800" y="2620014"/>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5F5F2"/>
                </a:solidFill>
                <a:latin typeface="IBM Plex Sans" pitchFamily="34" charset="0"/>
                <a:ea typeface="IBM Plex Sans" pitchFamily="34" charset="-122"/>
                <a:cs typeface="IBM Plex Sans" pitchFamily="34" charset="-120"/>
              </a:rPr>
              <a:t>Build, push, import, deploy.</a:t>
            </a:r>
            <a:endParaRPr lang="en-US" sz="5200" dirty="0"/>
          </a:p>
        </p:txBody>
      </p:sp>
      <p:sp>
        <p:nvSpPr>
          <p:cNvPr id="4" name="Text 2"/>
          <p:cNvSpPr/>
          <p:nvPr/>
        </p:nvSpPr>
        <p:spPr>
          <a:xfrm>
            <a:off x="812800" y="3491229"/>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5F5F2"/>
                </a:solidFill>
                <a:latin typeface="IBM Plex Sans" pitchFamily="34" charset="0"/>
                <a:ea typeface="IBM Plex Sans" pitchFamily="34" charset="-122"/>
                <a:cs typeface="IBM Plex Sans" pitchFamily="34" charset="-120"/>
              </a:rPr>
              <a:t>After that, every push to your production branch ships automatically.</a:t>
            </a:r>
            <a:endParaRPr lang="en-US" sz="2000" dirty="0"/>
          </a:p>
        </p:txBody>
      </p:sp>
      <p:sp>
        <p:nvSpPr>
          <p:cNvPr id="5" name="Text 3"/>
          <p:cNvSpPr/>
          <p:nvPr/>
        </p:nvSpPr>
        <p:spPr>
          <a:xfrm>
            <a:off x="819150" y="5411471"/>
            <a:ext cx="2514600" cy="627380"/>
          </a:xfrm>
          <a:prstGeom prst="roundRect">
            <a:avLst>
              <a:gd name="adj" fmla="val 15182"/>
            </a:avLst>
          </a:prstGeom>
          <a:noFill/>
          <a:ln w="12700">
            <a:solidFill>
              <a:srgbClr val="AFC3F5"/>
            </a:solidFill>
            <a:prstDash val="solid"/>
          </a:ln>
        </p:spPr>
        <p:txBody>
          <a:bodyPr wrap="square" lIns="153712" tIns="153712" rIns="89171" bIns="128312" rtlCol="0" anchor="t">
            <a:normAutofit/>
          </a:bodyPr>
          <a:lstStyle/>
          <a:p>
            <a:pPr algn="l" indent="0" marL="0">
              <a:lnSpc>
                <a:spcPts val="2080"/>
              </a:lnSpc>
              <a:buNone/>
            </a:pPr>
            <a:r>
              <a:rPr lang="en-US" sz="1600" b="1" dirty="0">
                <a:solidFill>
                  <a:srgbClr val="F5F5F2"/>
                </a:solidFill>
                <a:latin typeface="IBM Plex Sans" pitchFamily="34" charset="0"/>
                <a:ea typeface="IBM Plex Sans" pitchFamily="34" charset="-122"/>
                <a:cs typeface="IBM Plex Sans" pitchFamily="34" charset="-120"/>
              </a:rPr>
              <a:t>1. Build locally</a:t>
            </a:r>
            <a:endParaRPr lang="en-US" sz="1600" dirty="0"/>
          </a:p>
        </p:txBody>
      </p:sp>
      <p:sp>
        <p:nvSpPr>
          <p:cNvPr id="6" name="Text 4"/>
          <p:cNvSpPr/>
          <p:nvPr/>
        </p:nvSpPr>
        <p:spPr>
          <a:xfrm>
            <a:off x="3498850" y="5411471"/>
            <a:ext cx="2514600" cy="627380"/>
          </a:xfrm>
          <a:prstGeom prst="roundRect">
            <a:avLst>
              <a:gd name="adj" fmla="val 15182"/>
            </a:avLst>
          </a:prstGeom>
          <a:noFill/>
          <a:ln w="12700">
            <a:solidFill>
              <a:srgbClr val="AFC3F5"/>
            </a:solidFill>
            <a:prstDash val="solid"/>
          </a:ln>
        </p:spPr>
        <p:txBody>
          <a:bodyPr wrap="square" lIns="153712" tIns="153712" rIns="89170" bIns="128312" rtlCol="0" anchor="t">
            <a:normAutofit/>
          </a:bodyPr>
          <a:lstStyle/>
          <a:p>
            <a:pPr algn="l" indent="0" marL="0">
              <a:lnSpc>
                <a:spcPts val="2080"/>
              </a:lnSpc>
              <a:buNone/>
            </a:pPr>
            <a:r>
              <a:rPr lang="en-US" sz="1600" b="1" dirty="0">
                <a:solidFill>
                  <a:srgbClr val="F5F5F2"/>
                </a:solidFill>
                <a:latin typeface="IBM Plex Sans" pitchFamily="34" charset="0"/>
                <a:ea typeface="IBM Plex Sans" pitchFamily="34" charset="-122"/>
                <a:cs typeface="IBM Plex Sans" pitchFamily="34" charset="-120"/>
              </a:rPr>
              <a:t>2. Push to GitHub</a:t>
            </a:r>
            <a:endParaRPr lang="en-US" sz="1600" dirty="0"/>
          </a:p>
        </p:txBody>
      </p:sp>
      <p:sp>
        <p:nvSpPr>
          <p:cNvPr id="7" name="Text 5"/>
          <p:cNvSpPr/>
          <p:nvPr/>
        </p:nvSpPr>
        <p:spPr>
          <a:xfrm>
            <a:off x="6178550" y="5411471"/>
            <a:ext cx="2514600" cy="627380"/>
          </a:xfrm>
          <a:prstGeom prst="roundRect">
            <a:avLst>
              <a:gd name="adj" fmla="val 15182"/>
            </a:avLst>
          </a:prstGeom>
          <a:noFill/>
          <a:ln w="12700">
            <a:solidFill>
              <a:srgbClr val="AFC3F5"/>
            </a:solidFill>
            <a:prstDash val="solid"/>
          </a:ln>
        </p:spPr>
        <p:txBody>
          <a:bodyPr wrap="square" lIns="153712" tIns="153712" rIns="89170" bIns="128312" rtlCol="0" anchor="t">
            <a:normAutofit/>
          </a:bodyPr>
          <a:lstStyle/>
          <a:p>
            <a:pPr algn="l" indent="0" marL="0">
              <a:lnSpc>
                <a:spcPts val="2080"/>
              </a:lnSpc>
              <a:buNone/>
            </a:pPr>
            <a:r>
              <a:rPr lang="en-US" sz="1600" b="1" dirty="0">
                <a:solidFill>
                  <a:srgbClr val="F5F5F2"/>
                </a:solidFill>
                <a:latin typeface="IBM Plex Sans" pitchFamily="34" charset="0"/>
                <a:ea typeface="IBM Plex Sans" pitchFamily="34" charset="-122"/>
                <a:cs typeface="IBM Plex Sans" pitchFamily="34" charset="-120"/>
              </a:rPr>
              <a:t>3. Import in Vercel</a:t>
            </a:r>
            <a:endParaRPr lang="en-US" sz="1600" dirty="0"/>
          </a:p>
        </p:txBody>
      </p:sp>
      <p:sp>
        <p:nvSpPr>
          <p:cNvPr id="8" name="Text 6"/>
          <p:cNvSpPr/>
          <p:nvPr/>
        </p:nvSpPr>
        <p:spPr>
          <a:xfrm>
            <a:off x="8858250" y="5411471"/>
            <a:ext cx="2514600" cy="627380"/>
          </a:xfrm>
          <a:prstGeom prst="roundRect">
            <a:avLst>
              <a:gd name="adj" fmla="val 15182"/>
            </a:avLst>
          </a:prstGeom>
          <a:noFill/>
          <a:ln w="12700">
            <a:solidFill>
              <a:srgbClr val="AFC3F5"/>
            </a:solidFill>
            <a:prstDash val="solid"/>
          </a:ln>
        </p:spPr>
        <p:txBody>
          <a:bodyPr wrap="square" lIns="153712" tIns="153712" rIns="89171" bIns="128312" rtlCol="0" anchor="t">
            <a:normAutofit/>
          </a:bodyPr>
          <a:lstStyle/>
          <a:p>
            <a:pPr algn="l" indent="0" marL="0">
              <a:lnSpc>
                <a:spcPts val="2080"/>
              </a:lnSpc>
              <a:buNone/>
            </a:pPr>
            <a:r>
              <a:rPr lang="en-US" sz="1600" b="1" dirty="0">
                <a:solidFill>
                  <a:srgbClr val="F5F5F2"/>
                </a:solidFill>
                <a:latin typeface="IBM Plex Sans" pitchFamily="34" charset="0"/>
                <a:ea typeface="IBM Plex Sans" pitchFamily="34" charset="-122"/>
                <a:cs typeface="IBM Plex Sans" pitchFamily="34" charset="-120"/>
              </a:rPr>
              <a:t>4. Share the URL</a:t>
            </a:r>
            <a:endParaRPr lang="en-US" sz="1600" dirty="0"/>
          </a:p>
        </p:txBody>
      </p:sp>
    </p:spTree>
  </p:cSld>
  <p:clrMapOvr>
    <a:masterClrMapping/>
  </p:clrMapOvr>
</p:sld>
</file>

<file path=ppt/theme/theme1.xml><?xml version="1.0" encoding="utf-8"?>
<a:theme xmlns:a="http://schemas.openxmlformats.org/drawingml/2006/main" name="Deploying a React App on Vercel">
  <a:themeElements>
    <a:clrScheme name="Deploying a React App on Vercel">
      <a:dk1>
        <a:srgbClr val="14161A"/>
      </a:dk1>
      <a:lt1>
        <a:srgbClr val="F5F5F2"/>
      </a:lt1>
      <a:dk2>
        <a:srgbClr val="4C4E50"/>
      </a:dk2>
      <a:lt2>
        <a:srgbClr val="DFDFDC"/>
      </a:lt2>
      <a:accent1>
        <a:srgbClr val="2450D6"/>
      </a:accent1>
      <a:accent2>
        <a:srgbClr val="6C9BFF"/>
      </a:accent2>
      <a:accent3>
        <a:srgbClr val="4B5058"/>
      </a:accent3>
      <a:accent4>
        <a:srgbClr val="D7DAE0"/>
      </a:accent4>
      <a:accent5>
        <a:srgbClr val="8A8F98"/>
      </a:accent5>
      <a:accent6>
        <a:srgbClr val="6B7078"/>
      </a:accent6>
      <a:hlink>
        <a:srgbClr val="0563C1"/>
      </a:hlink>
      <a:folHlink>
        <a:srgbClr val="954F72"/>
      </a:folHlink>
    </a:clrScheme>
    <a:fontScheme name="Deploying a React App on Vercel">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Deploying a React App on Vercel</dc:title>
  <dc:subject/>
  <dc:creator/>
  <cp:lastModifiedBy/>
  <cp:revision>1</cp:revision>
  <dcterms:created xsi:type="dcterms:W3CDTF">2026-10-10T12:14:04Z</dcterms:created>
  <dcterms:modified xsi:type="dcterms:W3CDTF">2026-10-10T12:14:04Z</dcterms:modified>
</cp:coreProperties>
</file>